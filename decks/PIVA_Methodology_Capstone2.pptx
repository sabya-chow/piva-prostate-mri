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7336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Framing: this is the methodology section, not a results talk. Everything here is either implemented in the repo or explicitly flagged as planned. I'll assume familiarity with PIA and the PIVA architecture and focus on what is specific to this study: the three-compartment prostate model, the two-tier design, and the full-covariance ILR posterior.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question has two halves and they get judged differently. Half one is a point-accuracy claim against NLLS. Half two is a calibration claim, and it is deliberately scoped to sigma = 0.05, the clinical reference level. The synthetic design is not a convenience — it is the only setting where coverage of a latent microstructural parameter can actually be checked.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Tier 1 is the wide sweep: it tells us whether physics-informed amortized inversion beats NLLS at all, and how each family behaves as noise grows. Tier 2 is the actual contribution — it holds everything constant except posterior covariance and the fraction parameterization, so any difference is attributable to those two choices. Worth flagging to the advisor: Tier 2 is a matched-pair design, which is what makes the paired bootstrap valid.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 honest about the confound on this slide before the advisor finds it: in Tier 2, covariance structure and the ILR reparameterization move together. We are measuring the combined effect. Isolating them would need a third arm — diagonal + ILR — and that is a reasonable thing to ask for. Have an answer ready: it is cheap to add, one more 200-epoch run.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from design to the actual generative machinery.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stress. First, this equation appears twice — it generates the data and it is the decoder. That is the inverse crime, and it is on the limitations slide. Second, the grid is small: 16 measurements to constrain 9 parameters. That is why the problem is ill-posed enough to be interesting and why a population prior does real work.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hierarchy matters for a reason the advisor will care about: voxels within a patient are correlated, so the effective biological sample size is 80, not 120 and certainly not 122,880. The bootstrap multiplies records, not biology. That shows up again in the limitations — the Tier 2 bootstrap resamples voxels rather than patients, which likely understates uncertainty.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the asymmetry in the noise protocol: sigma is randomized during training so the encoder learns to be noise-aware across the whole range, but fixed at evaluation so comparisons happen at controlled SNR. That is deliberate — it means one trained model is evaluated at all four noise levels rather than four separately trained models.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Keep PIA and diagonal PIVA brief — advisor knows them. Spend the time on the full-covariance ILR model.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column is the right one. Everything else is context. Two design points worth defending: the decoder has zero trainable parameters in all three neural models — the physics is fixed, not learned — and ground-truth MAE is monitored but never optimized, so the models never see theta during training. They are trained purely on signal reconstruction.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slow down on. Three arguments to make. One: a diagonal posterior cannot express the D-T2-v correlations that the forward model obviously induces — compartments trade off against each other. Two: ILR is not cosmetic. Putting a full covariance on three softmax logits means modeling a direction that has no effect on v, so ILR is a precondition for the covariance to be interpretable. Three: Tier 2 switches from MSE-to-clean to NLL-against-noisy, which is the statistically correct objective when you intend to make calibration claims. Expect a question on the free-bits floor — answer: it is monitored, and we report whether it binds.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to how the study will be judged — criteria fixed in advance.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logic chain here is deliberate. Raw coverage asks whether the posterior is calibrated as-is. The paired bootstrap asks whether any difference between the two models is real or sampling noise. Conformal asks a different question — if the raw scale is wrong, can a single scalar fix it, and at what cost in interval width. A model can fail raw coverage and still be useful if conformal repairs it cheaply.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of pre-specifying is that criterion 5 has teeth. If the bootstrap interval for delta includes zero, we do not get to claim the full-covariance posterior helped — regardless of the point estimate. And the width clause stops us from declaring victory by simply inflating intervals. Criterion 7 guards the identifiability problem: the decoder can reconstruct well from wrong parameters.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inverse crime — it is the biggest one and the advisor will raise it if I don't. The honest framing: this tier is a feasibility and calibration study, and the external cohort is where validity gets tested. The two I would most like guidance on are the patient-cluster bootstrap (should Tier 2 be rerun resampling patients?) and model-selection bias (is a three-way patient split worth the loss of training data at n = 80?).</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sequencing, not as gaps. Multi-seed is the one that gates the Tier 2 claim — a single-seed architectural difference is not publishable, and it is five runs. That is the cheapest high-value next step and I'd propose doing it before anything else.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four places where advisor input actually changes what I do next. Lead with the bootstrap question — it is the one that most affects whether the Tier 2 result stands up. Have a recommendation ready for each rather than presenting them as open-ended.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anchors worth naming aloud if asked: Thoreau et al. for the PIVA formulation itself, and Finkelstein et al. for the full-covariance posterior direction — their PS-VAE does this for quantitative molecular MRI, and this project ports the idea to the three-compartment prostate setting.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082735" y="0"/>
            <a:ext cx="3108960" cy="6858000"/>
          </a:xfrm>
          <a:prstGeom prst="rect">
            <a:avLst/>
          </a:prstGeom>
          <a:solidFill>
            <a:srgbClr val="254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240280"/>
            <a:ext cx="7863840" cy="2377440"/>
          </a:xfrm>
          <a:prstGeom prst="rect">
            <a:avLst/>
          </a:prstGeom>
          <a:noFill/>
        </p:spPr>
        <p:txBody>
          <a:bodyPr wrap="square" lIns="0" tIns="0" rIns="0" bIns="0" anchor="t">
            <a:spAutoFit/>
          </a:bodyPr>
          <a:lstStyle/>
          <a:p>
            <a:pPr algn="l">
              <a:lnSpc>
                <a:spcPct val="115000"/>
              </a:lnSpc>
              <a:spcBef>
                <a:spcPts val="0"/>
              </a:spcBef>
              <a:spcAft>
                <a:spcPts val="1400"/>
              </a:spcAft>
            </a:pPr>
            <a:r>
              <a:rPr sz="1250" b="1" i="0">
                <a:solidFill>
                  <a:srgbClr val="8FB6E0"/>
                </a:solidFill>
                <a:latin typeface="Calibri"/>
              </a:rPr>
              <a:t>METHODOLOGY  ·  CAPSTONE 2</a:t>
            </a:r>
          </a:p>
          <a:p>
            <a:pPr algn="l">
              <a:lnSpc>
                <a:spcPct val="108000"/>
              </a:lnSpc>
              <a:spcBef>
                <a:spcPts val="0"/>
              </a:spcBef>
              <a:spcAft>
                <a:spcPts val="200"/>
              </a:spcAft>
            </a:pPr>
            <a:r>
              <a:rPr sz="3000" b="0" i="0">
                <a:solidFill>
                  <a:srgbClr val="FFFFFF"/>
                </a:solidFill>
                <a:latin typeface="Calibri Light"/>
              </a:rPr>
              <a:t>Physics-Informed Variational Autoencoding</a:t>
            </a:r>
          </a:p>
          <a:p>
            <a:pPr algn="l">
              <a:lnSpc>
                <a:spcPct val="108000"/>
              </a:lnSpc>
              <a:spcBef>
                <a:spcPts val="0"/>
              </a:spcBef>
              <a:spcAft>
                <a:spcPts val="200"/>
              </a:spcAft>
            </a:pPr>
            <a:r>
              <a:rPr sz="3000" b="0" i="0">
                <a:solidFill>
                  <a:srgbClr val="FFFFFF"/>
                </a:solidFill>
                <a:latin typeface="Calibri Light"/>
              </a:rPr>
              <a:t>for Three-Compartment Prostate MRI</a:t>
            </a:r>
          </a:p>
          <a:p>
            <a:pPr algn="l">
              <a:lnSpc>
                <a:spcPct val="108000"/>
              </a:lnSpc>
              <a:spcBef>
                <a:spcPts val="0"/>
              </a:spcBef>
              <a:spcAft>
                <a:spcPts val="0"/>
              </a:spcAft>
            </a:pPr>
            <a:r>
              <a:rPr sz="3000" b="0" i="0">
                <a:solidFill>
                  <a:srgbClr val="FFFFFF"/>
                </a:solidFill>
                <a:latin typeface="Calibri Light"/>
              </a:rPr>
              <a:t>Parameter Estimation</a:t>
            </a:r>
          </a:p>
        </p:txBody>
      </p:sp>
      <p:sp>
        <p:nvSpPr>
          <p:cNvPr id="5" name="Rectangle 4"/>
          <p:cNvSpPr/>
          <p:nvPr/>
        </p:nvSpPr>
        <p:spPr>
          <a:xfrm>
            <a:off x="1051560" y="4334256"/>
            <a:ext cx="1051560" cy="3657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4608576"/>
            <a:ext cx="7863840" cy="581506"/>
          </a:xfrm>
          <a:prstGeom prst="rect">
            <a:avLst/>
          </a:prstGeom>
          <a:noFill/>
        </p:spPr>
        <p:txBody>
          <a:bodyPr wrap="square" lIns="0" tIns="0" rIns="0" bIns="0" anchor="t">
            <a:spAutoFit/>
          </a:bodyPr>
          <a:lstStyle/>
          <a:p>
            <a:pPr algn="l">
              <a:lnSpc>
                <a:spcPct val="115000"/>
              </a:lnSpc>
              <a:spcBef>
                <a:spcPts val="0"/>
              </a:spcBef>
              <a:spcAft>
                <a:spcPts val="500"/>
              </a:spcAft>
            </a:pPr>
            <a:r>
              <a:rPr sz="1700" b="0" i="0" dirty="0">
                <a:solidFill>
                  <a:srgbClr val="FFFFFF"/>
                </a:solidFill>
                <a:latin typeface="Calibri"/>
              </a:rPr>
              <a:t>Sabyasachi Chowdhury</a:t>
            </a:r>
            <a:r>
              <a:rPr lang="en-US" sz="1700" b="0" i="0" dirty="0">
                <a:solidFill>
                  <a:srgbClr val="FFFFFF"/>
                </a:solidFill>
                <a:latin typeface="Calibri"/>
              </a:rPr>
              <a:t>, Aaron Garay</a:t>
            </a:r>
            <a:endParaRPr sz="1700" b="0" i="0" dirty="0">
              <a:solidFill>
                <a:srgbClr val="FFFFFF"/>
              </a:solidFill>
              <a:latin typeface="Calibri"/>
            </a:endParaRPr>
          </a:p>
          <a:p>
            <a:pPr algn="l">
              <a:lnSpc>
                <a:spcPct val="115000"/>
              </a:lnSpc>
              <a:spcBef>
                <a:spcPts val="0"/>
              </a:spcBef>
              <a:spcAft>
                <a:spcPts val="0"/>
              </a:spcAft>
            </a:pPr>
            <a:r>
              <a:rPr sz="1300" b="0" i="0" dirty="0">
                <a:solidFill>
                  <a:srgbClr val="A9BED8"/>
                </a:solidFill>
                <a:latin typeface="Calibri"/>
              </a:rPr>
              <a:t>Research Capstone  ·  Homework 2  ·  Advisor review</a:t>
            </a:r>
          </a:p>
        </p:txBody>
      </p:sp>
      <p:sp>
        <p:nvSpPr>
          <p:cNvPr id="7" name="TextBox 6"/>
          <p:cNvSpPr txBox="1"/>
          <p:nvPr/>
        </p:nvSpPr>
        <p:spPr>
          <a:xfrm>
            <a:off x="9311335" y="4608576"/>
            <a:ext cx="2286000" cy="822960"/>
          </a:xfrm>
          <a:prstGeom prst="rect">
            <a:avLst/>
          </a:prstGeom>
          <a:noFill/>
        </p:spPr>
        <p:txBody>
          <a:bodyPr wrap="square" lIns="0" tIns="0" rIns="0" bIns="0" anchor="t">
            <a:spAutoFit/>
          </a:bodyPr>
          <a:lstStyle/>
          <a:p>
            <a:pPr algn="r">
              <a:lnSpc>
                <a:spcPct val="115000"/>
              </a:lnSpc>
              <a:spcBef>
                <a:spcPts val="0"/>
              </a:spcBef>
              <a:spcAft>
                <a:spcPts val="0"/>
              </a:spcAft>
            </a:pPr>
            <a:r>
              <a:rPr sz="1150" b="0" i="1">
                <a:solidFill>
                  <a:srgbClr val="8FB6E0"/>
                </a:solidFill>
                <a:latin typeface="Calibri"/>
              </a:rPr>
              <a:t>Methods only — no</a:t>
            </a:r>
          </a:p>
          <a:p>
            <a:pPr algn="r">
              <a:lnSpc>
                <a:spcPct val="115000"/>
              </a:lnSpc>
              <a:spcBef>
                <a:spcPts val="0"/>
              </a:spcBef>
              <a:spcAft>
                <a:spcPts val="0"/>
              </a:spcAft>
            </a:pPr>
            <a:r>
              <a:rPr sz="1150" b="0" i="1">
                <a:solidFill>
                  <a:srgbClr val="8FB6E0"/>
                </a:solidFill>
                <a:latin typeface="Calibri"/>
              </a:rPr>
              <a:t>experimental results</a:t>
            </a:r>
          </a:p>
          <a:p>
            <a:pPr algn="r">
              <a:lnSpc>
                <a:spcPct val="115000"/>
              </a:lnSpc>
              <a:spcBef>
                <a:spcPts val="0"/>
              </a:spcBef>
              <a:spcAft>
                <a:spcPts val="0"/>
              </a:spcAft>
            </a:pPr>
            <a:r>
              <a:rPr sz="1150" b="0" i="1">
                <a:solidFill>
                  <a:srgbClr val="8FB6E0"/>
                </a:solidFill>
                <a:latin typeface="Calibri"/>
              </a:rPr>
              <a:t>are reported in this deck.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Research Question</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5" name="TextBox 4"/>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1</a:t>
            </a:r>
          </a:p>
        </p:txBody>
      </p:sp>
      <p:sp>
        <p:nvSpPr>
          <p:cNvPr id="6" name="Rectangle 5"/>
          <p:cNvSpPr/>
          <p:nvPr/>
        </p:nvSpPr>
        <p:spPr>
          <a:xfrm>
            <a:off x="566928" y="1261872"/>
            <a:ext cx="11057839" cy="1481328"/>
          </a:xfrm>
          <a:prstGeom prst="rect">
            <a:avLst/>
          </a:prstGeom>
          <a:solidFill>
            <a:srgbClr val="E7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261872"/>
            <a:ext cx="50292" cy="14813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63039"/>
            <a:ext cx="10417759" cy="1097280"/>
          </a:xfrm>
          <a:prstGeom prst="rect">
            <a:avLst/>
          </a:prstGeom>
          <a:noFill/>
        </p:spPr>
        <p:txBody>
          <a:bodyPr wrap="square" lIns="0" tIns="0" rIns="0" bIns="0" anchor="t">
            <a:spAutoFit/>
          </a:bodyPr>
          <a:lstStyle/>
          <a:p>
            <a:pPr algn="l">
              <a:lnSpc>
                <a:spcPct val="128000"/>
              </a:lnSpc>
              <a:spcBef>
                <a:spcPts val="0"/>
              </a:spcBef>
              <a:spcAft>
                <a:spcPts val="0"/>
              </a:spcAft>
            </a:pPr>
            <a:r>
              <a:rPr sz="1600" b="0" i="1">
                <a:solidFill>
                  <a:srgbClr val="1F3864"/>
                </a:solidFill>
                <a:latin typeface="Calibri"/>
              </a:rPr>
              <a:t>To what extent can physics-informed autoencoding models recover compartment-specific diffusivity, transverse relaxation, and tissue volume fractions from noisy three-compartment prostate MRI signals more accurately than nonlinear least squares — and can a full-covariance variational posterior provide useful and calibrated uncertainty at a clinically representative noise level?</a:t>
            </a:r>
          </a:p>
        </p:txBody>
      </p:sp>
      <p:sp>
        <p:nvSpPr>
          <p:cNvPr id="9" name="TextBox 8"/>
          <p:cNvSpPr txBox="1"/>
          <p:nvPr/>
        </p:nvSpPr>
        <p:spPr>
          <a:xfrm>
            <a:off x="566928" y="3044952"/>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450" b="1" i="0">
                <a:solidFill>
                  <a:srgbClr val="1F3864"/>
                </a:solidFill>
                <a:latin typeface="Calibri"/>
              </a:rPr>
              <a:t>Why a controlled synthetic experiment is the right instrument</a:t>
            </a:r>
          </a:p>
        </p:txBody>
      </p:sp>
      <p:sp>
        <p:nvSpPr>
          <p:cNvPr id="10" name="Rectangle 9"/>
          <p:cNvSpPr/>
          <p:nvPr/>
        </p:nvSpPr>
        <p:spPr>
          <a:xfrm>
            <a:off x="566928" y="3447288"/>
            <a:ext cx="3533546" cy="14173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3447288"/>
            <a:ext cx="3533546" cy="411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 y="3703320"/>
            <a:ext cx="3131210" cy="1005840"/>
          </a:xfrm>
          <a:prstGeom prst="rect">
            <a:avLst/>
          </a:prstGeom>
          <a:noFill/>
        </p:spPr>
        <p:txBody>
          <a:bodyPr wrap="square" lIns="0" tIns="0" rIns="0" bIns="0" anchor="t">
            <a:spAutoFit/>
          </a:bodyPr>
          <a:lstStyle/>
          <a:p>
            <a:pPr algn="l">
              <a:lnSpc>
                <a:spcPct val="115000"/>
              </a:lnSpc>
              <a:spcBef>
                <a:spcPts val="0"/>
              </a:spcBef>
              <a:spcAft>
                <a:spcPts val="700"/>
              </a:spcAft>
            </a:pPr>
            <a:r>
              <a:rPr sz="1300" b="1" i="0">
                <a:solidFill>
                  <a:srgbClr val="1F3864"/>
                </a:solidFill>
                <a:latin typeface="Calibri"/>
              </a:rPr>
              <a:t>Ground truth is known</a:t>
            </a:r>
          </a:p>
          <a:p>
            <a:pPr algn="l">
              <a:lnSpc>
                <a:spcPct val="122000"/>
              </a:lnSpc>
              <a:spcBef>
                <a:spcPts val="0"/>
              </a:spcBef>
              <a:spcAft>
                <a:spcPts val="0"/>
              </a:spcAft>
            </a:pPr>
            <a:r>
              <a:rPr sz="1150" b="0" i="0">
                <a:solidFill>
                  <a:srgbClr val="6E6E6E"/>
                </a:solidFill>
                <a:latin typeface="Calibri"/>
              </a:rPr>
              <a:t>Every synthetic voxel has a true θ ∈ ℝ⁹, so estimates can be compared directly against truth rather than a proxy.</a:t>
            </a:r>
          </a:p>
        </p:txBody>
      </p:sp>
      <p:sp>
        <p:nvSpPr>
          <p:cNvPr id="13" name="Rectangle 12"/>
          <p:cNvSpPr/>
          <p:nvPr/>
        </p:nvSpPr>
        <p:spPr>
          <a:xfrm>
            <a:off x="4329074" y="3447288"/>
            <a:ext cx="3533546" cy="14173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9074" y="3447288"/>
            <a:ext cx="3533546" cy="411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30242" y="3703320"/>
            <a:ext cx="3131210" cy="1005840"/>
          </a:xfrm>
          <a:prstGeom prst="rect">
            <a:avLst/>
          </a:prstGeom>
          <a:noFill/>
        </p:spPr>
        <p:txBody>
          <a:bodyPr wrap="square" lIns="0" tIns="0" rIns="0" bIns="0" anchor="t">
            <a:spAutoFit/>
          </a:bodyPr>
          <a:lstStyle/>
          <a:p>
            <a:pPr algn="l">
              <a:lnSpc>
                <a:spcPct val="115000"/>
              </a:lnSpc>
              <a:spcBef>
                <a:spcPts val="0"/>
              </a:spcBef>
              <a:spcAft>
                <a:spcPts val="700"/>
              </a:spcAft>
            </a:pPr>
            <a:r>
              <a:rPr sz="1300" b="1" i="0">
                <a:solidFill>
                  <a:srgbClr val="1F3864"/>
                </a:solidFill>
                <a:latin typeface="Calibri"/>
              </a:rPr>
              <a:t>Noise is a free variable</a:t>
            </a:r>
          </a:p>
          <a:p>
            <a:pPr algn="l">
              <a:lnSpc>
                <a:spcPct val="122000"/>
              </a:lnSpc>
              <a:spcBef>
                <a:spcPts val="0"/>
              </a:spcBef>
              <a:spcAft>
                <a:spcPts val="0"/>
              </a:spcAft>
            </a:pPr>
            <a:r>
              <a:rPr sz="1150" b="0" i="0">
                <a:solidFill>
                  <a:srgbClr val="6E6E6E"/>
                </a:solidFill>
                <a:latin typeface="Calibri"/>
              </a:rPr>
              <a:t>Rician σ can be varied while the underlying biology is held fixed, isolating noise robustness from model error.</a:t>
            </a:r>
          </a:p>
        </p:txBody>
      </p:sp>
      <p:sp>
        <p:nvSpPr>
          <p:cNvPr id="16" name="Rectangle 15"/>
          <p:cNvSpPr/>
          <p:nvPr/>
        </p:nvSpPr>
        <p:spPr>
          <a:xfrm>
            <a:off x="8091220" y="3447288"/>
            <a:ext cx="3533546" cy="14173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91220" y="3447288"/>
            <a:ext cx="3533546" cy="411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2388" y="3703320"/>
            <a:ext cx="3131210" cy="1005840"/>
          </a:xfrm>
          <a:prstGeom prst="rect">
            <a:avLst/>
          </a:prstGeom>
          <a:noFill/>
        </p:spPr>
        <p:txBody>
          <a:bodyPr wrap="square" lIns="0" tIns="0" rIns="0" bIns="0" anchor="t">
            <a:spAutoFit/>
          </a:bodyPr>
          <a:lstStyle/>
          <a:p>
            <a:pPr algn="l">
              <a:lnSpc>
                <a:spcPct val="115000"/>
              </a:lnSpc>
              <a:spcBef>
                <a:spcPts val="0"/>
              </a:spcBef>
              <a:spcAft>
                <a:spcPts val="700"/>
              </a:spcAft>
            </a:pPr>
            <a:r>
              <a:rPr sz="1300" b="1" i="0">
                <a:solidFill>
                  <a:srgbClr val="1F3864"/>
                </a:solidFill>
                <a:latin typeface="Calibri"/>
              </a:rPr>
              <a:t>Coverage is measurable</a:t>
            </a:r>
          </a:p>
          <a:p>
            <a:pPr algn="l">
              <a:lnSpc>
                <a:spcPct val="122000"/>
              </a:lnSpc>
              <a:spcBef>
                <a:spcPts val="0"/>
              </a:spcBef>
              <a:spcAft>
                <a:spcPts val="0"/>
              </a:spcAft>
            </a:pPr>
            <a:r>
              <a:rPr sz="1150" b="0" i="0">
                <a:solidFill>
                  <a:srgbClr val="6E6E6E"/>
                </a:solidFill>
                <a:latin typeface="Calibri"/>
              </a:rPr>
              <a:t>Posterior interval coverage can be assessed directly — impossible on clinical MRI without a per-parameter reference standard.</a:t>
            </a:r>
          </a:p>
        </p:txBody>
      </p:sp>
      <p:sp>
        <p:nvSpPr>
          <p:cNvPr id="19" name="TextBox 18"/>
          <p:cNvSpPr txBox="1"/>
          <p:nvPr/>
        </p:nvSpPr>
        <p:spPr>
          <a:xfrm>
            <a:off x="566928" y="5020056"/>
            <a:ext cx="11057839" cy="292608"/>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A9630A"/>
                </a:solidFill>
                <a:latin typeface="Calibri"/>
              </a:rPr>
              <a:t>Scope note:  </a:t>
            </a:r>
            <a:r>
              <a:rPr sz="1200" b="0" i="0">
                <a:solidFill>
                  <a:srgbClr val="6E6E6E"/>
                </a:solidFill>
                <a:latin typeface="Calibri"/>
              </a:rPr>
              <a:t>synthetic validation establishes computational feasibility. No claim of clinical validity is made at this stage.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Study Design: Two Linked Experimental Tiers</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Both tiers share one acquisition grid, one cohort generator, and one held-out test set.</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2</a:t>
            </a:r>
          </a:p>
        </p:txBody>
      </p:sp>
      <p:sp>
        <p:nvSpPr>
          <p:cNvPr id="7" name="Rectangle 6"/>
          <p:cNvSpPr/>
          <p:nvPr/>
        </p:nvSpPr>
        <p:spPr>
          <a:xfrm>
            <a:off x="566928" y="1481328"/>
            <a:ext cx="5382615" cy="3703320"/>
          </a:xfrm>
          <a:prstGeom prst="rect">
            <a:avLst/>
          </a:prstGeom>
          <a:solidFill>
            <a:srgbClr val="E7EFF9"/>
          </a:solidFill>
          <a:ln w="9525">
            <a:solidFill>
              <a:srgbClr val="C3D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538261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700784"/>
            <a:ext cx="4870551" cy="822960"/>
          </a:xfrm>
          <a:prstGeom prst="rect">
            <a:avLst/>
          </a:prstGeom>
          <a:noFill/>
        </p:spPr>
        <p:txBody>
          <a:bodyPr wrap="square" lIns="0" tIns="0" rIns="0" bIns="0" anchor="t">
            <a:spAutoFit/>
          </a:bodyPr>
          <a:lstStyle/>
          <a:p>
            <a:pPr algn="l">
              <a:lnSpc>
                <a:spcPct val="115000"/>
              </a:lnSpc>
              <a:spcBef>
                <a:spcPts val="0"/>
              </a:spcBef>
              <a:spcAft>
                <a:spcPts val="500"/>
              </a:spcAft>
            </a:pPr>
            <a:r>
              <a:rPr sz="1050" b="1" i="0">
                <a:solidFill>
                  <a:srgbClr val="2E75B6"/>
                </a:solidFill>
                <a:latin typeface="Calibri"/>
              </a:rPr>
              <a:t>TIER 1</a:t>
            </a:r>
          </a:p>
          <a:p>
            <a:pPr algn="l">
              <a:lnSpc>
                <a:spcPct val="105000"/>
              </a:lnSpc>
              <a:spcBef>
                <a:spcPts val="0"/>
              </a:spcBef>
              <a:spcAft>
                <a:spcPts val="300"/>
              </a:spcAft>
            </a:pPr>
            <a:r>
              <a:rPr sz="1700" b="1" i="0">
                <a:solidFill>
                  <a:srgbClr val="1F3864"/>
                </a:solidFill>
                <a:latin typeface="Calibri Light"/>
              </a:rPr>
              <a:t>Broad robustness comparison</a:t>
            </a:r>
          </a:p>
          <a:p>
            <a:pPr algn="l">
              <a:lnSpc>
                <a:spcPct val="115000"/>
              </a:lnSpc>
              <a:spcBef>
                <a:spcPts val="0"/>
              </a:spcBef>
              <a:spcAft>
                <a:spcPts val="0"/>
              </a:spcAft>
            </a:pPr>
            <a:r>
              <a:rPr sz="1150" b="0" i="1">
                <a:solidFill>
                  <a:srgbClr val="6E6E6E"/>
                </a:solidFill>
                <a:latin typeface="Calibri"/>
              </a:rPr>
              <a:t>Five estimators × four noise levels</a:t>
            </a:r>
          </a:p>
        </p:txBody>
      </p:sp>
      <p:sp>
        <p:nvSpPr>
          <p:cNvPr id="10" name="TextBox 9"/>
          <p:cNvSpPr txBox="1"/>
          <p:nvPr/>
        </p:nvSpPr>
        <p:spPr>
          <a:xfrm>
            <a:off x="822960" y="2743200"/>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2E75B6"/>
                </a:solidFill>
                <a:latin typeface="Calibri"/>
              </a:rPr>
              <a:t>Estimators</a:t>
            </a:r>
          </a:p>
        </p:txBody>
      </p:sp>
      <p:sp>
        <p:nvSpPr>
          <p:cNvPr id="11" name="TextBox 10"/>
          <p:cNvSpPr txBox="1"/>
          <p:nvPr/>
        </p:nvSpPr>
        <p:spPr>
          <a:xfrm>
            <a:off x="1755648" y="2729484"/>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NLLS  ·  PIA  ·  3 diagonal-PIVA variants</a:t>
            </a:r>
          </a:p>
        </p:txBody>
      </p:sp>
      <p:sp>
        <p:nvSpPr>
          <p:cNvPr id="12" name="TextBox 11"/>
          <p:cNvSpPr txBox="1"/>
          <p:nvPr/>
        </p:nvSpPr>
        <p:spPr>
          <a:xfrm>
            <a:off x="822960" y="3218688"/>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2E75B6"/>
                </a:solidFill>
                <a:latin typeface="Calibri"/>
              </a:rPr>
              <a:t>Noise</a:t>
            </a:r>
          </a:p>
        </p:txBody>
      </p:sp>
      <p:sp>
        <p:nvSpPr>
          <p:cNvPr id="13" name="TextBox 12"/>
          <p:cNvSpPr txBox="1"/>
          <p:nvPr/>
        </p:nvSpPr>
        <p:spPr>
          <a:xfrm>
            <a:off x="1755648" y="3204972"/>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σ ∈ {0.01, 0.03, 0.05, 0.08}</a:t>
            </a:r>
          </a:p>
        </p:txBody>
      </p:sp>
      <p:sp>
        <p:nvSpPr>
          <p:cNvPr id="14" name="TextBox 13"/>
          <p:cNvSpPr txBox="1"/>
          <p:nvPr/>
        </p:nvSpPr>
        <p:spPr>
          <a:xfrm>
            <a:off x="822960" y="3694176"/>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2E75B6"/>
                </a:solidFill>
                <a:latin typeface="Calibri"/>
              </a:rPr>
              <a:t>Varies</a:t>
            </a:r>
          </a:p>
        </p:txBody>
      </p:sp>
      <p:sp>
        <p:nvSpPr>
          <p:cNvPr id="15" name="TextBox 14"/>
          <p:cNvSpPr txBox="1"/>
          <p:nvPr/>
        </p:nvSpPr>
        <p:spPr>
          <a:xfrm>
            <a:off x="1755648" y="3680460"/>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Physiological constraint width:
tight / doubled / unconstrained positive</a:t>
            </a:r>
          </a:p>
        </p:txBody>
      </p:sp>
      <p:sp>
        <p:nvSpPr>
          <p:cNvPr id="16" name="TextBox 15"/>
          <p:cNvSpPr txBox="1"/>
          <p:nvPr/>
        </p:nvSpPr>
        <p:spPr>
          <a:xfrm>
            <a:off x="822960" y="4315968"/>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2E75B6"/>
                </a:solidFill>
                <a:latin typeface="Calibri"/>
              </a:rPr>
              <a:t>Asks</a:t>
            </a:r>
          </a:p>
        </p:txBody>
      </p:sp>
      <p:sp>
        <p:nvSpPr>
          <p:cNvPr id="17" name="TextBox 16"/>
          <p:cNvSpPr txBox="1"/>
          <p:nvPr/>
        </p:nvSpPr>
        <p:spPr>
          <a:xfrm>
            <a:off x="1755648" y="4302252"/>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Does accuracy degrade gracefully with noise?</a:t>
            </a:r>
          </a:p>
        </p:txBody>
      </p:sp>
      <p:sp>
        <p:nvSpPr>
          <p:cNvPr id="18" name="Rectangle 17"/>
          <p:cNvSpPr/>
          <p:nvPr/>
        </p:nvSpPr>
        <p:spPr>
          <a:xfrm>
            <a:off x="6242151" y="1481328"/>
            <a:ext cx="5382615" cy="3703320"/>
          </a:xfrm>
          <a:prstGeom prst="rect">
            <a:avLst/>
          </a:prstGeom>
          <a:solidFill>
            <a:srgbClr val="E3F1EF"/>
          </a:solidFill>
          <a:ln w="9525">
            <a:solidFill>
              <a:srgbClr val="BF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2151" y="1481328"/>
            <a:ext cx="5382615" cy="4572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8183" y="1700784"/>
            <a:ext cx="4870551" cy="822960"/>
          </a:xfrm>
          <a:prstGeom prst="rect">
            <a:avLst/>
          </a:prstGeom>
          <a:noFill/>
        </p:spPr>
        <p:txBody>
          <a:bodyPr wrap="square" lIns="0" tIns="0" rIns="0" bIns="0" anchor="t">
            <a:spAutoFit/>
          </a:bodyPr>
          <a:lstStyle/>
          <a:p>
            <a:pPr algn="l">
              <a:lnSpc>
                <a:spcPct val="115000"/>
              </a:lnSpc>
              <a:spcBef>
                <a:spcPts val="0"/>
              </a:spcBef>
              <a:spcAft>
                <a:spcPts val="500"/>
              </a:spcAft>
            </a:pPr>
            <a:r>
              <a:rPr sz="1050" b="1" i="0">
                <a:solidFill>
                  <a:srgbClr val="1F7A72"/>
                </a:solidFill>
                <a:latin typeface="Calibri"/>
              </a:rPr>
              <a:t>TIER 2</a:t>
            </a:r>
          </a:p>
          <a:p>
            <a:pPr algn="l">
              <a:lnSpc>
                <a:spcPct val="105000"/>
              </a:lnSpc>
              <a:spcBef>
                <a:spcPts val="0"/>
              </a:spcBef>
              <a:spcAft>
                <a:spcPts val="300"/>
              </a:spcAft>
            </a:pPr>
            <a:r>
              <a:rPr sz="1700" b="1" i="0">
                <a:solidFill>
                  <a:srgbClr val="1F3864"/>
                </a:solidFill>
                <a:latin typeface="Calibri Light"/>
              </a:rPr>
              <a:t>Focused posterior-structure comparison</a:t>
            </a:r>
          </a:p>
          <a:p>
            <a:pPr algn="l">
              <a:lnSpc>
                <a:spcPct val="115000"/>
              </a:lnSpc>
              <a:spcBef>
                <a:spcPts val="0"/>
              </a:spcBef>
              <a:spcAft>
                <a:spcPts val="0"/>
              </a:spcAft>
            </a:pPr>
            <a:r>
              <a:rPr sz="1150" b="0" i="1">
                <a:solidFill>
                  <a:srgbClr val="6E6E6E"/>
                </a:solidFill>
                <a:latin typeface="Calibri"/>
              </a:rPr>
              <a:t>Diagonal vs. full-covariance at the clinical level</a:t>
            </a:r>
          </a:p>
        </p:txBody>
      </p:sp>
      <p:sp>
        <p:nvSpPr>
          <p:cNvPr id="21" name="TextBox 20"/>
          <p:cNvSpPr txBox="1"/>
          <p:nvPr/>
        </p:nvSpPr>
        <p:spPr>
          <a:xfrm>
            <a:off x="6498183" y="2743200"/>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1F7A72"/>
                </a:solidFill>
                <a:latin typeface="Calibri"/>
              </a:rPr>
              <a:t>Estimators</a:t>
            </a:r>
          </a:p>
        </p:txBody>
      </p:sp>
      <p:sp>
        <p:nvSpPr>
          <p:cNvPr id="22" name="TextBox 21"/>
          <p:cNvSpPr txBox="1"/>
          <p:nvPr/>
        </p:nvSpPr>
        <p:spPr>
          <a:xfrm>
            <a:off x="7430871" y="2729484"/>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Diagonal Gaussian PIVA  vs.  Full-covariance
Cholesky PIVA with ILR fractions</a:t>
            </a:r>
          </a:p>
        </p:txBody>
      </p:sp>
      <p:sp>
        <p:nvSpPr>
          <p:cNvPr id="23" name="TextBox 22"/>
          <p:cNvSpPr txBox="1"/>
          <p:nvPr/>
        </p:nvSpPr>
        <p:spPr>
          <a:xfrm>
            <a:off x="6498183" y="3364992"/>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1F7A72"/>
                </a:solidFill>
                <a:latin typeface="Calibri"/>
              </a:rPr>
              <a:t>Noise</a:t>
            </a:r>
          </a:p>
        </p:txBody>
      </p:sp>
      <p:sp>
        <p:nvSpPr>
          <p:cNvPr id="24" name="TextBox 23"/>
          <p:cNvSpPr txBox="1"/>
          <p:nvPr/>
        </p:nvSpPr>
        <p:spPr>
          <a:xfrm>
            <a:off x="7430871" y="3351276"/>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σ = 0.05 only (clinical reference)</a:t>
            </a:r>
          </a:p>
        </p:txBody>
      </p:sp>
      <p:sp>
        <p:nvSpPr>
          <p:cNvPr id="25" name="TextBox 24"/>
          <p:cNvSpPr txBox="1"/>
          <p:nvPr/>
        </p:nvSpPr>
        <p:spPr>
          <a:xfrm>
            <a:off x="6498183" y="3840480"/>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1F7A72"/>
                </a:solidFill>
                <a:latin typeface="Calibri"/>
              </a:rPr>
              <a:t>Varies</a:t>
            </a:r>
          </a:p>
        </p:txBody>
      </p:sp>
      <p:sp>
        <p:nvSpPr>
          <p:cNvPr id="26" name="TextBox 25"/>
          <p:cNvSpPr txBox="1"/>
          <p:nvPr/>
        </p:nvSpPr>
        <p:spPr>
          <a:xfrm>
            <a:off x="7430871" y="3826764"/>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Posterior covariance structure and
volume-fraction latent representation</a:t>
            </a:r>
          </a:p>
        </p:txBody>
      </p:sp>
      <p:sp>
        <p:nvSpPr>
          <p:cNvPr id="27" name="TextBox 26"/>
          <p:cNvSpPr txBox="1"/>
          <p:nvPr/>
        </p:nvSpPr>
        <p:spPr>
          <a:xfrm>
            <a:off x="6498183" y="4462272"/>
            <a:ext cx="868680"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1F7A72"/>
                </a:solidFill>
                <a:latin typeface="Calibri"/>
              </a:rPr>
              <a:t>Asks</a:t>
            </a:r>
          </a:p>
        </p:txBody>
      </p:sp>
      <p:sp>
        <p:nvSpPr>
          <p:cNvPr id="28" name="TextBox 27"/>
          <p:cNvSpPr txBox="1"/>
          <p:nvPr/>
        </p:nvSpPr>
        <p:spPr>
          <a:xfrm>
            <a:off x="7430871" y="4448556"/>
            <a:ext cx="3901287" cy="566928"/>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2E2E2E"/>
                </a:solidFill>
                <a:latin typeface="Calibri"/>
              </a:rPr>
              <a:t>Does posterior structure buy calibrated uncertainty?</a:t>
            </a:r>
          </a:p>
        </p:txBody>
      </p:sp>
      <p:sp>
        <p:nvSpPr>
          <p:cNvPr id="29" name="Rectangle 28"/>
          <p:cNvSpPr/>
          <p:nvPr/>
        </p:nvSpPr>
        <p:spPr>
          <a:xfrm>
            <a:off x="566928" y="5394960"/>
            <a:ext cx="11057839" cy="566928"/>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95528" y="5522976"/>
            <a:ext cx="10600639" cy="310896"/>
          </a:xfrm>
          <a:prstGeom prst="rect">
            <a:avLst/>
          </a:prstGeom>
          <a:noFill/>
        </p:spPr>
        <p:txBody>
          <a:bodyPr wrap="square" lIns="0" tIns="0" rIns="0" bIns="0" anchor="t">
            <a:spAutoFit/>
          </a:bodyPr>
          <a:lstStyle/>
          <a:p>
            <a:pPr algn="l">
              <a:lnSpc>
                <a:spcPct val="120000"/>
              </a:lnSpc>
              <a:spcBef>
                <a:spcPts val="0"/>
              </a:spcBef>
              <a:spcAft>
                <a:spcPts val="0"/>
              </a:spcAft>
            </a:pPr>
            <a:r>
              <a:rPr sz="1200" b="1" i="0">
                <a:solidFill>
                  <a:srgbClr val="1F3864"/>
                </a:solidFill>
                <a:latin typeface="Calibri"/>
              </a:rPr>
              <a:t>Held fixed within a tier:  </a:t>
            </a:r>
            <a:r>
              <a:rPr sz="1200" b="0" i="0">
                <a:solidFill>
                  <a:srgbClr val="2E2E2E"/>
                </a:solidFill>
                <a:latin typeface="Calibri"/>
              </a:rPr>
              <a:t>acquisition grid · clean test parameters · noisy test observations · physiological ranges · evaluation functions.  </a:t>
            </a:r>
            <a:r>
              <a:rPr sz="1200" b="0" i="0">
                <a:solidFill>
                  <a:srgbClr val="6E6E6E"/>
                </a:solidFill>
                <a:latin typeface="Calibri"/>
              </a:rPr>
              <a:t>Tier 2 additionally matches encoder widths, optimizer, epochs, σ_obs, KL warm-up, free-bits, and MC sample count across the two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Variables and Operationalization</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5" name="TextBox 4"/>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3</a:t>
            </a:r>
          </a:p>
        </p:txBody>
      </p:sp>
      <p:sp>
        <p:nvSpPr>
          <p:cNvPr id="6" name="Rectangle 5"/>
          <p:cNvSpPr/>
          <p:nvPr/>
        </p:nvSpPr>
        <p:spPr>
          <a:xfrm>
            <a:off x="566928" y="1261872"/>
            <a:ext cx="3533546" cy="320040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261872"/>
            <a:ext cx="50292" cy="3200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481328"/>
            <a:ext cx="3030626" cy="2743200"/>
          </a:xfrm>
          <a:prstGeom prst="rect">
            <a:avLst/>
          </a:prstGeom>
          <a:noFill/>
        </p:spPr>
        <p:txBody>
          <a:bodyPr wrap="square" lIns="0" tIns="0" rIns="0" bIns="0" anchor="t">
            <a:spAutoFit/>
          </a:bodyPr>
          <a:lstStyle/>
          <a:p>
            <a:pPr algn="l">
              <a:lnSpc>
                <a:spcPct val="115000"/>
              </a:lnSpc>
              <a:spcBef>
                <a:spcPts val="0"/>
              </a:spcBef>
              <a:spcAft>
                <a:spcPts val="1000"/>
              </a:spcAft>
            </a:pPr>
            <a:r>
              <a:rPr sz="1050" b="1" i="0">
                <a:solidFill>
                  <a:srgbClr val="2E75B6"/>
                </a:solidFill>
                <a:latin typeface="Calibri"/>
              </a:rPr>
              <a:t>INDEPENDENT</a:t>
            </a:r>
          </a:p>
          <a:p>
            <a:pPr>
              <a:lnSpc>
                <a:spcPct val="118000"/>
              </a:lnSpc>
              <a:spcBef>
                <a:spcPts val="0"/>
              </a:spcBef>
              <a:spcAft>
                <a:spcPts val="900"/>
              </a:spcAft>
            </a:pPr>
            <a:r>
              <a:rPr sz="1150" b="0" i="0">
                <a:solidFill>
                  <a:srgbClr val="2E75B6"/>
                </a:solidFill>
                <a:latin typeface="Calibri"/>
              </a:rPr>
              <a:t>– </a:t>
            </a:r>
            <a:r>
              <a:rPr sz="1150" b="1" i="0">
                <a:solidFill>
                  <a:srgbClr val="1F3864"/>
                </a:solidFill>
                <a:latin typeface="Calibri"/>
              </a:rPr>
              <a:t>Estimator family: </a:t>
            </a:r>
            <a:r>
              <a:rPr sz="1150" b="0" i="0">
                <a:solidFill>
                  <a:srgbClr val="2E2E2E"/>
                </a:solidFill>
                <a:latin typeface="Calibri"/>
              </a:rPr>
              <a:t>NLLS · PIA · PIVA</a:t>
            </a:r>
          </a:p>
          <a:p>
            <a:pPr>
              <a:lnSpc>
                <a:spcPct val="118000"/>
              </a:lnSpc>
              <a:spcBef>
                <a:spcPts val="0"/>
              </a:spcBef>
              <a:spcAft>
                <a:spcPts val="900"/>
              </a:spcAft>
            </a:pPr>
            <a:r>
              <a:rPr sz="1150" b="0" i="0">
                <a:solidFill>
                  <a:srgbClr val="2E75B6"/>
                </a:solidFill>
                <a:latin typeface="Calibri"/>
              </a:rPr>
              <a:t>– </a:t>
            </a:r>
            <a:r>
              <a:rPr sz="1150" b="1" i="0">
                <a:solidFill>
                  <a:srgbClr val="1F3864"/>
                </a:solidFill>
                <a:latin typeface="Calibri"/>
              </a:rPr>
              <a:t>Noise level: </a:t>
            </a:r>
            <a:r>
              <a:rPr sz="1150" b="0" i="0">
                <a:solidFill>
                  <a:srgbClr val="2E2E2E"/>
                </a:solidFill>
                <a:latin typeface="Calibri"/>
              </a:rPr>
              <a:t>Rician σ on unit-scale S₀</a:t>
            </a:r>
          </a:p>
          <a:p>
            <a:pPr>
              <a:lnSpc>
                <a:spcPct val="118000"/>
              </a:lnSpc>
              <a:spcBef>
                <a:spcPts val="0"/>
              </a:spcBef>
              <a:spcAft>
                <a:spcPts val="900"/>
              </a:spcAft>
            </a:pPr>
            <a:r>
              <a:rPr sz="1150" b="0" i="0">
                <a:solidFill>
                  <a:srgbClr val="2E75B6"/>
                </a:solidFill>
                <a:latin typeface="Calibri"/>
              </a:rPr>
              <a:t>– </a:t>
            </a:r>
            <a:r>
              <a:rPr sz="1150" b="1" i="0">
                <a:solidFill>
                  <a:srgbClr val="1F3864"/>
                </a:solidFill>
                <a:latin typeface="Calibri"/>
              </a:rPr>
              <a:t>Constraint width: </a:t>
            </a:r>
            <a:r>
              <a:rPr sz="1150" b="0" i="0">
                <a:solidFill>
                  <a:srgbClr val="2E2E2E"/>
                </a:solidFill>
                <a:latin typeface="Calibri"/>
              </a:rPr>
              <a:t>tight / doubled / unconstrained</a:t>
            </a:r>
          </a:p>
          <a:p>
            <a:pPr>
              <a:lnSpc>
                <a:spcPct val="118000"/>
              </a:lnSpc>
              <a:spcBef>
                <a:spcPts val="0"/>
              </a:spcBef>
              <a:spcAft>
                <a:spcPts val="900"/>
              </a:spcAft>
            </a:pPr>
            <a:r>
              <a:rPr sz="1150" b="0" i="0">
                <a:solidFill>
                  <a:srgbClr val="2E75B6"/>
                </a:solidFill>
                <a:latin typeface="Calibri"/>
              </a:rPr>
              <a:t>– </a:t>
            </a:r>
            <a:r>
              <a:rPr sz="1150" b="1" i="0">
                <a:solidFill>
                  <a:srgbClr val="1F3864"/>
                </a:solidFill>
                <a:latin typeface="Calibri"/>
              </a:rPr>
              <a:t>Posterior covariance: </a:t>
            </a:r>
            <a:r>
              <a:rPr sz="1150" b="0" i="0">
                <a:solidFill>
                  <a:srgbClr val="2E2E2E"/>
                </a:solidFill>
                <a:latin typeface="Calibri"/>
              </a:rPr>
              <a:t>diagonal or full Gaussian</a:t>
            </a:r>
          </a:p>
          <a:p>
            <a:pPr>
              <a:lnSpc>
                <a:spcPct val="118000"/>
              </a:lnSpc>
              <a:spcBef>
                <a:spcPts val="0"/>
              </a:spcBef>
              <a:spcAft>
                <a:spcPts val="900"/>
              </a:spcAft>
            </a:pPr>
            <a:r>
              <a:rPr sz="1150" b="0" i="0">
                <a:solidFill>
                  <a:srgbClr val="2E75B6"/>
                </a:solidFill>
                <a:latin typeface="Calibri"/>
              </a:rPr>
              <a:t>– </a:t>
            </a:r>
            <a:r>
              <a:rPr sz="1150" b="1" i="0">
                <a:solidFill>
                  <a:srgbClr val="1F3864"/>
                </a:solidFill>
                <a:latin typeface="Calibri"/>
              </a:rPr>
              <a:t>Fraction latent: </a:t>
            </a:r>
            <a:r>
              <a:rPr sz="1150" b="0" i="0">
                <a:solidFill>
                  <a:srgbClr val="2E2E2E"/>
                </a:solidFill>
                <a:latin typeface="Calibri"/>
              </a:rPr>
              <a:t>three-logit softmax or 2-D ILR</a:t>
            </a:r>
          </a:p>
        </p:txBody>
      </p:sp>
      <p:sp>
        <p:nvSpPr>
          <p:cNvPr id="9" name="Rectangle 8"/>
          <p:cNvSpPr/>
          <p:nvPr/>
        </p:nvSpPr>
        <p:spPr>
          <a:xfrm>
            <a:off x="4329074" y="1261872"/>
            <a:ext cx="3533546" cy="320040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9074" y="1261872"/>
            <a:ext cx="50292" cy="320040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3394" y="1481328"/>
            <a:ext cx="3030626" cy="2743200"/>
          </a:xfrm>
          <a:prstGeom prst="rect">
            <a:avLst/>
          </a:prstGeom>
          <a:noFill/>
        </p:spPr>
        <p:txBody>
          <a:bodyPr wrap="square" lIns="0" tIns="0" rIns="0" bIns="0" anchor="t">
            <a:spAutoFit/>
          </a:bodyPr>
          <a:lstStyle/>
          <a:p>
            <a:pPr algn="l">
              <a:lnSpc>
                <a:spcPct val="115000"/>
              </a:lnSpc>
              <a:spcBef>
                <a:spcPts val="0"/>
              </a:spcBef>
              <a:spcAft>
                <a:spcPts val="1000"/>
              </a:spcAft>
            </a:pPr>
            <a:r>
              <a:rPr sz="1050" b="1" i="0">
                <a:solidFill>
                  <a:srgbClr val="1F7A72"/>
                </a:solidFill>
                <a:latin typeface="Calibri"/>
              </a:rPr>
              <a:t>DEPENDENT</a:t>
            </a:r>
          </a:p>
          <a:p>
            <a:pPr algn="l">
              <a:lnSpc>
                <a:spcPct val="115000"/>
              </a:lnSpc>
              <a:spcBef>
                <a:spcPts val="0"/>
              </a:spcBef>
              <a:spcAft>
                <a:spcPts val="800"/>
              </a:spcAft>
            </a:pPr>
            <a:r>
              <a:rPr sz="1150" b="1" i="0">
                <a:solidFill>
                  <a:srgbClr val="1F3864"/>
                </a:solidFill>
                <a:latin typeface="Calibri"/>
              </a:rPr>
              <a:t>Primary — </a:t>
            </a:r>
            <a:r>
              <a:rPr sz="1150" b="0" i="0">
                <a:solidFill>
                  <a:srgbClr val="2E2E2E"/>
                </a:solidFill>
                <a:latin typeface="Calibri"/>
              </a:rPr>
              <a:t>estimation error for D, T₂, and v</a:t>
            </a:r>
          </a:p>
          <a:p>
            <a:pPr algn="l">
              <a:lnSpc>
                <a:spcPct val="115000"/>
              </a:lnSpc>
              <a:spcBef>
                <a:spcPts val="0"/>
              </a:spcBef>
              <a:spcAft>
                <a:spcPts val="600"/>
              </a:spcAft>
            </a:pPr>
            <a:r>
              <a:rPr sz="1150" b="1" i="0">
                <a:solidFill>
                  <a:srgbClr val="1F3864"/>
                </a:solidFill>
                <a:latin typeface="Calibri"/>
              </a:rPr>
              <a:t>Secondary</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Coefficient of determination R²</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Pearson agreement r</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Posterior coverage</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Calibrated interval width</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Reconstruction loss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Computational behavior</a:t>
            </a:r>
          </a:p>
        </p:txBody>
      </p:sp>
      <p:sp>
        <p:nvSpPr>
          <p:cNvPr id="12" name="Rectangle 11"/>
          <p:cNvSpPr/>
          <p:nvPr/>
        </p:nvSpPr>
        <p:spPr>
          <a:xfrm>
            <a:off x="8091220" y="1261872"/>
            <a:ext cx="3533546" cy="3200400"/>
          </a:xfrm>
          <a:prstGeom prst="rect">
            <a:avLst/>
          </a:prstGeom>
          <a:solidFill>
            <a:srgbClr val="F3F5F8"/>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1220" y="1261872"/>
            <a:ext cx="50292" cy="32004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65540" y="1481328"/>
            <a:ext cx="3030626" cy="2743200"/>
          </a:xfrm>
          <a:prstGeom prst="rect">
            <a:avLst/>
          </a:prstGeom>
          <a:noFill/>
        </p:spPr>
        <p:txBody>
          <a:bodyPr wrap="square" lIns="0" tIns="0" rIns="0" bIns="0" anchor="t">
            <a:spAutoFit/>
          </a:bodyPr>
          <a:lstStyle/>
          <a:p>
            <a:pPr algn="l">
              <a:lnSpc>
                <a:spcPct val="115000"/>
              </a:lnSpc>
              <a:spcBef>
                <a:spcPts val="0"/>
              </a:spcBef>
              <a:spcAft>
                <a:spcPts val="1000"/>
              </a:spcAft>
            </a:pPr>
            <a:r>
              <a:rPr sz="1050" b="1" i="0">
                <a:solidFill>
                  <a:srgbClr val="6E6E6E"/>
                </a:solidFill>
                <a:latin typeface="Calibri"/>
              </a:rPr>
              <a:t>CONTROLLED</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Acquisition grid ℰ × ℱ</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Clean test parameters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Noisy test observations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Physiological ranges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Evaluation functions</a:t>
            </a:r>
          </a:p>
          <a:p>
            <a:pPr algn="l">
              <a:lnSpc>
                <a:spcPct val="115000"/>
              </a:lnSpc>
              <a:spcBef>
                <a:spcPts val="800"/>
              </a:spcBef>
              <a:spcAft>
                <a:spcPts val="600"/>
              </a:spcAft>
            </a:pPr>
            <a:r>
              <a:rPr sz="1100" b="1" i="0">
                <a:solidFill>
                  <a:srgbClr val="1F3864"/>
                </a:solidFill>
                <a:latin typeface="Calibri"/>
              </a:rPr>
              <a:t>Tier 2 only</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Encoder widths, optimizer, epochs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σ_obs, KL warm-up, free-bits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Monte Carlo sample count</a:t>
            </a:r>
          </a:p>
        </p:txBody>
      </p:sp>
      <p:sp>
        <p:nvSpPr>
          <p:cNvPr id="15" name="Rectangle 14"/>
          <p:cNvSpPr/>
          <p:nvPr/>
        </p:nvSpPr>
        <p:spPr>
          <a:xfrm>
            <a:off x="566928" y="4663440"/>
            <a:ext cx="11057839" cy="6858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4663440"/>
            <a:ext cx="50292" cy="685800"/>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818888"/>
            <a:ext cx="10554919" cy="411480"/>
          </a:xfrm>
          <a:prstGeom prst="rect">
            <a:avLst/>
          </a:prstGeom>
          <a:noFill/>
        </p:spPr>
        <p:txBody>
          <a:bodyPr wrap="square" lIns="0" tIns="0" rIns="0" bIns="0" anchor="t">
            <a:spAutoFit/>
          </a:bodyPr>
          <a:lstStyle/>
          <a:p>
            <a:pPr algn="l">
              <a:lnSpc>
                <a:spcPct val="120000"/>
              </a:lnSpc>
              <a:spcBef>
                <a:spcPts val="0"/>
              </a:spcBef>
              <a:spcAft>
                <a:spcPts val="0"/>
              </a:spcAft>
            </a:pPr>
            <a:r>
              <a:rPr sz="1200" b="1" i="0">
                <a:solidFill>
                  <a:srgbClr val="A9630A"/>
                </a:solidFill>
                <a:latin typeface="Calibri"/>
              </a:rPr>
              <a:t>Design consequence:  </a:t>
            </a:r>
            <a:r>
              <a:rPr sz="1200" b="0" i="0">
                <a:solidFill>
                  <a:srgbClr val="2E2E2E"/>
                </a:solidFill>
                <a:latin typeface="Calibri"/>
              </a:rPr>
              <a:t>factors 4 and 5 are varied together in Tier 2 — the full-covariance model is also the ILR model. The comparison therefore identifies the joint effect of the two changes, not each one separately.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2788920"/>
            <a:ext cx="8686800" cy="1280160"/>
          </a:xfrm>
          <a:prstGeom prst="rect">
            <a:avLst/>
          </a:prstGeom>
          <a:noFill/>
        </p:spPr>
        <p:txBody>
          <a:bodyPr wrap="square" lIns="0" tIns="0" rIns="0" bIns="0" anchor="t">
            <a:spAutoFit/>
          </a:bodyPr>
          <a:lstStyle/>
          <a:p>
            <a:pPr algn="l">
              <a:lnSpc>
                <a:spcPct val="115000"/>
              </a:lnSpc>
              <a:spcBef>
                <a:spcPts val="0"/>
              </a:spcBef>
              <a:spcAft>
                <a:spcPts val="1000"/>
              </a:spcAft>
            </a:pPr>
            <a:r>
              <a:rPr sz="1300" b="1" i="0">
                <a:solidFill>
                  <a:srgbClr val="2E75B6"/>
                </a:solidFill>
                <a:latin typeface="Calibri"/>
              </a:rPr>
              <a:t>01</a:t>
            </a:r>
          </a:p>
          <a:p>
            <a:pPr algn="l">
              <a:lnSpc>
                <a:spcPct val="115000"/>
              </a:lnSpc>
              <a:spcBef>
                <a:spcPts val="0"/>
              </a:spcBef>
              <a:spcAft>
                <a:spcPts val="800"/>
              </a:spcAft>
            </a:pPr>
            <a:r>
              <a:rPr sz="3400" b="0" i="0">
                <a:solidFill>
                  <a:srgbClr val="FFFFFF"/>
                </a:solidFill>
                <a:latin typeface="Calibri Light"/>
              </a:rPr>
              <a:t>Forward Model, Cohort, and Data</a:t>
            </a:r>
          </a:p>
          <a:p>
            <a:pPr algn="l">
              <a:lnSpc>
                <a:spcPct val="115000"/>
              </a:lnSpc>
              <a:spcBef>
                <a:spcPts val="0"/>
              </a:spcBef>
              <a:spcAft>
                <a:spcPts val="0"/>
              </a:spcAft>
            </a:pPr>
            <a:r>
              <a:rPr sz="1400" b="0" i="0">
                <a:solidFill>
                  <a:srgbClr val="9FB8D6"/>
                </a:solidFill>
                <a:latin typeface="Calibri"/>
              </a:rPr>
              <a:t>What the signal equation encodes and how synthetic patients are built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Forward Model and Acquisition Grid</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A fixed, differentiable signal equation — it is also the decoder in PIA and PIVA.</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4</a:t>
            </a:r>
          </a:p>
        </p:txBody>
      </p:sp>
      <p:sp>
        <p:nvSpPr>
          <p:cNvPr id="7" name="Rectangle 6"/>
          <p:cNvSpPr/>
          <p:nvPr/>
        </p:nvSpPr>
        <p:spPr>
          <a:xfrm>
            <a:off x="566928" y="1481328"/>
            <a:ext cx="11057839" cy="960120"/>
          </a:xfrm>
          <a:prstGeom prst="rect">
            <a:avLst/>
          </a:prstGeom>
          <a:solidFill>
            <a:srgbClr val="E7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50292" cy="960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664208"/>
            <a:ext cx="10326319" cy="685800"/>
          </a:xfrm>
          <a:prstGeom prst="rect">
            <a:avLst/>
          </a:prstGeom>
          <a:noFill/>
        </p:spPr>
        <p:txBody>
          <a:bodyPr wrap="square" lIns="0" tIns="0" rIns="0" bIns="0" anchor="ctr">
            <a:spAutoFit/>
          </a:bodyPr>
          <a:lstStyle/>
          <a:p>
            <a:pPr algn="ctr">
              <a:lnSpc>
                <a:spcPct val="115000"/>
              </a:lnSpc>
              <a:spcBef>
                <a:spcPts val="0"/>
              </a:spcBef>
              <a:spcAft>
                <a:spcPts val="0"/>
              </a:spcAft>
            </a:pPr>
            <a:r>
              <a:rPr sz="2100" b="0" i="0" dirty="0">
                <a:solidFill>
                  <a:srgbClr val="1F3864"/>
                </a:solidFill>
                <a:latin typeface="Cambria Math"/>
              </a:rPr>
              <a:t>S(b, TE; </a:t>
            </a:r>
            <a:r>
              <a:rPr sz="2100" b="0" i="0" dirty="0" err="1">
                <a:solidFill>
                  <a:srgbClr val="1F3864"/>
                </a:solidFill>
                <a:latin typeface="Cambria Math"/>
              </a:rPr>
              <a:t>θ</a:t>
            </a:r>
            <a:r>
              <a:rPr sz="2100" b="0" i="0" dirty="0">
                <a:solidFill>
                  <a:srgbClr val="1F3864"/>
                </a:solidFill>
                <a:latin typeface="Cambria Math"/>
              </a:rPr>
              <a:t>)  =  S₀  ∑</a:t>
            </a:r>
            <a:r>
              <a:rPr sz="1200" b="0" i="0" dirty="0">
                <a:solidFill>
                  <a:srgbClr val="1F3864"/>
                </a:solidFill>
                <a:latin typeface="Cambria Math"/>
              </a:rPr>
              <a:t>c∈𝒞</a:t>
            </a:r>
            <a:r>
              <a:rPr sz="2100" b="0" i="0" dirty="0">
                <a:solidFill>
                  <a:srgbClr val="1F3864"/>
                </a:solidFill>
                <a:latin typeface="Cambria Math"/>
              </a:rPr>
              <a:t>  </a:t>
            </a:r>
            <a:r>
              <a:rPr sz="2100" b="0" i="0" dirty="0" err="1">
                <a:solidFill>
                  <a:srgbClr val="1F3864"/>
                </a:solidFill>
                <a:latin typeface="Cambria Math"/>
              </a:rPr>
              <a:t>v</a:t>
            </a:r>
            <a:r>
              <a:rPr sz="1300" b="0" i="0" dirty="0" err="1">
                <a:solidFill>
                  <a:srgbClr val="1F3864"/>
                </a:solidFill>
                <a:latin typeface="Cambria Math"/>
              </a:rPr>
              <a:t>c</a:t>
            </a:r>
            <a:r>
              <a:rPr sz="2100" b="0" i="0" dirty="0">
                <a:solidFill>
                  <a:srgbClr val="1F3864"/>
                </a:solidFill>
                <a:latin typeface="Cambria Math"/>
              </a:rPr>
              <a:t>  exp( − </a:t>
            </a:r>
            <a:r>
              <a:rPr sz="2100" b="0" i="0" dirty="0" err="1">
                <a:solidFill>
                  <a:srgbClr val="1F3864"/>
                </a:solidFill>
                <a:latin typeface="Cambria Math"/>
              </a:rPr>
              <a:t>bD</a:t>
            </a:r>
            <a:r>
              <a:rPr sz="1300" b="0" i="0" dirty="0" err="1">
                <a:solidFill>
                  <a:srgbClr val="1F3864"/>
                </a:solidFill>
                <a:latin typeface="Cambria Math"/>
              </a:rPr>
              <a:t>c</a:t>
            </a:r>
            <a:r>
              <a:rPr sz="2100" b="0" i="0" dirty="0">
                <a:solidFill>
                  <a:srgbClr val="1F3864"/>
                </a:solidFill>
                <a:latin typeface="Cambria Math"/>
              </a:rPr>
              <a:t> / 1000 )  exp( − TE / T</a:t>
            </a:r>
            <a:r>
              <a:rPr sz="1300" b="0" i="0" dirty="0">
                <a:solidFill>
                  <a:srgbClr val="1F3864"/>
                </a:solidFill>
                <a:latin typeface="Cambria Math"/>
              </a:rPr>
              <a:t>2,c</a:t>
            </a:r>
            <a:r>
              <a:rPr sz="2100" b="0" i="0" dirty="0">
                <a:solidFill>
                  <a:srgbClr val="1F3864"/>
                </a:solidFill>
                <a:latin typeface="Cambria Math"/>
              </a:rPr>
              <a:t> )</a:t>
            </a:r>
          </a:p>
        </p:txBody>
      </p:sp>
      <p:sp>
        <p:nvSpPr>
          <p:cNvPr id="10" name="TextBox 9"/>
          <p:cNvSpPr txBox="1"/>
          <p:nvPr/>
        </p:nvSpPr>
        <p:spPr>
          <a:xfrm>
            <a:off x="932688" y="2194560"/>
            <a:ext cx="10326319" cy="237744"/>
          </a:xfrm>
          <a:prstGeom prst="rect">
            <a:avLst/>
          </a:prstGeom>
          <a:noFill/>
        </p:spPr>
        <p:txBody>
          <a:bodyPr wrap="square" lIns="0" tIns="0" rIns="0" bIns="0" anchor="t">
            <a:spAutoFit/>
          </a:bodyPr>
          <a:lstStyle/>
          <a:p>
            <a:pPr algn="ctr">
              <a:lnSpc>
                <a:spcPct val="115000"/>
              </a:lnSpc>
              <a:spcBef>
                <a:spcPts val="0"/>
              </a:spcBef>
              <a:spcAft>
                <a:spcPts val="0"/>
              </a:spcAft>
            </a:pPr>
            <a:r>
              <a:rPr sz="1050" b="0" i="0">
                <a:solidFill>
                  <a:srgbClr val="6E6E6E"/>
                </a:solidFill>
                <a:latin typeface="Calibri"/>
              </a:rPr>
              <a:t>S₀ = 1000 (stored signal scale)   ·   b in s/mm²   ·   D_c in 10⁻³ mm²/s, divided by 1000 to reconcile units   ·   TE and T₂,c in ms</a:t>
            </a:r>
          </a:p>
        </p:txBody>
      </p:sp>
      <p:sp>
        <p:nvSpPr>
          <p:cNvPr id="11" name="Rectangle 10"/>
          <p:cNvSpPr/>
          <p:nvPr/>
        </p:nvSpPr>
        <p:spPr>
          <a:xfrm>
            <a:off x="566928" y="2560320"/>
            <a:ext cx="4572000" cy="21031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761488"/>
            <a:ext cx="4069080" cy="365760"/>
          </a:xfrm>
          <a:prstGeom prst="rect">
            <a:avLst/>
          </a:prstGeom>
          <a:noFill/>
        </p:spPr>
        <p:txBody>
          <a:bodyPr wrap="square" lIns="0" tIns="0" rIns="0" bIns="0" anchor="t">
            <a:spAutoFit/>
          </a:bodyPr>
          <a:lstStyle/>
          <a:p>
            <a:pPr algn="l">
              <a:lnSpc>
                <a:spcPct val="115000"/>
              </a:lnSpc>
              <a:spcBef>
                <a:spcPts val="0"/>
              </a:spcBef>
              <a:spcAft>
                <a:spcPts val="0"/>
              </a:spcAft>
            </a:pPr>
            <a:r>
              <a:rPr sz="1350" b="1" i="0">
                <a:solidFill>
                  <a:srgbClr val="1F3864"/>
                </a:solidFill>
                <a:latin typeface="Calibri"/>
              </a:rPr>
              <a:t>Acquisition grid — 16 channels per voxel</a:t>
            </a:r>
          </a:p>
        </p:txBody>
      </p:sp>
      <p:sp>
        <p:nvSpPr>
          <p:cNvPr id="13" name="TextBox 12"/>
          <p:cNvSpPr txBox="1"/>
          <p:nvPr/>
        </p:nvSpPr>
        <p:spPr>
          <a:xfrm>
            <a:off x="822960" y="3182112"/>
            <a:ext cx="4069080" cy="1371600"/>
          </a:xfrm>
          <a:prstGeom prst="rect">
            <a:avLst/>
          </a:prstGeom>
          <a:noFill/>
        </p:spPr>
        <p:txBody>
          <a:bodyPr wrap="square" lIns="0" tIns="0" rIns="0" bIns="0" anchor="t">
            <a:spAutoFit/>
          </a:bodyPr>
          <a:lstStyle/>
          <a:p>
            <a:pPr algn="l">
              <a:lnSpc>
                <a:spcPct val="115000"/>
              </a:lnSpc>
              <a:spcBef>
                <a:spcPts val="0"/>
              </a:spcBef>
              <a:spcAft>
                <a:spcPts val="700"/>
              </a:spcAft>
            </a:pPr>
            <a:r>
              <a:rPr sz="1350" b="0" i="0">
                <a:solidFill>
                  <a:srgbClr val="2E2E2E"/>
                </a:solidFill>
                <a:latin typeface="Cambria Math"/>
              </a:rPr>
              <a:t>ℰ  =  {0, 150, 1000, 1500} s/mm²</a:t>
            </a:r>
          </a:p>
          <a:p>
            <a:pPr algn="l">
              <a:lnSpc>
                <a:spcPct val="115000"/>
              </a:lnSpc>
              <a:spcBef>
                <a:spcPts val="0"/>
              </a:spcBef>
              <a:spcAft>
                <a:spcPts val="1200"/>
              </a:spcAft>
            </a:pPr>
            <a:r>
              <a:rPr sz="1350" b="0" i="0">
                <a:solidFill>
                  <a:srgbClr val="2E2E2E"/>
                </a:solidFill>
                <a:latin typeface="Cambria Math"/>
              </a:rPr>
              <a:t>ℱ  =  {0, 13, 93, 143} ms</a:t>
            </a:r>
          </a:p>
          <a:p>
            <a:pPr algn="l">
              <a:lnSpc>
                <a:spcPct val="120000"/>
              </a:lnSpc>
              <a:spcBef>
                <a:spcPts val="0"/>
              </a:spcBef>
              <a:spcAft>
                <a:spcPts val="600"/>
              </a:spcAft>
            </a:pPr>
            <a:r>
              <a:rPr sz="1150" b="0" i="0">
                <a:solidFill>
                  <a:srgbClr val="6E6E6E"/>
                </a:solidFill>
                <a:latin typeface="Calibri"/>
              </a:rPr>
              <a:t>Cartesian product: 4 diffusion weightings × 4 echo times = 16 measurements.</a:t>
            </a:r>
          </a:p>
          <a:p>
            <a:pPr algn="l">
              <a:lnSpc>
                <a:spcPct val="115000"/>
              </a:lnSpc>
              <a:spcBef>
                <a:spcPts val="0"/>
              </a:spcBef>
              <a:spcAft>
                <a:spcPts val="0"/>
              </a:spcAft>
            </a:pPr>
            <a:r>
              <a:rPr sz="1150" b="0" i="0">
                <a:solidFill>
                  <a:srgbClr val="6E6E6E"/>
                </a:solidFill>
                <a:latin typeface="Calibri"/>
              </a:rPr>
              <a:t>Observed input per voxel:   </a:t>
            </a:r>
            <a:r>
              <a:rPr sz="1300" b="1" i="0">
                <a:solidFill>
                  <a:srgbClr val="1F3864"/>
                </a:solidFill>
                <a:latin typeface="Cambria Math"/>
              </a:rPr>
              <a:t>xᵢ ∈ ℝ¹⁶</a:t>
            </a:r>
          </a:p>
        </p:txBody>
      </p:sp>
      <p:sp>
        <p:nvSpPr>
          <p:cNvPr id="14" name="Rectangle 13"/>
          <p:cNvSpPr/>
          <p:nvPr/>
        </p:nvSpPr>
        <p:spPr>
          <a:xfrm>
            <a:off x="5394960" y="2560320"/>
            <a:ext cx="6229807" cy="21031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50992" y="2761488"/>
            <a:ext cx="5726887" cy="365760"/>
          </a:xfrm>
          <a:prstGeom prst="rect">
            <a:avLst/>
          </a:prstGeom>
          <a:noFill/>
        </p:spPr>
        <p:txBody>
          <a:bodyPr wrap="square" lIns="0" tIns="0" rIns="0" bIns="0" anchor="t">
            <a:spAutoFit/>
          </a:bodyPr>
          <a:lstStyle/>
          <a:p>
            <a:pPr algn="l">
              <a:lnSpc>
                <a:spcPct val="115000"/>
              </a:lnSpc>
              <a:spcBef>
                <a:spcPts val="0"/>
              </a:spcBef>
              <a:spcAft>
                <a:spcPts val="0"/>
              </a:spcAft>
            </a:pPr>
            <a:r>
              <a:rPr sz="1350" b="1" i="0">
                <a:solidFill>
                  <a:srgbClr val="1F3864"/>
                </a:solidFill>
                <a:latin typeface="Calibri"/>
              </a:rPr>
              <a:t>Target vector — 9 tissue parameters</a:t>
            </a:r>
          </a:p>
        </p:txBody>
      </p:sp>
      <p:sp>
        <p:nvSpPr>
          <p:cNvPr id="16" name="TextBox 15"/>
          <p:cNvSpPr txBox="1"/>
          <p:nvPr/>
        </p:nvSpPr>
        <p:spPr>
          <a:xfrm>
            <a:off x="5650992" y="3182112"/>
            <a:ext cx="5726887" cy="1371600"/>
          </a:xfrm>
          <a:prstGeom prst="rect">
            <a:avLst/>
          </a:prstGeom>
          <a:noFill/>
        </p:spPr>
        <p:txBody>
          <a:bodyPr wrap="square" lIns="0" tIns="0" rIns="0" bIns="0" anchor="t">
            <a:spAutoFit/>
          </a:bodyPr>
          <a:lstStyle/>
          <a:p>
            <a:pPr algn="l">
              <a:lnSpc>
                <a:spcPct val="115000"/>
              </a:lnSpc>
              <a:spcBef>
                <a:spcPts val="0"/>
              </a:spcBef>
              <a:spcAft>
                <a:spcPts val="1000"/>
              </a:spcAft>
            </a:pPr>
            <a:r>
              <a:rPr sz="1300" b="0" i="0">
                <a:solidFill>
                  <a:srgbClr val="2E2E2E"/>
                </a:solidFill>
                <a:latin typeface="Cambria Math"/>
              </a:rPr>
              <a:t>θᵢ = [ D</a:t>
            </a:r>
            <a:r>
              <a:rPr sz="1000" b="0" i="0">
                <a:solidFill>
                  <a:srgbClr val="2E2E2E"/>
                </a:solidFill>
                <a:latin typeface="Cambria Math"/>
              </a:rPr>
              <a:t>ep</a:t>
            </a:r>
            <a:r>
              <a:rPr sz="1300" b="0" i="0">
                <a:solidFill>
                  <a:srgbClr val="2E2E2E"/>
                </a:solidFill>
                <a:latin typeface="Cambria Math"/>
              </a:rPr>
              <a:t>, D</a:t>
            </a:r>
            <a:r>
              <a:rPr sz="1000" b="0" i="0">
                <a:solidFill>
                  <a:srgbClr val="2E2E2E"/>
                </a:solidFill>
                <a:latin typeface="Cambria Math"/>
              </a:rPr>
              <a:t>st</a:t>
            </a:r>
            <a:r>
              <a:rPr sz="1300" b="0" i="0">
                <a:solidFill>
                  <a:srgbClr val="2E2E2E"/>
                </a:solidFill>
                <a:latin typeface="Cambria Math"/>
              </a:rPr>
              <a:t>, D</a:t>
            </a:r>
            <a:r>
              <a:rPr sz="1000" b="0" i="0">
                <a:solidFill>
                  <a:srgbClr val="2E2E2E"/>
                </a:solidFill>
                <a:latin typeface="Cambria Math"/>
              </a:rPr>
              <a:t>lu</a:t>
            </a:r>
            <a:r>
              <a:rPr sz="1300" b="0" i="0">
                <a:solidFill>
                  <a:srgbClr val="2E2E2E"/>
                </a:solidFill>
                <a:latin typeface="Cambria Math"/>
              </a:rPr>
              <a:t>, T</a:t>
            </a:r>
            <a:r>
              <a:rPr sz="1000" b="0" i="0">
                <a:solidFill>
                  <a:srgbClr val="2E2E2E"/>
                </a:solidFill>
                <a:latin typeface="Cambria Math"/>
              </a:rPr>
              <a:t>2,ep</a:t>
            </a:r>
            <a:r>
              <a:rPr sz="1300" b="0" i="0">
                <a:solidFill>
                  <a:srgbClr val="2E2E2E"/>
                </a:solidFill>
                <a:latin typeface="Cambria Math"/>
              </a:rPr>
              <a:t>, T</a:t>
            </a:r>
            <a:r>
              <a:rPr sz="1000" b="0" i="0">
                <a:solidFill>
                  <a:srgbClr val="2E2E2E"/>
                </a:solidFill>
                <a:latin typeface="Cambria Math"/>
              </a:rPr>
              <a:t>2,st</a:t>
            </a:r>
            <a:r>
              <a:rPr sz="1300" b="0" i="0">
                <a:solidFill>
                  <a:srgbClr val="2E2E2E"/>
                </a:solidFill>
                <a:latin typeface="Cambria Math"/>
              </a:rPr>
              <a:t>, T</a:t>
            </a:r>
            <a:r>
              <a:rPr sz="1000" b="0" i="0">
                <a:solidFill>
                  <a:srgbClr val="2E2E2E"/>
                </a:solidFill>
                <a:latin typeface="Cambria Math"/>
              </a:rPr>
              <a:t>2,lu</a:t>
            </a:r>
            <a:r>
              <a:rPr sz="1300" b="0" i="0">
                <a:solidFill>
                  <a:srgbClr val="2E2E2E"/>
                </a:solidFill>
                <a:latin typeface="Cambria Math"/>
              </a:rPr>
              <a:t>, v</a:t>
            </a:r>
            <a:r>
              <a:rPr sz="1000" b="0" i="0">
                <a:solidFill>
                  <a:srgbClr val="2E2E2E"/>
                </a:solidFill>
                <a:latin typeface="Cambria Math"/>
              </a:rPr>
              <a:t>ep</a:t>
            </a:r>
            <a:r>
              <a:rPr sz="1300" b="0" i="0">
                <a:solidFill>
                  <a:srgbClr val="2E2E2E"/>
                </a:solidFill>
                <a:latin typeface="Cambria Math"/>
              </a:rPr>
              <a:t>, v</a:t>
            </a:r>
            <a:r>
              <a:rPr sz="1000" b="0" i="0">
                <a:solidFill>
                  <a:srgbClr val="2E2E2E"/>
                </a:solidFill>
                <a:latin typeface="Cambria Math"/>
              </a:rPr>
              <a:t>st</a:t>
            </a:r>
            <a:r>
              <a:rPr sz="1300" b="0" i="0">
                <a:solidFill>
                  <a:srgbClr val="2E2E2E"/>
                </a:solidFill>
                <a:latin typeface="Cambria Math"/>
              </a:rPr>
              <a:t>, v</a:t>
            </a:r>
            <a:r>
              <a:rPr sz="1000" b="0" i="0">
                <a:solidFill>
                  <a:srgbClr val="2E2E2E"/>
                </a:solidFill>
                <a:latin typeface="Cambria Math"/>
              </a:rPr>
              <a:t>lu</a:t>
            </a:r>
            <a:r>
              <a:rPr sz="1300" b="0" i="0">
                <a:solidFill>
                  <a:srgbClr val="2E2E2E"/>
                </a:solidFill>
                <a:latin typeface="Cambria Math"/>
              </a:rPr>
              <a:t> ]ᵀ  ∈ ℝ⁹</a:t>
            </a:r>
          </a:p>
          <a:p>
            <a:pPr algn="l">
              <a:lnSpc>
                <a:spcPct val="115000"/>
              </a:lnSpc>
              <a:spcBef>
                <a:spcPts val="0"/>
              </a:spcBef>
              <a:spcAft>
                <a:spcPts val="800"/>
              </a:spcAft>
            </a:pPr>
            <a:r>
              <a:rPr sz="1150" b="0" i="0">
                <a:solidFill>
                  <a:srgbClr val="6E6E6E"/>
                </a:solidFill>
                <a:latin typeface="Calibri"/>
              </a:rPr>
              <a:t>Compartments  c ∈ 𝒞 = {epithelium, stroma, lumen}</a:t>
            </a:r>
          </a:p>
          <a:p>
            <a:pPr algn="l">
              <a:lnSpc>
                <a:spcPct val="115000"/>
              </a:lnSpc>
              <a:spcBef>
                <a:spcPts val="0"/>
              </a:spcBef>
              <a:spcAft>
                <a:spcPts val="0"/>
              </a:spcAft>
            </a:pPr>
            <a:r>
              <a:rPr sz="1150" b="0" i="0">
                <a:solidFill>
                  <a:srgbClr val="6E6E6E"/>
                </a:solidFill>
                <a:latin typeface="Calibri"/>
              </a:rPr>
              <a:t>Simplex constraint:   </a:t>
            </a:r>
            <a:r>
              <a:rPr sz="1300" b="1" i="0">
                <a:solidFill>
                  <a:srgbClr val="1F3864"/>
                </a:solidFill>
                <a:latin typeface="Cambria Math"/>
              </a:rPr>
              <a:t>v</a:t>
            </a:r>
            <a:r>
              <a:rPr sz="1000" b="1" i="0">
                <a:solidFill>
                  <a:srgbClr val="1F3864"/>
                </a:solidFill>
                <a:latin typeface="Cambria Math"/>
              </a:rPr>
              <a:t>c</a:t>
            </a:r>
            <a:r>
              <a:rPr sz="1300" b="1" i="0">
                <a:solidFill>
                  <a:srgbClr val="1F3864"/>
                </a:solidFill>
                <a:latin typeface="Cambria Math"/>
              </a:rPr>
              <a:t> ≥ 0,   ∑ v</a:t>
            </a:r>
            <a:r>
              <a:rPr sz="1000" b="1" i="0">
                <a:solidFill>
                  <a:srgbClr val="1F3864"/>
                </a:solidFill>
                <a:latin typeface="Cambria Math"/>
              </a:rPr>
              <a:t>c</a:t>
            </a:r>
            <a:r>
              <a:rPr sz="1300" b="1" i="0">
                <a:solidFill>
                  <a:srgbClr val="1F3864"/>
                </a:solidFill>
                <a:latin typeface="Cambria Math"/>
              </a:rPr>
              <a:t> = 1</a:t>
            </a:r>
          </a:p>
        </p:txBody>
      </p:sp>
      <p:sp>
        <p:nvSpPr>
          <p:cNvPr id="17" name="TextBox 16"/>
          <p:cNvSpPr txBox="1"/>
          <p:nvPr/>
        </p:nvSpPr>
        <p:spPr>
          <a:xfrm>
            <a:off x="566928" y="4773168"/>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300" b="1" i="0">
                <a:solidFill>
                  <a:srgbClr val="1F3864"/>
                </a:solidFill>
                <a:latin typeface="Calibri"/>
              </a:rPr>
              <a:t>Physiological ranges encoded in the cohort generator</a:t>
            </a:r>
          </a:p>
        </p:txBody>
      </p:sp>
      <p:graphicFrame>
        <p:nvGraphicFramePr>
          <p:cNvPr id="18" name="Table 17"/>
          <p:cNvGraphicFramePr>
            <a:graphicFrameLocks noGrp="1"/>
          </p:cNvGraphicFramePr>
          <p:nvPr/>
        </p:nvGraphicFramePr>
        <p:xfrm>
          <a:off x="566928" y="5102352"/>
          <a:ext cx="6583680" cy="1133856"/>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algn="l">
                        <a:lnSpc>
                          <a:spcPct val="100000"/>
                        </a:lnSpc>
                        <a:spcAft>
                          <a:spcPts val="0"/>
                        </a:spcAft>
                      </a:pPr>
                      <a:r>
                        <a:rPr sz="1200" b="1" i="0">
                          <a:solidFill>
                            <a:srgbClr val="FFFFFF"/>
                          </a:solidFill>
                          <a:latin typeface="Calibri"/>
                        </a:rPr>
                        <a:t>Compartment</a:t>
                      </a:r>
                    </a:p>
                  </a:txBody>
                  <a:tcPr marR="64008" marT="32004" marB="32004" anchor="ctr">
                    <a:solidFill>
                      <a:srgbClr val="1F3864"/>
                    </a:solidFill>
                  </a:tcPr>
                </a:tc>
                <a:tc>
                  <a:txBody>
                    <a:bodyPr/>
                    <a:lstStyle/>
                    <a:p>
                      <a:pPr algn="ctr">
                        <a:lnSpc>
                          <a:spcPct val="100000"/>
                        </a:lnSpc>
                        <a:spcAft>
                          <a:spcPts val="0"/>
                        </a:spcAft>
                      </a:pPr>
                      <a:r>
                        <a:rPr sz="1200" b="1" i="0">
                          <a:solidFill>
                            <a:srgbClr val="FFFFFF"/>
                          </a:solidFill>
                          <a:latin typeface="Calibri"/>
                        </a:rPr>
                        <a:t>Dᴄ range (10⁻³ mm²/s)</a:t>
                      </a:r>
                    </a:p>
                  </a:txBody>
                  <a:tcPr marR="64008" marT="32004" marB="32004" anchor="ctr">
                    <a:solidFill>
                      <a:srgbClr val="1F3864"/>
                    </a:solidFill>
                  </a:tcPr>
                </a:tc>
                <a:tc>
                  <a:txBody>
                    <a:bodyPr/>
                    <a:lstStyle/>
                    <a:p>
                      <a:pPr algn="ctr">
                        <a:lnSpc>
                          <a:spcPct val="100000"/>
                        </a:lnSpc>
                        <a:spcAft>
                          <a:spcPts val="0"/>
                        </a:spcAft>
                      </a:pPr>
                      <a:r>
                        <a:rPr sz="1200" b="1" i="0">
                          <a:solidFill>
                            <a:srgbClr val="FFFFFF"/>
                          </a:solidFill>
                          <a:latin typeface="Calibri"/>
                        </a:rPr>
                        <a:t>T₂,ᴄ range (ms)</a:t>
                      </a:r>
                    </a:p>
                  </a:txBody>
                  <a:tcPr marR="64008" marT="32004" marB="32004" anchor="ctr">
                    <a:solidFill>
                      <a:srgbClr val="1F3864"/>
                    </a:solidFill>
                  </a:tcPr>
                </a:tc>
                <a:extLst>
                  <a:ext uri="{0D108BD9-81ED-4DB2-BD59-A6C34878D82A}">
                    <a16:rowId xmlns:a16="http://schemas.microsoft.com/office/drawing/2014/main" val="10000"/>
                  </a:ext>
                </a:extLst>
              </a:tr>
              <a:tr h="274320">
                <a:tc>
                  <a:txBody>
                    <a:bodyPr/>
                    <a:lstStyle/>
                    <a:p>
                      <a:pPr algn="l">
                        <a:lnSpc>
                          <a:spcPct val="100000"/>
                        </a:lnSpc>
                        <a:spcAft>
                          <a:spcPts val="0"/>
                        </a:spcAft>
                      </a:pPr>
                      <a:r>
                        <a:rPr sz="1200" b="1" i="0">
                          <a:solidFill>
                            <a:srgbClr val="2E2E2E"/>
                          </a:solidFill>
                          <a:latin typeface="Calibri"/>
                        </a:rPr>
                        <a:t>Epithelium</a:t>
                      </a:r>
                    </a:p>
                  </a:txBody>
                  <a:tcPr marR="64008" marT="32004" marB="32004" anchor="ctr">
                    <a:solidFill>
                      <a:srgbClr val="FFFFFF"/>
                    </a:solidFill>
                  </a:tcPr>
                </a:tc>
                <a:tc>
                  <a:txBody>
                    <a:bodyPr/>
                    <a:lstStyle/>
                    <a:p>
                      <a:pPr algn="ctr">
                        <a:lnSpc>
                          <a:spcPct val="100000"/>
                        </a:lnSpc>
                        <a:spcAft>
                          <a:spcPts val="0"/>
                        </a:spcAft>
                      </a:pPr>
                      <a:r>
                        <a:rPr sz="1200" b="0" i="0">
                          <a:solidFill>
                            <a:srgbClr val="2E2E2E"/>
                          </a:solidFill>
                          <a:latin typeface="Calibri"/>
                        </a:rPr>
                        <a:t>0.30 – 0.70</a:t>
                      </a:r>
                    </a:p>
                  </a:txBody>
                  <a:tcPr marR="64008" marT="32004" marB="32004" anchor="ctr">
                    <a:solidFill>
                      <a:srgbClr val="FFFFFF"/>
                    </a:solidFill>
                  </a:tcPr>
                </a:tc>
                <a:tc>
                  <a:txBody>
                    <a:bodyPr/>
                    <a:lstStyle/>
                    <a:p>
                      <a:pPr algn="ctr">
                        <a:lnSpc>
                          <a:spcPct val="100000"/>
                        </a:lnSpc>
                        <a:spcAft>
                          <a:spcPts val="0"/>
                        </a:spcAft>
                      </a:pPr>
                      <a:r>
                        <a:rPr sz="1200" b="0" i="0">
                          <a:solidFill>
                            <a:srgbClr val="2E2E2E"/>
                          </a:solidFill>
                          <a:latin typeface="Calibri"/>
                        </a:rPr>
                        <a:t>20 – 70</a:t>
                      </a:r>
                    </a:p>
                  </a:txBody>
                  <a:tcPr marR="64008" marT="32004" marB="32004" anchor="ctr">
                    <a:solidFill>
                      <a:srgbClr val="FFFFFF"/>
                    </a:solidFill>
                  </a:tcPr>
                </a:tc>
                <a:extLst>
                  <a:ext uri="{0D108BD9-81ED-4DB2-BD59-A6C34878D82A}">
                    <a16:rowId xmlns:a16="http://schemas.microsoft.com/office/drawing/2014/main" val="10001"/>
                  </a:ext>
                </a:extLst>
              </a:tr>
              <a:tr h="274320">
                <a:tc>
                  <a:txBody>
                    <a:bodyPr/>
                    <a:lstStyle/>
                    <a:p>
                      <a:pPr algn="l">
                        <a:lnSpc>
                          <a:spcPct val="100000"/>
                        </a:lnSpc>
                        <a:spcAft>
                          <a:spcPts val="0"/>
                        </a:spcAft>
                      </a:pPr>
                      <a:r>
                        <a:rPr sz="1200" b="1" i="0">
                          <a:solidFill>
                            <a:srgbClr val="2E2E2E"/>
                          </a:solidFill>
                          <a:latin typeface="Calibri"/>
                        </a:rPr>
                        <a:t>Stroma</a:t>
                      </a:r>
                    </a:p>
                  </a:txBody>
                  <a:tcPr marR="64008" marT="32004" marB="32004" anchor="ctr">
                    <a:solidFill>
                      <a:srgbClr val="F3F5F8"/>
                    </a:solidFill>
                  </a:tcPr>
                </a:tc>
                <a:tc>
                  <a:txBody>
                    <a:bodyPr/>
                    <a:lstStyle/>
                    <a:p>
                      <a:pPr algn="ctr">
                        <a:lnSpc>
                          <a:spcPct val="100000"/>
                        </a:lnSpc>
                        <a:spcAft>
                          <a:spcPts val="0"/>
                        </a:spcAft>
                      </a:pPr>
                      <a:r>
                        <a:rPr sz="1200" b="0" i="0">
                          <a:solidFill>
                            <a:srgbClr val="2E2E2E"/>
                          </a:solidFill>
                          <a:latin typeface="Calibri"/>
                        </a:rPr>
                        <a:t>0.70 – 1.70</a:t>
                      </a:r>
                    </a:p>
                  </a:txBody>
                  <a:tcPr marR="64008" marT="32004" marB="32004" anchor="ctr">
                    <a:solidFill>
                      <a:srgbClr val="F3F5F8"/>
                    </a:solidFill>
                  </a:tcPr>
                </a:tc>
                <a:tc>
                  <a:txBody>
                    <a:bodyPr/>
                    <a:lstStyle/>
                    <a:p>
                      <a:pPr algn="ctr">
                        <a:lnSpc>
                          <a:spcPct val="100000"/>
                        </a:lnSpc>
                        <a:spcAft>
                          <a:spcPts val="0"/>
                        </a:spcAft>
                      </a:pPr>
                      <a:r>
                        <a:rPr sz="1200" b="0" i="0">
                          <a:solidFill>
                            <a:srgbClr val="2E2E2E"/>
                          </a:solidFill>
                          <a:latin typeface="Calibri"/>
                        </a:rPr>
                        <a:t>40 – 100</a:t>
                      </a:r>
                    </a:p>
                  </a:txBody>
                  <a:tcPr marR="64008" marT="32004" marB="32004" anchor="ctr">
                    <a:solidFill>
                      <a:srgbClr val="F3F5F8"/>
                    </a:solidFill>
                  </a:tcPr>
                </a:tc>
                <a:extLst>
                  <a:ext uri="{0D108BD9-81ED-4DB2-BD59-A6C34878D82A}">
                    <a16:rowId xmlns:a16="http://schemas.microsoft.com/office/drawing/2014/main" val="10002"/>
                  </a:ext>
                </a:extLst>
              </a:tr>
              <a:tr h="274320">
                <a:tc>
                  <a:txBody>
                    <a:bodyPr/>
                    <a:lstStyle/>
                    <a:p>
                      <a:pPr algn="l">
                        <a:lnSpc>
                          <a:spcPct val="100000"/>
                        </a:lnSpc>
                        <a:spcAft>
                          <a:spcPts val="0"/>
                        </a:spcAft>
                      </a:pPr>
                      <a:r>
                        <a:rPr sz="1200" b="1" i="0">
                          <a:solidFill>
                            <a:srgbClr val="2E2E2E"/>
                          </a:solidFill>
                          <a:latin typeface="Calibri"/>
                        </a:rPr>
                        <a:t>Lumen</a:t>
                      </a:r>
                    </a:p>
                  </a:txBody>
                  <a:tcPr marR="64008" marT="32004" marB="32004" anchor="ctr">
                    <a:solidFill>
                      <a:srgbClr val="FFFFFF"/>
                    </a:solidFill>
                  </a:tcPr>
                </a:tc>
                <a:tc>
                  <a:txBody>
                    <a:bodyPr/>
                    <a:lstStyle/>
                    <a:p>
                      <a:pPr algn="ctr">
                        <a:lnSpc>
                          <a:spcPct val="100000"/>
                        </a:lnSpc>
                        <a:spcAft>
                          <a:spcPts val="0"/>
                        </a:spcAft>
                      </a:pPr>
                      <a:r>
                        <a:rPr sz="1200" b="0" i="0">
                          <a:solidFill>
                            <a:srgbClr val="2E2E2E"/>
                          </a:solidFill>
                          <a:latin typeface="Calibri"/>
                        </a:rPr>
                        <a:t>2.70 – 3.00</a:t>
                      </a:r>
                    </a:p>
                  </a:txBody>
                  <a:tcPr marR="64008" marT="32004" marB="32004" anchor="ctr">
                    <a:solidFill>
                      <a:srgbClr val="FFFFFF"/>
                    </a:solidFill>
                  </a:tcPr>
                </a:tc>
                <a:tc>
                  <a:txBody>
                    <a:bodyPr/>
                    <a:lstStyle/>
                    <a:p>
                      <a:pPr algn="ctr">
                        <a:lnSpc>
                          <a:spcPct val="100000"/>
                        </a:lnSpc>
                        <a:spcAft>
                          <a:spcPts val="0"/>
                        </a:spcAft>
                      </a:pPr>
                      <a:r>
                        <a:rPr sz="1200" b="0" i="0">
                          <a:solidFill>
                            <a:srgbClr val="2E2E2E"/>
                          </a:solidFill>
                          <a:latin typeface="Calibri"/>
                        </a:rPr>
                        <a:t>500 – 1000</a:t>
                      </a:r>
                    </a:p>
                  </a:txBody>
                  <a:tcPr marR="64008" marT="32004" marB="32004" anchor="ctr">
                    <a:solidFill>
                      <a:srgbClr val="FFFFFF"/>
                    </a:solidFill>
                  </a:tcPr>
                </a:tc>
                <a:extLst>
                  <a:ext uri="{0D108BD9-81ED-4DB2-BD59-A6C34878D82A}">
                    <a16:rowId xmlns:a16="http://schemas.microsoft.com/office/drawing/2014/main" val="10003"/>
                  </a:ext>
                </a:extLst>
              </a:tr>
            </a:tbl>
          </a:graphicData>
        </a:graphic>
      </p:graphicFrame>
      <p:sp>
        <p:nvSpPr>
          <p:cNvPr id="19" name="TextBox 18"/>
          <p:cNvSpPr txBox="1"/>
          <p:nvPr/>
        </p:nvSpPr>
        <p:spPr>
          <a:xfrm>
            <a:off x="7470648" y="5157216"/>
            <a:ext cx="4154119" cy="1005840"/>
          </a:xfrm>
          <a:prstGeom prst="rect">
            <a:avLst/>
          </a:prstGeom>
          <a:noFill/>
        </p:spPr>
        <p:txBody>
          <a:bodyPr wrap="square" lIns="0" tIns="0" rIns="0" bIns="0" anchor="t">
            <a:spAutoFit/>
          </a:bodyPr>
          <a:lstStyle/>
          <a:p>
            <a:pPr algn="l">
              <a:lnSpc>
                <a:spcPct val="122000"/>
              </a:lnSpc>
              <a:spcBef>
                <a:spcPts val="0"/>
              </a:spcBef>
              <a:spcAft>
                <a:spcPts val="0"/>
              </a:spcAft>
            </a:pPr>
            <a:r>
              <a:rPr sz="1150" b="1" i="0">
                <a:solidFill>
                  <a:srgbClr val="1F3864"/>
                </a:solidFill>
                <a:latin typeface="Calibri"/>
              </a:rPr>
              <a:t>Why these three compartments.  </a:t>
            </a:r>
            <a:r>
              <a:rPr sz="1150" b="0" i="0">
                <a:solidFill>
                  <a:srgbClr val="6E6E6E"/>
                </a:solidFill>
                <a:latin typeface="Calibri"/>
              </a:rPr>
              <a:t>This is the VERDICT-style tissue model of Panagiotaki et al. (2014). Lumen is separated from epithelium and stroma by roughly an order of magnitude in both D and T₂ — which is what makes the 16-channel grid informative in the first place.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Synthetic Patient Cohort: Hierarchical Generator</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Variation is injected at two levels so between-patient phenotype is separable from within-patient heterogeneity.</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5</a:t>
            </a:r>
          </a:p>
        </p:txBody>
      </p:sp>
      <p:sp>
        <p:nvSpPr>
          <p:cNvPr id="7" name="Rectangle 6"/>
          <p:cNvSpPr/>
          <p:nvPr/>
        </p:nvSpPr>
        <p:spPr>
          <a:xfrm>
            <a:off x="566928" y="1481328"/>
            <a:ext cx="5391759" cy="251460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50292" cy="25146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1682496"/>
            <a:ext cx="4843119" cy="2148840"/>
          </a:xfrm>
          <a:prstGeom prst="rect">
            <a:avLst/>
          </a:prstGeom>
          <a:noFill/>
        </p:spPr>
        <p:txBody>
          <a:bodyPr wrap="square" lIns="0" tIns="0" rIns="0" bIns="0" anchor="t">
            <a:spAutoFit/>
          </a:bodyPr>
          <a:lstStyle/>
          <a:p>
            <a:pPr algn="l">
              <a:lnSpc>
                <a:spcPct val="115000"/>
              </a:lnSpc>
              <a:spcBef>
                <a:spcPts val="0"/>
              </a:spcBef>
              <a:spcAft>
                <a:spcPts val="1000"/>
              </a:spcAft>
            </a:pPr>
            <a:r>
              <a:rPr sz="1400" b="1" i="0">
                <a:solidFill>
                  <a:srgbClr val="1F3864"/>
                </a:solidFill>
                <a:latin typeface="Calibri"/>
              </a:rPr>
              <a:t>Volume fractions</a:t>
            </a:r>
          </a:p>
          <a:p>
            <a:pPr algn="l">
              <a:lnSpc>
                <a:spcPct val="115000"/>
              </a:lnSpc>
              <a:spcBef>
                <a:spcPts val="0"/>
              </a:spcBef>
              <a:spcAft>
                <a:spcPts val="900"/>
              </a:spcAft>
            </a:pPr>
            <a:r>
              <a:rPr sz="1100" b="0" i="0">
                <a:solidFill>
                  <a:srgbClr val="6E6E6E"/>
                </a:solidFill>
                <a:latin typeface="Calibri"/>
              </a:rPr>
              <a:t>Patient phenotype</a:t>
            </a:r>
            <a:r>
              <a:rPr sz="1350" b="0" i="0">
                <a:solidFill>
                  <a:srgbClr val="2E2E2E"/>
                </a:solidFill>
                <a:latin typeface="Cambria Math"/>
              </a:rPr>
              <a:t>        m</a:t>
            </a:r>
            <a:r>
              <a:rPr sz="1000" b="0" i="0">
                <a:solidFill>
                  <a:srgbClr val="2E2E2E"/>
                </a:solidFill>
                <a:latin typeface="Cambria Math"/>
              </a:rPr>
              <a:t>p</a:t>
            </a:r>
            <a:r>
              <a:rPr sz="1350" b="0" i="0">
                <a:solidFill>
                  <a:srgbClr val="2E2E2E"/>
                </a:solidFill>
                <a:latin typeface="Cambria Math"/>
              </a:rPr>
              <a:t>  ∼  Dirichlet(1.6, 1.8, 1.6)</a:t>
            </a:r>
          </a:p>
          <a:p>
            <a:pPr algn="l">
              <a:lnSpc>
                <a:spcPct val="115000"/>
              </a:lnSpc>
              <a:spcBef>
                <a:spcPts val="0"/>
              </a:spcBef>
              <a:spcAft>
                <a:spcPts val="900"/>
              </a:spcAft>
            </a:pPr>
            <a:r>
              <a:rPr sz="1100" b="0" i="0">
                <a:solidFill>
                  <a:srgbClr val="6E6E6E"/>
                </a:solidFill>
                <a:latin typeface="Calibri"/>
              </a:rPr>
              <a:t>Concentration</a:t>
            </a:r>
            <a:r>
              <a:rPr sz="1350" b="0" i="0">
                <a:solidFill>
                  <a:srgbClr val="2E2E2E"/>
                </a:solidFill>
                <a:latin typeface="Cambria Math"/>
              </a:rPr>
              <a:t>               α</a:t>
            </a:r>
            <a:r>
              <a:rPr sz="1000" b="0" i="0">
                <a:solidFill>
                  <a:srgbClr val="2E2E2E"/>
                </a:solidFill>
                <a:latin typeface="Cambria Math"/>
              </a:rPr>
              <a:t>p</a:t>
            </a:r>
            <a:r>
              <a:rPr sz="1350" b="0" i="0">
                <a:solidFill>
                  <a:srgbClr val="2E2E2E"/>
                </a:solidFill>
                <a:latin typeface="Cambria Math"/>
              </a:rPr>
              <a:t>  =  1 + 18 m</a:t>
            </a:r>
            <a:r>
              <a:rPr sz="1000" b="0" i="0">
                <a:solidFill>
                  <a:srgbClr val="2E2E2E"/>
                </a:solidFill>
                <a:latin typeface="Cambria Math"/>
              </a:rPr>
              <a:t>p</a:t>
            </a:r>
          </a:p>
          <a:p>
            <a:pPr algn="l">
              <a:lnSpc>
                <a:spcPct val="115000"/>
              </a:lnSpc>
              <a:spcBef>
                <a:spcPts val="0"/>
              </a:spcBef>
              <a:spcAft>
                <a:spcPts val="1200"/>
              </a:spcAft>
            </a:pPr>
            <a:r>
              <a:rPr sz="1100" b="0" i="0">
                <a:solidFill>
                  <a:srgbClr val="6E6E6E"/>
                </a:solidFill>
                <a:latin typeface="Calibri"/>
              </a:rPr>
              <a:t>Voxel fractions</a:t>
            </a:r>
            <a:r>
              <a:rPr sz="1350" b="0" i="0">
                <a:solidFill>
                  <a:srgbClr val="2E2E2E"/>
                </a:solidFill>
                <a:latin typeface="Cambria Math"/>
              </a:rPr>
              <a:t>             v</a:t>
            </a:r>
            <a:r>
              <a:rPr sz="1000" b="0" i="0">
                <a:solidFill>
                  <a:srgbClr val="2E2E2E"/>
                </a:solidFill>
                <a:latin typeface="Cambria Math"/>
              </a:rPr>
              <a:t>pi</a:t>
            </a:r>
            <a:r>
              <a:rPr sz="1350" b="0" i="0">
                <a:solidFill>
                  <a:srgbClr val="2E2E2E"/>
                </a:solidFill>
                <a:latin typeface="Cambria Math"/>
              </a:rPr>
              <a:t>  ∼  Dirichlet(α</a:t>
            </a:r>
            <a:r>
              <a:rPr sz="1000" b="0" i="0">
                <a:solidFill>
                  <a:srgbClr val="2E2E2E"/>
                </a:solidFill>
                <a:latin typeface="Cambria Math"/>
              </a:rPr>
              <a:t>p</a:t>
            </a:r>
            <a:r>
              <a:rPr sz="1350" b="0" i="0">
                <a:solidFill>
                  <a:srgbClr val="2E2E2E"/>
                </a:solidFill>
                <a:latin typeface="Cambria Math"/>
              </a:rPr>
              <a:t>)</a:t>
            </a:r>
          </a:p>
          <a:p>
            <a:pPr algn="l">
              <a:lnSpc>
                <a:spcPct val="120000"/>
              </a:lnSpc>
              <a:spcBef>
                <a:spcPts val="0"/>
              </a:spcBef>
              <a:spcAft>
                <a:spcPts val="0"/>
              </a:spcAft>
            </a:pPr>
            <a:r>
              <a:rPr sz="1150" b="0" i="0">
                <a:solidFill>
                  <a:srgbClr val="6E6E6E"/>
                </a:solidFill>
                <a:latin typeface="Calibri"/>
              </a:rPr>
              <a:t>Each patient gets a characteristic mean composition while voxels retain within-patient heterogeneity.</a:t>
            </a:r>
          </a:p>
        </p:txBody>
      </p:sp>
      <p:sp>
        <p:nvSpPr>
          <p:cNvPr id="10" name="Rectangle 9"/>
          <p:cNvSpPr/>
          <p:nvPr/>
        </p:nvSpPr>
        <p:spPr>
          <a:xfrm>
            <a:off x="6233007" y="1481328"/>
            <a:ext cx="5391759" cy="251460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33007" y="1481328"/>
            <a:ext cx="50292" cy="251460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25615" y="1682496"/>
            <a:ext cx="4843119" cy="2148840"/>
          </a:xfrm>
          <a:prstGeom prst="rect">
            <a:avLst/>
          </a:prstGeom>
          <a:noFill/>
        </p:spPr>
        <p:txBody>
          <a:bodyPr wrap="square" lIns="0" tIns="0" rIns="0" bIns="0" anchor="t">
            <a:spAutoFit/>
          </a:bodyPr>
          <a:lstStyle/>
          <a:p>
            <a:pPr algn="l">
              <a:lnSpc>
                <a:spcPct val="115000"/>
              </a:lnSpc>
              <a:spcBef>
                <a:spcPts val="0"/>
              </a:spcBef>
              <a:spcAft>
                <a:spcPts val="1000"/>
              </a:spcAft>
            </a:pPr>
            <a:r>
              <a:rPr sz="1400" b="1" i="0">
                <a:solidFill>
                  <a:srgbClr val="1F3864"/>
                </a:solidFill>
                <a:latin typeface="Calibri"/>
              </a:rPr>
              <a:t>Diffusivity and relaxation</a:t>
            </a:r>
          </a:p>
          <a:p>
            <a:pPr algn="l">
              <a:lnSpc>
                <a:spcPct val="115000"/>
              </a:lnSpc>
              <a:spcBef>
                <a:spcPts val="0"/>
              </a:spcBef>
              <a:spcAft>
                <a:spcPts val="700"/>
              </a:spcAft>
            </a:pPr>
            <a:r>
              <a:rPr sz="1100" b="0" i="0">
                <a:solidFill>
                  <a:srgbClr val="6E6E6E"/>
                </a:solidFill>
                <a:latin typeface="Calibri"/>
              </a:rPr>
              <a:t>Patient centers = population mean + Gaussian offset</a:t>
            </a:r>
          </a:p>
          <a:p>
            <a:pPr algn="l">
              <a:lnSpc>
                <a:spcPct val="115000"/>
              </a:lnSpc>
              <a:spcBef>
                <a:spcPts val="0"/>
              </a:spcBef>
              <a:spcAft>
                <a:spcPts val="700"/>
              </a:spcAft>
            </a:pPr>
            <a:r>
              <a:rPr sz="1350" b="0" i="0">
                <a:solidFill>
                  <a:srgbClr val="2E2E2E"/>
                </a:solidFill>
                <a:latin typeface="Cambria Math"/>
              </a:rPr>
              <a:t>δ</a:t>
            </a:r>
            <a:r>
              <a:rPr sz="1350" b="0" i="0" baseline="-25000">
                <a:solidFill>
                  <a:srgbClr val="2E2E2E"/>
                </a:solidFill>
                <a:latin typeface="Cambria Math"/>
              </a:rPr>
              <a:t>p</a:t>
            </a:r>
            <a:r>
              <a:rPr sz="1350" b="0" i="0" baseline="30000">
                <a:solidFill>
                  <a:srgbClr val="2E2E2E"/>
                </a:solidFill>
                <a:latin typeface="Cambria Math"/>
              </a:rPr>
              <a:t>D</a:t>
            </a:r>
            <a:r>
              <a:rPr sz="1350" b="0" i="0">
                <a:solidFill>
                  <a:srgbClr val="2E2E2E"/>
                </a:solidFill>
                <a:latin typeface="Cambria Math"/>
              </a:rPr>
              <a:t>  ~  N(0, diag(0.025², 0.060², 0.020²))</a:t>
            </a:r>
          </a:p>
          <a:p>
            <a:pPr algn="l">
              <a:lnSpc>
                <a:spcPct val="115000"/>
              </a:lnSpc>
              <a:spcBef>
                <a:spcPts val="0"/>
              </a:spcBef>
              <a:spcAft>
                <a:spcPts val="1000"/>
              </a:spcAft>
            </a:pPr>
            <a:r>
              <a:rPr sz="1350" b="0" i="0">
                <a:solidFill>
                  <a:srgbClr val="2E2E2E"/>
                </a:solidFill>
                <a:latin typeface="Cambria Math"/>
              </a:rPr>
              <a:t>δ</a:t>
            </a:r>
            <a:r>
              <a:rPr sz="1350" b="0" i="0" baseline="-25000">
                <a:solidFill>
                  <a:srgbClr val="2E2E2E"/>
                </a:solidFill>
                <a:latin typeface="Cambria Math"/>
              </a:rPr>
              <a:t>p</a:t>
            </a:r>
            <a:r>
              <a:rPr sz="1350" b="0" i="0" baseline="30000">
                <a:solidFill>
                  <a:srgbClr val="2E2E2E"/>
                </a:solidFill>
                <a:latin typeface="Cambria Math"/>
              </a:rPr>
              <a:t>T2</a:t>
            </a:r>
            <a:r>
              <a:rPr sz="1350" b="0" i="0">
                <a:solidFill>
                  <a:srgbClr val="2E2E2E"/>
                </a:solidFill>
                <a:latin typeface="Cambria Math"/>
              </a:rPr>
              <a:t>  ~  N(0, diag(4², 6², 55²))</a:t>
            </a:r>
          </a:p>
          <a:p>
            <a:pPr algn="l">
              <a:lnSpc>
                <a:spcPct val="115000"/>
              </a:lnSpc>
              <a:spcBef>
                <a:spcPts val="0"/>
              </a:spcBef>
              <a:spcAft>
                <a:spcPts val="700"/>
              </a:spcAft>
            </a:pPr>
            <a:r>
              <a:rPr sz="1100" b="0" i="0">
                <a:solidFill>
                  <a:srgbClr val="6E6E6E"/>
                </a:solidFill>
                <a:latin typeface="Calibri"/>
              </a:rPr>
              <a:t>Voxels sampled around each patient's centers</a:t>
            </a:r>
          </a:p>
          <a:p>
            <a:pPr algn="l">
              <a:lnSpc>
                <a:spcPct val="115000"/>
              </a:lnSpc>
              <a:spcBef>
                <a:spcPts val="0"/>
              </a:spcBef>
              <a:spcAft>
                <a:spcPts val="800"/>
              </a:spcAft>
            </a:pPr>
            <a:r>
              <a:rPr sz="1350" b="0" i="0">
                <a:solidFill>
                  <a:srgbClr val="2E2E2E"/>
                </a:solidFill>
                <a:latin typeface="Cambria Math"/>
              </a:rPr>
              <a:t>σ</a:t>
            </a:r>
            <a:r>
              <a:rPr sz="1350" b="0" i="0" baseline="-25000">
                <a:solidFill>
                  <a:srgbClr val="2E2E2E"/>
                </a:solidFill>
                <a:latin typeface="Cambria Math"/>
              </a:rPr>
              <a:t>voxel</a:t>
            </a:r>
            <a:r>
              <a:rPr sz="1350" b="0" i="0" baseline="30000">
                <a:solidFill>
                  <a:srgbClr val="2E2E2E"/>
                </a:solidFill>
                <a:latin typeface="Cambria Math"/>
              </a:rPr>
              <a:t>D</a:t>
            </a:r>
            <a:r>
              <a:rPr sz="1350" b="0" i="0">
                <a:solidFill>
                  <a:srgbClr val="2E2E2E"/>
                </a:solidFill>
                <a:latin typeface="Cambria Math"/>
              </a:rPr>
              <a:t> = (0.04, 0.12, 0.03)      σ</a:t>
            </a:r>
            <a:r>
              <a:rPr sz="1350" b="0" i="0" baseline="-25000">
                <a:solidFill>
                  <a:srgbClr val="2E2E2E"/>
                </a:solidFill>
                <a:latin typeface="Cambria Math"/>
              </a:rPr>
              <a:t>voxel</a:t>
            </a:r>
            <a:r>
              <a:rPr sz="1350" b="0" i="0" baseline="30000">
                <a:solidFill>
                  <a:srgbClr val="2E2E2E"/>
                </a:solidFill>
                <a:latin typeface="Cambria Math"/>
              </a:rPr>
              <a:t>T2</a:t>
            </a:r>
            <a:r>
              <a:rPr sz="1350" b="0" i="0">
                <a:solidFill>
                  <a:srgbClr val="2E2E2E"/>
                </a:solidFill>
                <a:latin typeface="Cambria Math"/>
              </a:rPr>
              <a:t> = (6, 8, 70) ms</a:t>
            </a:r>
          </a:p>
          <a:p>
            <a:pPr algn="l">
              <a:lnSpc>
                <a:spcPct val="115000"/>
              </a:lnSpc>
              <a:spcBef>
                <a:spcPts val="0"/>
              </a:spcBef>
              <a:spcAft>
                <a:spcPts val="0"/>
              </a:spcAft>
            </a:pPr>
            <a:r>
              <a:rPr sz="1150" b="0" i="0">
                <a:solidFill>
                  <a:srgbClr val="6E6E6E"/>
                </a:solidFill>
                <a:latin typeface="Calibri"/>
              </a:rPr>
              <a:t>All centers and voxel values are clipped to the physiological ranges.</a:t>
            </a:r>
          </a:p>
        </p:txBody>
      </p:sp>
      <p:sp>
        <p:nvSpPr>
          <p:cNvPr id="13" name="TextBox 12"/>
          <p:cNvSpPr txBox="1"/>
          <p:nvPr/>
        </p:nvSpPr>
        <p:spPr>
          <a:xfrm>
            <a:off x="566928" y="4087368"/>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350" b="1" i="0">
                <a:solidFill>
                  <a:srgbClr val="1F3864"/>
                </a:solidFill>
                <a:latin typeface="Calibri"/>
              </a:rPr>
              <a:t>Training and held-out cohorts</a:t>
            </a:r>
          </a:p>
        </p:txBody>
      </p:sp>
      <p:sp>
        <p:nvSpPr>
          <p:cNvPr id="14" name="Rectangle 13"/>
          <p:cNvSpPr/>
          <p:nvPr/>
        </p:nvSpPr>
        <p:spPr>
          <a:xfrm>
            <a:off x="566928" y="4471416"/>
            <a:ext cx="2627299" cy="14173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4471416"/>
            <a:ext cx="2627299" cy="411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4690872"/>
            <a:ext cx="2261539" cy="1051560"/>
          </a:xfrm>
          <a:prstGeom prst="rect">
            <a:avLst/>
          </a:prstGeom>
          <a:noFill/>
        </p:spPr>
        <p:txBody>
          <a:bodyPr wrap="square" lIns="0" tIns="0" rIns="0" bIns="0" anchor="t">
            <a:spAutoFit/>
          </a:bodyPr>
          <a:lstStyle/>
          <a:p>
            <a:pPr algn="l">
              <a:lnSpc>
                <a:spcPct val="100000"/>
              </a:lnSpc>
              <a:spcBef>
                <a:spcPts val="0"/>
              </a:spcBef>
              <a:spcAft>
                <a:spcPts val="100"/>
              </a:spcAft>
            </a:pPr>
            <a:r>
              <a:rPr sz="2500" b="1" i="0">
                <a:solidFill>
                  <a:srgbClr val="2E75B6"/>
                </a:solidFill>
                <a:latin typeface="Calibri Light"/>
              </a:rPr>
              <a:t>40,960</a:t>
            </a:r>
          </a:p>
          <a:p>
            <a:pPr algn="l">
              <a:lnSpc>
                <a:spcPct val="115000"/>
              </a:lnSpc>
              <a:spcBef>
                <a:spcPts val="0"/>
              </a:spcBef>
              <a:spcAft>
                <a:spcPts val="500"/>
              </a:spcAft>
            </a:pPr>
            <a:r>
              <a:rPr sz="1200" b="1" i="0">
                <a:solidFill>
                  <a:srgbClr val="1F3864"/>
                </a:solidFill>
                <a:latin typeface="Calibri"/>
              </a:rPr>
              <a:t>Clean pairs</a:t>
            </a:r>
          </a:p>
          <a:p>
            <a:pPr algn="l">
              <a:lnSpc>
                <a:spcPct val="115000"/>
              </a:lnSpc>
              <a:spcBef>
                <a:spcPts val="0"/>
              </a:spcBef>
              <a:spcAft>
                <a:spcPts val="0"/>
              </a:spcAft>
            </a:pPr>
            <a:r>
              <a:rPr sz="1050" b="0" i="0">
                <a:solidFill>
                  <a:srgbClr val="6E6E6E"/>
                </a:solidFill>
                <a:latin typeface="Calibri"/>
              </a:rPr>
              <a:t>80 patients × 512 voxels</a:t>
            </a:r>
          </a:p>
        </p:txBody>
      </p:sp>
      <p:sp>
        <p:nvSpPr>
          <p:cNvPr id="17" name="Rectangle 16"/>
          <p:cNvSpPr/>
          <p:nvPr/>
        </p:nvSpPr>
        <p:spPr>
          <a:xfrm>
            <a:off x="3377107" y="4471416"/>
            <a:ext cx="2627299" cy="14173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77107" y="4471416"/>
            <a:ext cx="2627299" cy="411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59987" y="4690872"/>
            <a:ext cx="2261539" cy="1051560"/>
          </a:xfrm>
          <a:prstGeom prst="rect">
            <a:avLst/>
          </a:prstGeom>
          <a:noFill/>
        </p:spPr>
        <p:txBody>
          <a:bodyPr wrap="square" lIns="0" tIns="0" rIns="0" bIns="0" anchor="t">
            <a:spAutoFit/>
          </a:bodyPr>
          <a:lstStyle/>
          <a:p>
            <a:pPr algn="l">
              <a:lnSpc>
                <a:spcPct val="100000"/>
              </a:lnSpc>
              <a:spcBef>
                <a:spcPts val="0"/>
              </a:spcBef>
              <a:spcAft>
                <a:spcPts val="100"/>
              </a:spcAft>
            </a:pPr>
            <a:r>
              <a:rPr sz="2500" b="1" i="0">
                <a:solidFill>
                  <a:srgbClr val="2E75B6"/>
                </a:solidFill>
                <a:latin typeface="Calibri Light"/>
              </a:rPr>
              <a:t>61,440</a:t>
            </a:r>
          </a:p>
          <a:p>
            <a:pPr algn="l">
              <a:lnSpc>
                <a:spcPct val="115000"/>
              </a:lnSpc>
              <a:spcBef>
                <a:spcPts val="0"/>
              </a:spcBef>
              <a:spcAft>
                <a:spcPts val="500"/>
              </a:spcAft>
            </a:pPr>
            <a:r>
              <a:rPr sz="1200" b="1" i="0">
                <a:solidFill>
                  <a:srgbClr val="1F3864"/>
                </a:solidFill>
                <a:latin typeface="Calibri"/>
              </a:rPr>
              <a:t>After bootstrap</a:t>
            </a:r>
          </a:p>
          <a:p>
            <a:pPr algn="l">
              <a:lnSpc>
                <a:spcPct val="115000"/>
              </a:lnSpc>
              <a:spcBef>
                <a:spcPts val="0"/>
              </a:spcBef>
              <a:spcAft>
                <a:spcPts val="0"/>
              </a:spcAft>
            </a:pPr>
            <a:r>
              <a:rPr sz="1050" b="0" i="0">
                <a:solidFill>
                  <a:srgbClr val="6E6E6E"/>
                </a:solidFill>
                <a:latin typeface="Calibri"/>
              </a:rPr>
              <a:t>120 patient IDs sampled
with replacement</a:t>
            </a:r>
          </a:p>
        </p:txBody>
      </p:sp>
      <p:sp>
        <p:nvSpPr>
          <p:cNvPr id="20" name="Rectangle 19"/>
          <p:cNvSpPr/>
          <p:nvPr/>
        </p:nvSpPr>
        <p:spPr>
          <a:xfrm>
            <a:off x="6187287" y="4471416"/>
            <a:ext cx="2627299" cy="14173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87287" y="4471416"/>
            <a:ext cx="2627299" cy="411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0167" y="4690872"/>
            <a:ext cx="2261539" cy="1051560"/>
          </a:xfrm>
          <a:prstGeom prst="rect">
            <a:avLst/>
          </a:prstGeom>
          <a:noFill/>
        </p:spPr>
        <p:txBody>
          <a:bodyPr wrap="square" lIns="0" tIns="0" rIns="0" bIns="0" anchor="t">
            <a:spAutoFit/>
          </a:bodyPr>
          <a:lstStyle/>
          <a:p>
            <a:pPr algn="l">
              <a:lnSpc>
                <a:spcPct val="100000"/>
              </a:lnSpc>
              <a:spcBef>
                <a:spcPts val="0"/>
              </a:spcBef>
              <a:spcAft>
                <a:spcPts val="100"/>
              </a:spcAft>
            </a:pPr>
            <a:r>
              <a:rPr sz="2500" b="1" i="0">
                <a:solidFill>
                  <a:srgbClr val="2E75B6"/>
                </a:solidFill>
                <a:latin typeface="Calibri Light"/>
              </a:rPr>
              <a:t>122,880</a:t>
            </a:r>
          </a:p>
          <a:p>
            <a:pPr algn="l">
              <a:lnSpc>
                <a:spcPct val="115000"/>
              </a:lnSpc>
              <a:spcBef>
                <a:spcPts val="0"/>
              </a:spcBef>
              <a:spcAft>
                <a:spcPts val="500"/>
              </a:spcAft>
            </a:pPr>
            <a:r>
              <a:rPr sz="1200" b="1" i="0">
                <a:solidFill>
                  <a:srgbClr val="1F3864"/>
                </a:solidFill>
                <a:latin typeface="Calibri"/>
              </a:rPr>
              <a:t>Training set</a:t>
            </a:r>
          </a:p>
          <a:p>
            <a:pPr algn="l">
              <a:lnSpc>
                <a:spcPct val="115000"/>
              </a:lnSpc>
              <a:spcBef>
                <a:spcPts val="0"/>
              </a:spcBef>
              <a:spcAft>
                <a:spcPts val="0"/>
              </a:spcAft>
            </a:pPr>
            <a:r>
              <a:rPr sz="1050" b="0" i="0">
                <a:solidFill>
                  <a:srgbClr val="6E6E6E"/>
                </a:solidFill>
                <a:latin typeface="Calibri"/>
              </a:rPr>
              <a:t>× 2 independent Rician
noise realizations</a:t>
            </a:r>
          </a:p>
        </p:txBody>
      </p:sp>
      <p:sp>
        <p:nvSpPr>
          <p:cNvPr id="23" name="Rectangle 22"/>
          <p:cNvSpPr/>
          <p:nvPr/>
        </p:nvSpPr>
        <p:spPr>
          <a:xfrm>
            <a:off x="8997467" y="4471416"/>
            <a:ext cx="2627299" cy="1417320"/>
          </a:xfrm>
          <a:prstGeom prst="rect">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97467" y="4471416"/>
            <a:ext cx="2627299" cy="41148"/>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0347" y="4690872"/>
            <a:ext cx="2261539" cy="1051560"/>
          </a:xfrm>
          <a:prstGeom prst="rect">
            <a:avLst/>
          </a:prstGeom>
          <a:noFill/>
        </p:spPr>
        <p:txBody>
          <a:bodyPr wrap="square" lIns="0" tIns="0" rIns="0" bIns="0" anchor="t">
            <a:spAutoFit/>
          </a:bodyPr>
          <a:lstStyle/>
          <a:p>
            <a:pPr algn="l">
              <a:lnSpc>
                <a:spcPct val="100000"/>
              </a:lnSpc>
              <a:spcBef>
                <a:spcPts val="0"/>
              </a:spcBef>
              <a:spcAft>
                <a:spcPts val="100"/>
              </a:spcAft>
            </a:pPr>
            <a:r>
              <a:rPr sz="2500" b="1" i="0">
                <a:solidFill>
                  <a:srgbClr val="1F7A72"/>
                </a:solidFill>
                <a:latin typeface="Calibri Light"/>
              </a:rPr>
              <a:t>240</a:t>
            </a:r>
          </a:p>
          <a:p>
            <a:pPr algn="l">
              <a:lnSpc>
                <a:spcPct val="115000"/>
              </a:lnSpc>
              <a:spcBef>
                <a:spcPts val="0"/>
              </a:spcBef>
              <a:spcAft>
                <a:spcPts val="500"/>
              </a:spcAft>
            </a:pPr>
            <a:r>
              <a:rPr sz="1200" b="1" i="0">
                <a:solidFill>
                  <a:srgbClr val="1F3864"/>
                </a:solidFill>
                <a:latin typeface="Calibri"/>
              </a:rPr>
              <a:t>Held-out test</a:t>
            </a:r>
          </a:p>
          <a:p>
            <a:pPr algn="l">
              <a:lnSpc>
                <a:spcPct val="115000"/>
              </a:lnSpc>
              <a:spcBef>
                <a:spcPts val="0"/>
              </a:spcBef>
              <a:spcAft>
                <a:spcPts val="0"/>
              </a:spcAft>
            </a:pPr>
            <a:r>
              <a:rPr sz="1050" b="0" i="0">
                <a:solidFill>
                  <a:srgbClr val="6E6E6E"/>
                </a:solidFill>
                <a:latin typeface="Calibri"/>
              </a:rPr>
              <a:t>24 patients × 10 voxels
separate seed</a:t>
            </a:r>
          </a:p>
        </p:txBody>
      </p:sp>
      <p:sp>
        <p:nvSpPr>
          <p:cNvPr id="26" name="Isosceles Triangle 25"/>
          <p:cNvSpPr/>
          <p:nvPr/>
        </p:nvSpPr>
        <p:spPr>
          <a:xfrm rot="5400000">
            <a:off x="3198799" y="5038344"/>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Isosceles Triangle 26"/>
          <p:cNvSpPr/>
          <p:nvPr/>
        </p:nvSpPr>
        <p:spPr>
          <a:xfrm rot="5400000">
            <a:off x="6008979" y="5038344"/>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5400000">
            <a:off x="8819159" y="5038344"/>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6044184"/>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0">
                <a:solidFill>
                  <a:srgbClr val="2E2E2E"/>
                </a:solidFill>
                <a:latin typeface="Calibri"/>
              </a:rPr>
              <a:t>All estimator families are evaluated on the same 240-voxel held-out cohort.  </a:t>
            </a:r>
            <a:r>
              <a:rPr sz="1150" b="0" i="0">
                <a:solidFill>
                  <a:srgbClr val="6E6E6E"/>
                </a:solidFill>
                <a:latin typeface="Calibri"/>
              </a:rPr>
              <a:t>Tier 1 creates separate fixed-noise observations at each σ; Tier 2 uses σ = 0.05.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Rician Noise Model and Computational Pipeline</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5" name="TextBox 4"/>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6</a:t>
            </a:r>
          </a:p>
        </p:txBody>
      </p:sp>
      <p:sp>
        <p:nvSpPr>
          <p:cNvPr id="6" name="Rectangle 5"/>
          <p:cNvSpPr/>
          <p:nvPr/>
        </p:nvSpPr>
        <p:spPr>
          <a:xfrm>
            <a:off x="566928" y="1261872"/>
            <a:ext cx="4160520" cy="1874519"/>
          </a:xfrm>
          <a:prstGeom prst="rect">
            <a:avLst/>
          </a:prstGeom>
          <a:solidFill>
            <a:srgbClr val="E7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261872"/>
            <a:ext cx="50292" cy="1874519"/>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444751"/>
            <a:ext cx="3657600" cy="1554480"/>
          </a:xfrm>
          <a:prstGeom prst="rect">
            <a:avLst/>
          </a:prstGeom>
          <a:noFill/>
        </p:spPr>
        <p:txBody>
          <a:bodyPr wrap="square" lIns="0" tIns="0" rIns="0" bIns="0" anchor="t">
            <a:spAutoFit/>
          </a:bodyPr>
          <a:lstStyle/>
          <a:p>
            <a:pPr algn="l">
              <a:lnSpc>
                <a:spcPct val="115000"/>
              </a:lnSpc>
              <a:spcBef>
                <a:spcPts val="0"/>
              </a:spcBef>
              <a:spcAft>
                <a:spcPts val="900"/>
              </a:spcAft>
            </a:pPr>
            <a:r>
              <a:rPr sz="1350" b="1" i="0">
                <a:solidFill>
                  <a:srgbClr val="1F3864"/>
                </a:solidFill>
                <a:latin typeface="Calibri"/>
              </a:rPr>
              <a:t>Rician noise augmentation</a:t>
            </a:r>
          </a:p>
          <a:p>
            <a:pPr algn="l">
              <a:lnSpc>
                <a:spcPct val="115000"/>
              </a:lnSpc>
              <a:spcBef>
                <a:spcPts val="0"/>
              </a:spcBef>
              <a:spcAft>
                <a:spcPts val="1000"/>
              </a:spcAft>
            </a:pPr>
            <a:r>
              <a:rPr sz="1500" b="0" i="0">
                <a:solidFill>
                  <a:srgbClr val="1F3864"/>
                </a:solidFill>
                <a:latin typeface="Cambria Math"/>
              </a:rPr>
              <a:t>x = √( (s + ε</a:t>
            </a:r>
            <a:r>
              <a:rPr sz="1100" b="0" i="0">
                <a:solidFill>
                  <a:srgbClr val="1F3864"/>
                </a:solidFill>
                <a:latin typeface="Cambria Math"/>
              </a:rPr>
              <a:t>r</a:t>
            </a:r>
            <a:r>
              <a:rPr sz="1500" b="0" i="0">
                <a:solidFill>
                  <a:srgbClr val="1F3864"/>
                </a:solidFill>
                <a:latin typeface="Cambria Math"/>
              </a:rPr>
              <a:t>)² + ε</a:t>
            </a:r>
            <a:r>
              <a:rPr sz="1100" b="0" i="0">
                <a:solidFill>
                  <a:srgbClr val="1F3864"/>
                </a:solidFill>
                <a:latin typeface="Cambria Math"/>
              </a:rPr>
              <a:t>i</a:t>
            </a:r>
            <a:r>
              <a:rPr sz="1500" b="0" i="0">
                <a:solidFill>
                  <a:srgbClr val="1F3864"/>
                </a:solidFill>
                <a:latin typeface="Cambria Math"/>
              </a:rPr>
              <a:t>² ),     ε</a:t>
            </a:r>
            <a:r>
              <a:rPr sz="1100" b="0" i="0">
                <a:solidFill>
                  <a:srgbClr val="1F3864"/>
                </a:solidFill>
                <a:latin typeface="Cambria Math"/>
              </a:rPr>
              <a:t>r</a:t>
            </a:r>
            <a:r>
              <a:rPr sz="1500" b="0" i="0">
                <a:solidFill>
                  <a:srgbClr val="1F3864"/>
                </a:solidFill>
                <a:latin typeface="Cambria Math"/>
              </a:rPr>
              <a:t>, ε</a:t>
            </a:r>
            <a:r>
              <a:rPr sz="1100" b="0" i="0">
                <a:solidFill>
                  <a:srgbClr val="1F3864"/>
                </a:solidFill>
                <a:latin typeface="Cambria Math"/>
              </a:rPr>
              <a:t>i</a:t>
            </a:r>
            <a:r>
              <a:rPr sz="1500" b="0" i="0">
                <a:solidFill>
                  <a:srgbClr val="1F3864"/>
                </a:solidFill>
                <a:latin typeface="Cambria Math"/>
              </a:rPr>
              <a:t> ∼ 𝒩(0, σ²)</a:t>
            </a:r>
          </a:p>
          <a:p>
            <a:pPr>
              <a:lnSpc>
                <a:spcPct val="118000"/>
              </a:lnSpc>
              <a:spcBef>
                <a:spcPts val="0"/>
              </a:spcBef>
              <a:spcAft>
                <a:spcPts val="500"/>
              </a:spcAft>
            </a:pPr>
            <a:r>
              <a:rPr sz="1100" b="0" i="0">
                <a:solidFill>
                  <a:srgbClr val="2E75B6"/>
                </a:solidFill>
                <a:latin typeface="Calibri"/>
              </a:rPr>
              <a:t>– </a:t>
            </a:r>
            <a:r>
              <a:rPr sz="1100" b="0" i="0">
                <a:solidFill>
                  <a:srgbClr val="2E2E2E"/>
                </a:solidFill>
                <a:latin typeface="Calibri"/>
              </a:rPr>
              <a:t>Signals divided by S₀ before noise, multiplied back after</a:t>
            </a:r>
          </a:p>
          <a:p>
            <a:pPr>
              <a:lnSpc>
                <a:spcPct val="118000"/>
              </a:lnSpc>
              <a:spcBef>
                <a:spcPts val="0"/>
              </a:spcBef>
              <a:spcAft>
                <a:spcPts val="500"/>
              </a:spcAft>
            </a:pPr>
            <a:r>
              <a:rPr sz="1100" b="0" i="0">
                <a:solidFill>
                  <a:srgbClr val="2E75B6"/>
                </a:solidFill>
                <a:latin typeface="Calibri"/>
              </a:rPr>
              <a:t>– </a:t>
            </a:r>
            <a:r>
              <a:rPr sz="1100" b="1" i="0">
                <a:solidFill>
                  <a:srgbClr val="1F3864"/>
                </a:solidFill>
                <a:latin typeface="Calibri"/>
              </a:rPr>
              <a:t>Training: </a:t>
            </a:r>
            <a:r>
              <a:rPr sz="1100" b="0" i="0">
                <a:solidFill>
                  <a:srgbClr val="2E2E2E"/>
                </a:solidFill>
                <a:latin typeface="Calibri"/>
              </a:rPr>
              <a:t>σ ∼ Uniform(0.01, 0.08) drawn per voxel</a:t>
            </a:r>
          </a:p>
          <a:p>
            <a:pPr>
              <a:lnSpc>
                <a:spcPct val="118000"/>
              </a:lnSpc>
              <a:spcBef>
                <a:spcPts val="0"/>
              </a:spcBef>
              <a:spcAft>
                <a:spcPts val="500"/>
              </a:spcAft>
            </a:pPr>
            <a:r>
              <a:rPr sz="1100" b="0" i="0">
                <a:solidFill>
                  <a:srgbClr val="2E75B6"/>
                </a:solidFill>
                <a:latin typeface="Calibri"/>
              </a:rPr>
              <a:t>– </a:t>
            </a:r>
            <a:r>
              <a:rPr sz="1100" b="1" i="0">
                <a:solidFill>
                  <a:srgbClr val="1F3864"/>
                </a:solidFill>
                <a:latin typeface="Calibri"/>
              </a:rPr>
              <a:t>Evaluation: </a:t>
            </a:r>
            <a:r>
              <a:rPr sz="1100" b="0" i="0">
                <a:solidFill>
                  <a:srgbClr val="2E2E2E"/>
                </a:solidFill>
                <a:latin typeface="Calibri"/>
              </a:rPr>
              <a:t>fixed σ for controlled SNR comparison</a:t>
            </a:r>
          </a:p>
        </p:txBody>
      </p:sp>
      <p:sp>
        <p:nvSpPr>
          <p:cNvPr id="9" name="Rectangle 8"/>
          <p:cNvSpPr/>
          <p:nvPr/>
        </p:nvSpPr>
        <p:spPr>
          <a:xfrm>
            <a:off x="4937760" y="1261872"/>
            <a:ext cx="6687007" cy="1874519"/>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937760" y="1261872"/>
            <a:ext cx="50292" cy="1874519"/>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0" y="1444751"/>
            <a:ext cx="6120079" cy="1554480"/>
          </a:xfrm>
          <a:prstGeom prst="rect">
            <a:avLst/>
          </a:prstGeom>
          <a:noFill/>
        </p:spPr>
        <p:txBody>
          <a:bodyPr wrap="square" lIns="0" tIns="0" rIns="0" bIns="0" anchor="t">
            <a:spAutoFit/>
          </a:bodyPr>
          <a:lstStyle/>
          <a:p>
            <a:pPr algn="l">
              <a:lnSpc>
                <a:spcPct val="115000"/>
              </a:lnSpc>
              <a:spcBef>
                <a:spcPts val="0"/>
              </a:spcBef>
              <a:spcAft>
                <a:spcPts val="800"/>
              </a:spcAft>
            </a:pPr>
            <a:r>
              <a:rPr sz="1350" b="1" i="0">
                <a:solidFill>
                  <a:srgbClr val="1F3864"/>
                </a:solidFill>
                <a:latin typeface="Calibri"/>
              </a:rPr>
              <a:t>Why Rician rather than Gaussian</a:t>
            </a:r>
          </a:p>
          <a:p>
            <a:pPr algn="l">
              <a:lnSpc>
                <a:spcPct val="125000"/>
              </a:lnSpc>
              <a:spcBef>
                <a:spcPts val="0"/>
              </a:spcBef>
              <a:spcAft>
                <a:spcPts val="0"/>
              </a:spcAft>
            </a:pPr>
            <a:r>
              <a:rPr sz="1150" b="0" i="0">
                <a:solidFill>
                  <a:srgbClr val="6E6E6E"/>
                </a:solidFill>
                <a:latin typeface="Calibri"/>
              </a:rPr>
              <a:t>Magnitude MRI is formed from real and imaginary Gaussian components, so the magnitude distribution is not Gaussian at low signal levels (Gudbjartsson &amp; Patz, 1995). The high-b, long-TE corner of the acquisition grid is exactly where signal is smallest — precisely where a Gaussian noise assumption would misstate the likelihood and bias the fit.</a:t>
            </a:r>
          </a:p>
        </p:txBody>
      </p:sp>
      <p:sp>
        <p:nvSpPr>
          <p:cNvPr id="12" name="TextBox 11"/>
          <p:cNvSpPr txBox="1"/>
          <p:nvPr/>
        </p:nvSpPr>
        <p:spPr>
          <a:xfrm>
            <a:off x="566928" y="3410712"/>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350" b="1" i="0">
                <a:solidFill>
                  <a:srgbClr val="1F3864"/>
                </a:solidFill>
                <a:latin typeface="Calibri"/>
              </a:rPr>
              <a:t>Pipeline — generation to evaluation</a:t>
            </a:r>
          </a:p>
        </p:txBody>
      </p:sp>
      <p:sp>
        <p:nvSpPr>
          <p:cNvPr id="13" name="Rounded Rectangle 12"/>
          <p:cNvSpPr/>
          <p:nvPr/>
        </p:nvSpPr>
        <p:spPr>
          <a:xfrm>
            <a:off x="566928" y="3776472"/>
            <a:ext cx="2006742" cy="914400"/>
          </a:xfrm>
          <a:prstGeom prst="roundRect">
            <a:avLst>
              <a:gd name="adj" fmla="val 12000"/>
            </a:avLst>
          </a:prstGeom>
          <a:solidFill>
            <a:srgbClr val="E7EFF9"/>
          </a:solidFill>
          <a:ln w="11430">
            <a:solidFill>
              <a:srgbClr val="C3D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 y="3867911"/>
            <a:ext cx="1842150" cy="731520"/>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3864"/>
                </a:solidFill>
                <a:latin typeface="Calibri"/>
              </a:rPr>
              <a:t>1  PRIORS</a:t>
            </a:r>
          </a:p>
          <a:p>
            <a:pPr algn="l">
              <a:lnSpc>
                <a:spcPct val="105000"/>
              </a:lnSpc>
              <a:spcBef>
                <a:spcPts val="0"/>
              </a:spcBef>
              <a:spcAft>
                <a:spcPts val="150"/>
              </a:spcAft>
            </a:pPr>
            <a:r>
              <a:rPr sz="900" b="0" i="0">
                <a:solidFill>
                  <a:srgbClr val="2E2E2E"/>
                </a:solidFill>
                <a:latin typeface="Calibri"/>
              </a:rPr>
              <a:t>Physiological</a:t>
            </a:r>
          </a:p>
          <a:p>
            <a:pPr algn="l">
              <a:lnSpc>
                <a:spcPct val="105000"/>
              </a:lnSpc>
              <a:spcBef>
                <a:spcPts val="0"/>
              </a:spcBef>
              <a:spcAft>
                <a:spcPts val="150"/>
              </a:spcAft>
            </a:pPr>
            <a:r>
              <a:rPr sz="900" b="0" i="0">
                <a:solidFill>
                  <a:srgbClr val="2E2E2E"/>
                </a:solidFill>
                <a:latin typeface="Calibri"/>
              </a:rPr>
              <a:t>ranges per</a:t>
            </a:r>
          </a:p>
          <a:p>
            <a:pPr algn="l">
              <a:lnSpc>
                <a:spcPct val="105000"/>
              </a:lnSpc>
              <a:spcBef>
                <a:spcPts val="0"/>
              </a:spcBef>
              <a:spcAft>
                <a:spcPts val="150"/>
              </a:spcAft>
            </a:pPr>
            <a:r>
              <a:rPr sz="900" b="0" i="0">
                <a:solidFill>
                  <a:srgbClr val="2E2E2E"/>
                </a:solidFill>
                <a:latin typeface="Calibri"/>
              </a:rPr>
              <a:t>compartment</a:t>
            </a:r>
          </a:p>
        </p:txBody>
      </p:sp>
      <p:sp>
        <p:nvSpPr>
          <p:cNvPr id="15" name="Isosceles Triangle 14"/>
          <p:cNvSpPr/>
          <p:nvPr/>
        </p:nvSpPr>
        <p:spPr>
          <a:xfrm rot="5400000">
            <a:off x="2614818" y="4142232"/>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829702" y="3776472"/>
            <a:ext cx="2006742" cy="914400"/>
          </a:xfrm>
          <a:prstGeom prst="roundRect">
            <a:avLst>
              <a:gd name="adj" fmla="val 12000"/>
            </a:avLst>
          </a:prstGeom>
          <a:solidFill>
            <a:srgbClr val="E7EFF9"/>
          </a:solidFill>
          <a:ln w="11430">
            <a:solidFill>
              <a:srgbClr val="C3D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11998" y="3867911"/>
            <a:ext cx="1842150" cy="731520"/>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3864"/>
                </a:solidFill>
                <a:latin typeface="Calibri"/>
              </a:rPr>
              <a:t>2  GENERATOR</a:t>
            </a:r>
          </a:p>
          <a:p>
            <a:pPr algn="l">
              <a:lnSpc>
                <a:spcPct val="105000"/>
              </a:lnSpc>
              <a:spcBef>
                <a:spcPts val="0"/>
              </a:spcBef>
              <a:spcAft>
                <a:spcPts val="150"/>
              </a:spcAft>
            </a:pPr>
            <a:r>
              <a:rPr sz="900" b="0" i="0">
                <a:solidFill>
                  <a:srgbClr val="2E2E2E"/>
                </a:solidFill>
                <a:latin typeface="Calibri"/>
              </a:rPr>
              <a:t>Patient-level then</a:t>
            </a:r>
          </a:p>
          <a:p>
            <a:pPr algn="l">
              <a:lnSpc>
                <a:spcPct val="105000"/>
              </a:lnSpc>
              <a:spcBef>
                <a:spcPts val="0"/>
              </a:spcBef>
              <a:spcAft>
                <a:spcPts val="150"/>
              </a:spcAft>
            </a:pPr>
            <a:r>
              <a:rPr sz="900" b="0" i="0">
                <a:solidFill>
                  <a:srgbClr val="2E2E2E"/>
                </a:solidFill>
                <a:latin typeface="Calibri"/>
              </a:rPr>
              <a:t>voxel-level</a:t>
            </a:r>
          </a:p>
          <a:p>
            <a:pPr algn="l">
              <a:lnSpc>
                <a:spcPct val="105000"/>
              </a:lnSpc>
              <a:spcBef>
                <a:spcPts val="0"/>
              </a:spcBef>
              <a:spcAft>
                <a:spcPts val="150"/>
              </a:spcAft>
            </a:pPr>
            <a:r>
              <a:rPr sz="900" b="0" i="0">
                <a:solidFill>
                  <a:srgbClr val="2E2E2E"/>
                </a:solidFill>
                <a:latin typeface="Calibri"/>
              </a:rPr>
              <a:t>sampling</a:t>
            </a:r>
          </a:p>
        </p:txBody>
      </p:sp>
      <p:sp>
        <p:nvSpPr>
          <p:cNvPr id="18" name="Isosceles Triangle 17"/>
          <p:cNvSpPr/>
          <p:nvPr/>
        </p:nvSpPr>
        <p:spPr>
          <a:xfrm rot="5400000">
            <a:off x="4877592" y="4142232"/>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92476" y="3776472"/>
            <a:ext cx="2006742" cy="914400"/>
          </a:xfrm>
          <a:prstGeom prst="roundRect">
            <a:avLst>
              <a:gd name="adj" fmla="val 12000"/>
            </a:avLst>
          </a:prstGeom>
          <a:solidFill>
            <a:srgbClr val="E7EFF9"/>
          </a:solidFill>
          <a:ln w="11430">
            <a:solidFill>
              <a:srgbClr val="C3D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74772" y="3867911"/>
            <a:ext cx="1842150" cy="731520"/>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3864"/>
                </a:solidFill>
                <a:latin typeface="Calibri"/>
              </a:rPr>
              <a:t>3  FORWARD MODEL</a:t>
            </a:r>
          </a:p>
          <a:p>
            <a:pPr algn="l">
              <a:lnSpc>
                <a:spcPct val="105000"/>
              </a:lnSpc>
              <a:spcBef>
                <a:spcPts val="0"/>
              </a:spcBef>
              <a:spcAft>
                <a:spcPts val="150"/>
              </a:spcAft>
            </a:pPr>
            <a:r>
              <a:rPr sz="900" b="0" i="0">
                <a:solidFill>
                  <a:srgbClr val="2E2E2E"/>
                </a:solidFill>
                <a:latin typeface="Calibri"/>
              </a:rPr>
              <a:t>Eq. (1) on the</a:t>
            </a:r>
          </a:p>
          <a:p>
            <a:pPr algn="l">
              <a:lnSpc>
                <a:spcPct val="105000"/>
              </a:lnSpc>
              <a:spcBef>
                <a:spcPts val="0"/>
              </a:spcBef>
              <a:spcAft>
                <a:spcPts val="150"/>
              </a:spcAft>
            </a:pPr>
            <a:r>
              <a:rPr sz="900" b="0" i="0">
                <a:solidFill>
                  <a:srgbClr val="2E2E2E"/>
                </a:solidFill>
                <a:latin typeface="Calibri"/>
              </a:rPr>
              <a:t>4 × 4 grid</a:t>
            </a:r>
          </a:p>
          <a:p>
            <a:pPr algn="l">
              <a:lnSpc>
                <a:spcPct val="105000"/>
              </a:lnSpc>
              <a:spcBef>
                <a:spcPts val="0"/>
              </a:spcBef>
              <a:spcAft>
                <a:spcPts val="150"/>
              </a:spcAft>
            </a:pPr>
            <a:r>
              <a:rPr sz="900" b="0" i="0">
                <a:solidFill>
                  <a:srgbClr val="2E2E2E"/>
                </a:solidFill>
                <a:latin typeface="Calibri"/>
              </a:rPr>
              <a:t>→ s ∈ ℝ¹⁶</a:t>
            </a:r>
          </a:p>
        </p:txBody>
      </p:sp>
      <p:sp>
        <p:nvSpPr>
          <p:cNvPr id="21" name="Isosceles Triangle 20"/>
          <p:cNvSpPr/>
          <p:nvPr/>
        </p:nvSpPr>
        <p:spPr>
          <a:xfrm rot="5400000">
            <a:off x="7140366" y="4142232"/>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55250" y="3776472"/>
            <a:ext cx="2006742" cy="914400"/>
          </a:xfrm>
          <a:prstGeom prst="roundRect">
            <a:avLst>
              <a:gd name="adj" fmla="val 12000"/>
            </a:avLst>
          </a:prstGeom>
          <a:solidFill>
            <a:srgbClr val="E7EFF9"/>
          </a:solidFill>
          <a:ln w="11430">
            <a:solidFill>
              <a:srgbClr val="C3D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37546" y="3867911"/>
            <a:ext cx="1842150" cy="731520"/>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3864"/>
                </a:solidFill>
                <a:latin typeface="Calibri"/>
              </a:rPr>
              <a:t>4  RICIAN NOISE</a:t>
            </a:r>
          </a:p>
          <a:p>
            <a:pPr algn="l">
              <a:lnSpc>
                <a:spcPct val="105000"/>
              </a:lnSpc>
              <a:spcBef>
                <a:spcPts val="0"/>
              </a:spcBef>
              <a:spcAft>
                <a:spcPts val="150"/>
              </a:spcAft>
            </a:pPr>
            <a:r>
              <a:rPr sz="900" b="0" i="0">
                <a:solidFill>
                  <a:srgbClr val="2E2E2E"/>
                </a:solidFill>
                <a:latin typeface="Calibri"/>
              </a:rPr>
              <a:t>σ ∈ {0.01, 0.03,</a:t>
            </a:r>
          </a:p>
          <a:p>
            <a:pPr algn="l">
              <a:lnSpc>
                <a:spcPct val="105000"/>
              </a:lnSpc>
              <a:spcBef>
                <a:spcPts val="0"/>
              </a:spcBef>
              <a:spcAft>
                <a:spcPts val="150"/>
              </a:spcAft>
            </a:pPr>
            <a:r>
              <a:rPr sz="900" b="0" i="0">
                <a:solidFill>
                  <a:srgbClr val="2E2E2E"/>
                </a:solidFill>
                <a:latin typeface="Calibri"/>
              </a:rPr>
              <a:t>0.05, 0.08} at</a:t>
            </a:r>
          </a:p>
          <a:p>
            <a:pPr algn="l">
              <a:lnSpc>
                <a:spcPct val="105000"/>
              </a:lnSpc>
              <a:spcBef>
                <a:spcPts val="0"/>
              </a:spcBef>
              <a:spcAft>
                <a:spcPts val="150"/>
              </a:spcAft>
            </a:pPr>
            <a:r>
              <a:rPr sz="900" b="0" i="0">
                <a:solidFill>
                  <a:srgbClr val="2E2E2E"/>
                </a:solidFill>
                <a:latin typeface="Calibri"/>
              </a:rPr>
              <a:t>evaluation</a:t>
            </a:r>
          </a:p>
        </p:txBody>
      </p:sp>
      <p:sp>
        <p:nvSpPr>
          <p:cNvPr id="24" name="Isosceles Triangle 23"/>
          <p:cNvSpPr/>
          <p:nvPr/>
        </p:nvSpPr>
        <p:spPr>
          <a:xfrm rot="5400000">
            <a:off x="9403140" y="4142232"/>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618024" y="3776472"/>
            <a:ext cx="2006742" cy="914400"/>
          </a:xfrm>
          <a:prstGeom prst="roundRect">
            <a:avLst>
              <a:gd name="adj" fmla="val 12000"/>
            </a:avLst>
          </a:prstGeom>
          <a:solidFill>
            <a:srgbClr val="E7EFF9"/>
          </a:solidFill>
          <a:ln w="11430">
            <a:solidFill>
              <a:srgbClr val="C3D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00320" y="3867911"/>
            <a:ext cx="1842150" cy="731520"/>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3864"/>
                </a:solidFill>
                <a:latin typeface="Calibri"/>
              </a:rPr>
              <a:t>5  DATASETS</a:t>
            </a:r>
          </a:p>
          <a:p>
            <a:pPr algn="l">
              <a:lnSpc>
                <a:spcPct val="105000"/>
              </a:lnSpc>
              <a:spcBef>
                <a:spcPts val="0"/>
              </a:spcBef>
              <a:spcAft>
                <a:spcPts val="150"/>
              </a:spcAft>
            </a:pPr>
            <a:r>
              <a:rPr sz="900" b="0" i="0">
                <a:solidFill>
                  <a:srgbClr val="2E2E2E"/>
                </a:solidFill>
                <a:latin typeface="Calibri"/>
              </a:rPr>
              <a:t>122,880 train</a:t>
            </a:r>
          </a:p>
          <a:p>
            <a:pPr algn="l">
              <a:lnSpc>
                <a:spcPct val="105000"/>
              </a:lnSpc>
              <a:spcBef>
                <a:spcPts val="0"/>
              </a:spcBef>
              <a:spcAft>
                <a:spcPts val="150"/>
              </a:spcAft>
            </a:pPr>
            <a:r>
              <a:rPr sz="900" b="0" i="0">
                <a:solidFill>
                  <a:srgbClr val="2E2E2E"/>
                </a:solidFill>
                <a:latin typeface="Calibri"/>
              </a:rPr>
              <a:t>240 held-out</a:t>
            </a:r>
          </a:p>
          <a:p>
            <a:pPr algn="l">
              <a:lnSpc>
                <a:spcPct val="105000"/>
              </a:lnSpc>
              <a:spcBef>
                <a:spcPts val="0"/>
              </a:spcBef>
              <a:spcAft>
                <a:spcPts val="150"/>
              </a:spcAft>
            </a:pPr>
            <a:r>
              <a:rPr sz="900" b="0" i="0">
                <a:solidFill>
                  <a:srgbClr val="2E2E2E"/>
                </a:solidFill>
                <a:latin typeface="Calibri"/>
              </a:rPr>
              <a:t>test voxels</a:t>
            </a:r>
          </a:p>
        </p:txBody>
      </p:sp>
      <p:sp>
        <p:nvSpPr>
          <p:cNvPr id="27" name="Rounded Rectangle 26"/>
          <p:cNvSpPr/>
          <p:nvPr/>
        </p:nvSpPr>
        <p:spPr>
          <a:xfrm>
            <a:off x="566928" y="4892040"/>
            <a:ext cx="3515258" cy="749808"/>
          </a:xfrm>
          <a:prstGeom prst="roundRect">
            <a:avLst>
              <a:gd name="adj" fmla="val 12000"/>
            </a:avLst>
          </a:prstGeom>
          <a:solidFill>
            <a:srgbClr val="E3F1EF"/>
          </a:solidFill>
          <a:ln w="11430">
            <a:solidFill>
              <a:srgbClr val="BF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 y="4983479"/>
            <a:ext cx="3350666" cy="566927"/>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7A72"/>
                </a:solidFill>
                <a:latin typeface="Calibri"/>
              </a:rPr>
              <a:t>6  ESTIMATION</a:t>
            </a:r>
          </a:p>
          <a:p>
            <a:pPr algn="l">
              <a:lnSpc>
                <a:spcPct val="105000"/>
              </a:lnSpc>
              <a:spcBef>
                <a:spcPts val="0"/>
              </a:spcBef>
              <a:spcAft>
                <a:spcPts val="150"/>
              </a:spcAft>
            </a:pPr>
            <a:r>
              <a:rPr sz="900" b="0" i="0">
                <a:solidFill>
                  <a:srgbClr val="2E2E2E"/>
                </a:solidFill>
                <a:latin typeface="Calibri"/>
              </a:rPr>
              <a:t>NLLS · PIA · diagonal PIVA · full-covariance ILR PIVA</a:t>
            </a:r>
          </a:p>
        </p:txBody>
      </p:sp>
      <p:sp>
        <p:nvSpPr>
          <p:cNvPr id="29" name="Isosceles Triangle 28"/>
          <p:cNvSpPr/>
          <p:nvPr/>
        </p:nvSpPr>
        <p:spPr>
          <a:xfrm rot="5400000">
            <a:off x="4123334" y="5175503"/>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338218" y="4892040"/>
            <a:ext cx="3515258" cy="749808"/>
          </a:xfrm>
          <a:prstGeom prst="roundRect">
            <a:avLst>
              <a:gd name="adj" fmla="val 12000"/>
            </a:avLst>
          </a:prstGeom>
          <a:solidFill>
            <a:srgbClr val="E3F1EF"/>
          </a:solidFill>
          <a:ln w="11430">
            <a:solidFill>
              <a:srgbClr val="BF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20514" y="4983479"/>
            <a:ext cx="3350666" cy="566927"/>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7A72"/>
                </a:solidFill>
                <a:latin typeface="Calibri"/>
              </a:rPr>
              <a:t>7  POSTERIOR SAMPLING</a:t>
            </a:r>
          </a:p>
          <a:p>
            <a:pPr algn="l">
              <a:lnSpc>
                <a:spcPct val="105000"/>
              </a:lnSpc>
              <a:spcBef>
                <a:spcPts val="0"/>
              </a:spcBef>
              <a:spcAft>
                <a:spcPts val="150"/>
              </a:spcAft>
            </a:pPr>
            <a:r>
              <a:rPr sz="900" b="0" i="0">
                <a:solidFill>
                  <a:srgbClr val="2E2E2E"/>
                </a:solidFill>
                <a:latin typeface="Calibri"/>
              </a:rPr>
              <a:t>25 MC samples (Tier 1) · 300 MC samples (Tier 2)</a:t>
            </a:r>
          </a:p>
        </p:txBody>
      </p:sp>
      <p:sp>
        <p:nvSpPr>
          <p:cNvPr id="32" name="Isosceles Triangle 31"/>
          <p:cNvSpPr/>
          <p:nvPr/>
        </p:nvSpPr>
        <p:spPr>
          <a:xfrm rot="5400000">
            <a:off x="7894624" y="5175503"/>
            <a:ext cx="182880" cy="182880"/>
          </a:xfrm>
          <a:prstGeom prst="triangle">
            <a:avLst/>
          </a:prstGeom>
          <a:solidFill>
            <a:srgbClr val="B6C2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109508" y="4892040"/>
            <a:ext cx="3515258" cy="749808"/>
          </a:xfrm>
          <a:prstGeom prst="roundRect">
            <a:avLst>
              <a:gd name="adj" fmla="val 12000"/>
            </a:avLst>
          </a:prstGeom>
          <a:solidFill>
            <a:srgbClr val="E3F1EF"/>
          </a:solidFill>
          <a:ln w="11430">
            <a:solidFill>
              <a:srgbClr val="BF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91804" y="4983479"/>
            <a:ext cx="3350666" cy="566927"/>
          </a:xfrm>
          <a:prstGeom prst="rect">
            <a:avLst/>
          </a:prstGeom>
          <a:noFill/>
        </p:spPr>
        <p:txBody>
          <a:bodyPr wrap="square" lIns="0" tIns="0" rIns="0" bIns="0" anchor="t">
            <a:spAutoFit/>
          </a:bodyPr>
          <a:lstStyle/>
          <a:p>
            <a:pPr algn="l">
              <a:lnSpc>
                <a:spcPct val="100000"/>
              </a:lnSpc>
              <a:spcBef>
                <a:spcPts val="0"/>
              </a:spcBef>
              <a:spcAft>
                <a:spcPts val="300"/>
              </a:spcAft>
            </a:pPr>
            <a:r>
              <a:rPr sz="1050" b="1" i="0">
                <a:solidFill>
                  <a:srgbClr val="1F7A72"/>
                </a:solidFill>
                <a:latin typeface="Calibri"/>
              </a:rPr>
              <a:t>8  EVALUATION</a:t>
            </a:r>
          </a:p>
          <a:p>
            <a:pPr algn="l">
              <a:lnSpc>
                <a:spcPct val="105000"/>
              </a:lnSpc>
              <a:spcBef>
                <a:spcPts val="0"/>
              </a:spcBef>
              <a:spcAft>
                <a:spcPts val="150"/>
              </a:spcAft>
            </a:pPr>
            <a:r>
              <a:rPr sz="900" b="0" i="0">
                <a:solidFill>
                  <a:srgbClr val="2E2E2E"/>
                </a:solidFill>
                <a:latin typeface="Calibri"/>
              </a:rPr>
              <a:t>MAE, R², r · coverage · paired bootstrap · conformal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2788920"/>
            <a:ext cx="8686800" cy="1280160"/>
          </a:xfrm>
          <a:prstGeom prst="rect">
            <a:avLst/>
          </a:prstGeom>
          <a:noFill/>
        </p:spPr>
        <p:txBody>
          <a:bodyPr wrap="square" lIns="0" tIns="0" rIns="0" bIns="0" anchor="t">
            <a:spAutoFit/>
          </a:bodyPr>
          <a:lstStyle/>
          <a:p>
            <a:pPr algn="l">
              <a:lnSpc>
                <a:spcPct val="115000"/>
              </a:lnSpc>
              <a:spcBef>
                <a:spcPts val="0"/>
              </a:spcBef>
              <a:spcAft>
                <a:spcPts val="1000"/>
              </a:spcAft>
            </a:pPr>
            <a:r>
              <a:rPr sz="1300" b="1" i="0">
                <a:solidFill>
                  <a:srgbClr val="2E75B6"/>
                </a:solidFill>
                <a:latin typeface="Calibri"/>
              </a:rPr>
              <a:t>02</a:t>
            </a:r>
          </a:p>
          <a:p>
            <a:pPr algn="l">
              <a:lnSpc>
                <a:spcPct val="115000"/>
              </a:lnSpc>
              <a:spcBef>
                <a:spcPts val="0"/>
              </a:spcBef>
              <a:spcAft>
                <a:spcPts val="800"/>
              </a:spcAft>
            </a:pPr>
            <a:r>
              <a:rPr sz="3400" b="0" i="0">
                <a:solidFill>
                  <a:srgbClr val="FFFFFF"/>
                </a:solidFill>
                <a:latin typeface="Calibri Light"/>
              </a:rPr>
              <a:t>Estimators</a:t>
            </a:r>
          </a:p>
          <a:p>
            <a:pPr algn="l">
              <a:lnSpc>
                <a:spcPct val="115000"/>
              </a:lnSpc>
              <a:spcBef>
                <a:spcPts val="0"/>
              </a:spcBef>
              <a:spcAft>
                <a:spcPts val="0"/>
              </a:spcAft>
            </a:pPr>
            <a:r>
              <a:rPr sz="1400" b="0" i="0">
                <a:solidFill>
                  <a:srgbClr val="9FB8D6"/>
                </a:solidFill>
                <a:latin typeface="Calibri"/>
              </a:rPr>
              <a:t>One baseline, one deterministic inverse map, two variational posteriors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Estimators at a Glance</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All four consume the same 16-channel input and are scored on the same held-out cohort.</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7</a:t>
            </a:r>
          </a:p>
        </p:txBody>
      </p:sp>
      <p:graphicFrame>
        <p:nvGraphicFramePr>
          <p:cNvPr id="7" name="Table 6"/>
          <p:cNvGraphicFramePr>
            <a:graphicFrameLocks noGrp="1"/>
          </p:cNvGraphicFramePr>
          <p:nvPr/>
        </p:nvGraphicFramePr>
        <p:xfrm>
          <a:off x="566928" y="1481328"/>
          <a:ext cx="11055096" cy="3694176"/>
        </p:xfrm>
        <a:graphic>
          <a:graphicData uri="http://schemas.openxmlformats.org/drawingml/2006/table">
            <a:tbl>
              <a:tblPr firstRow="1">
                <a:tableStyleId>{5C22544A-7EE6-4342-B048-85BDC9FD1C3A}</a:tableStyleId>
              </a:tblPr>
              <a:tblGrid>
                <a:gridCol w="1051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32304">
                  <a:extLst>
                    <a:ext uri="{9D8B030D-6E8A-4147-A177-3AD203B41FA5}">
                      <a16:colId xmlns:a16="http://schemas.microsoft.com/office/drawing/2014/main" val="20003"/>
                    </a:ext>
                  </a:extLst>
                </a:gridCol>
                <a:gridCol w="2816352">
                  <a:extLst>
                    <a:ext uri="{9D8B030D-6E8A-4147-A177-3AD203B41FA5}">
                      <a16:colId xmlns:a16="http://schemas.microsoft.com/office/drawing/2014/main" val="20004"/>
                    </a:ext>
                  </a:extLst>
                </a:gridCol>
              </a:tblGrid>
              <a:tr h="365760">
                <a:tc>
                  <a:txBody>
                    <a:bodyPr/>
                    <a:lstStyle/>
                    <a:p>
                      <a:pPr algn="l">
                        <a:lnSpc>
                          <a:spcPct val="100000"/>
                        </a:lnSpc>
                        <a:spcAft>
                          <a:spcPts val="0"/>
                        </a:spcAft>
                      </a:pPr>
                      <a:endParaRPr/>
                    </a:p>
                  </a:txBody>
                  <a:tcPr marR="64008" marT="32004" marB="32004" anchor="ctr">
                    <a:solidFill>
                      <a:srgbClr val="1F3864"/>
                    </a:solidFill>
                  </a:tcPr>
                </a:tc>
                <a:tc>
                  <a:txBody>
                    <a:bodyPr/>
                    <a:lstStyle/>
                    <a:p>
                      <a:pPr algn="ctr">
                        <a:lnSpc>
                          <a:spcPct val="100000"/>
                        </a:lnSpc>
                        <a:spcAft>
                          <a:spcPts val="0"/>
                        </a:spcAft>
                      </a:pPr>
                      <a:r>
                        <a:rPr sz="1100" b="1" i="0">
                          <a:solidFill>
                            <a:srgbClr val="FFFFFF"/>
                          </a:solidFill>
                          <a:latin typeface="Calibri"/>
                        </a:rPr>
                        <a:t>NLLS  (baseline)</a:t>
                      </a:r>
                    </a:p>
                  </a:txBody>
                  <a:tcPr marR="64008" marT="32004" marB="32004" anchor="ctr">
                    <a:solidFill>
                      <a:srgbClr val="1F3864"/>
                    </a:solidFill>
                  </a:tcPr>
                </a:tc>
                <a:tc>
                  <a:txBody>
                    <a:bodyPr/>
                    <a:lstStyle/>
                    <a:p>
                      <a:pPr algn="ctr">
                        <a:lnSpc>
                          <a:spcPct val="100000"/>
                        </a:lnSpc>
                        <a:spcAft>
                          <a:spcPts val="0"/>
                        </a:spcAft>
                      </a:pPr>
                      <a:r>
                        <a:rPr sz="1100" b="1" i="0">
                          <a:solidFill>
                            <a:srgbClr val="FFFFFF"/>
                          </a:solidFill>
                          <a:latin typeface="Calibri"/>
                        </a:rPr>
                        <a:t>PIA  (deterministic)</a:t>
                      </a:r>
                    </a:p>
                  </a:txBody>
                  <a:tcPr marR="64008" marT="32004" marB="32004" anchor="ctr">
                    <a:solidFill>
                      <a:srgbClr val="1F3864"/>
                    </a:solidFill>
                  </a:tcPr>
                </a:tc>
                <a:tc>
                  <a:txBody>
                    <a:bodyPr/>
                    <a:lstStyle/>
                    <a:p>
                      <a:pPr algn="ctr">
                        <a:lnSpc>
                          <a:spcPct val="100000"/>
                        </a:lnSpc>
                        <a:spcAft>
                          <a:spcPts val="0"/>
                        </a:spcAft>
                      </a:pPr>
                      <a:r>
                        <a:rPr sz="1100" b="1" i="0">
                          <a:solidFill>
                            <a:srgbClr val="FFFFFF"/>
                          </a:solidFill>
                          <a:latin typeface="Calibri"/>
                        </a:rPr>
                        <a:t>Diagonal PIVA</a:t>
                      </a:r>
                    </a:p>
                  </a:txBody>
                  <a:tcPr marR="64008" marT="32004" marB="32004" anchor="ctr">
                    <a:solidFill>
                      <a:srgbClr val="1F3864"/>
                    </a:solidFill>
                  </a:tcPr>
                </a:tc>
                <a:tc>
                  <a:txBody>
                    <a:bodyPr/>
                    <a:lstStyle/>
                    <a:p>
                      <a:pPr algn="ctr">
                        <a:lnSpc>
                          <a:spcPct val="100000"/>
                        </a:lnSpc>
                        <a:spcAft>
                          <a:spcPts val="0"/>
                        </a:spcAft>
                      </a:pPr>
                      <a:r>
                        <a:rPr sz="1100" b="1" i="0">
                          <a:solidFill>
                            <a:srgbClr val="FFFFFF"/>
                          </a:solidFill>
                          <a:latin typeface="Calibri"/>
                        </a:rPr>
                        <a:t>Full-cov. ILR PIVA</a:t>
                      </a:r>
                    </a:p>
                  </a:txBody>
                  <a:tcPr marR="64008" marT="32004" marB="32004" anchor="ctr">
                    <a:solidFill>
                      <a:srgbClr val="1F7A72"/>
                    </a:solidFill>
                  </a:tcPr>
                </a:tc>
                <a:extLst>
                  <a:ext uri="{0D108BD9-81ED-4DB2-BD59-A6C34878D82A}">
                    <a16:rowId xmlns:a16="http://schemas.microsoft.com/office/drawing/2014/main" val="10000"/>
                  </a:ext>
                </a:extLst>
              </a:tr>
              <a:tr h="475488">
                <a:tc>
                  <a:txBody>
                    <a:bodyPr/>
                    <a:lstStyle/>
                    <a:p>
                      <a:pPr algn="l">
                        <a:lnSpc>
                          <a:spcPct val="100000"/>
                        </a:lnSpc>
                        <a:spcAft>
                          <a:spcPts val="0"/>
                        </a:spcAft>
                      </a:pPr>
                      <a:r>
                        <a:rPr sz="1100" b="1" i="0">
                          <a:solidFill>
                            <a:srgbClr val="2E2E2E"/>
                          </a:solidFill>
                          <a:latin typeface="Calibri"/>
                        </a:rPr>
                        <a:t>Output</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Point estimate</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Point estimate</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Diagonal Gaussian</a:t>
                      </a:r>
                    </a:p>
                    <a:p>
                      <a:pPr algn="ctr">
                        <a:lnSpc>
                          <a:spcPct val="100000"/>
                        </a:lnSpc>
                        <a:spcAft>
                          <a:spcPts val="0"/>
                        </a:spcAft>
                      </a:pPr>
                      <a:r>
                        <a:rPr sz="1100" b="0" i="0">
                          <a:solidFill>
                            <a:srgbClr val="2E2E2E"/>
                          </a:solidFill>
                          <a:latin typeface="Calibri"/>
                        </a:rPr>
                        <a:t>posterior</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Full Gaussian</a:t>
                      </a:r>
                    </a:p>
                    <a:p>
                      <a:pPr algn="ctr">
                        <a:lnSpc>
                          <a:spcPct val="100000"/>
                        </a:lnSpc>
                        <a:spcAft>
                          <a:spcPts val="0"/>
                        </a:spcAft>
                      </a:pPr>
                      <a:r>
                        <a:rPr sz="1100" b="0" i="0">
                          <a:solidFill>
                            <a:srgbClr val="2E2E2E"/>
                          </a:solidFill>
                          <a:latin typeface="Calibri"/>
                        </a:rPr>
                        <a:t>posterior</a:t>
                      </a:r>
                    </a:p>
                  </a:txBody>
                  <a:tcPr marR="64008" marT="32004" marB="32004" anchor="ctr">
                    <a:solidFill>
                      <a:srgbClr val="E3F1EF"/>
                    </a:solidFill>
                  </a:tcPr>
                </a:tc>
                <a:extLst>
                  <a:ext uri="{0D108BD9-81ED-4DB2-BD59-A6C34878D82A}">
                    <a16:rowId xmlns:a16="http://schemas.microsoft.com/office/drawing/2014/main" val="10001"/>
                  </a:ext>
                </a:extLst>
              </a:tr>
              <a:tr h="475488">
                <a:tc>
                  <a:txBody>
                    <a:bodyPr/>
                    <a:lstStyle/>
                    <a:p>
                      <a:pPr algn="l">
                        <a:lnSpc>
                          <a:spcPct val="100000"/>
                        </a:lnSpc>
                        <a:spcAft>
                          <a:spcPts val="0"/>
                        </a:spcAft>
                      </a:pPr>
                      <a:r>
                        <a:rPr sz="1100" b="1" i="0">
                          <a:solidFill>
                            <a:srgbClr val="2E2E2E"/>
                          </a:solidFill>
                          <a:latin typeface="Calibri"/>
                        </a:rPr>
                        <a:t>Inference</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Per-voxel</a:t>
                      </a:r>
                    </a:p>
                    <a:p>
                      <a:pPr algn="ctr">
                        <a:lnSpc>
                          <a:spcPct val="100000"/>
                        </a:lnSpc>
                        <a:spcAft>
                          <a:spcPts val="0"/>
                        </a:spcAft>
                      </a:pPr>
                      <a:r>
                        <a:rPr sz="1100" b="0" i="0">
                          <a:solidFill>
                            <a:srgbClr val="2E2E2E"/>
                          </a:solidFill>
                          <a:latin typeface="Calibri"/>
                        </a:rPr>
                        <a:t>optimization</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Amortized</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Amortized</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Amortized</a:t>
                      </a:r>
                    </a:p>
                  </a:txBody>
                  <a:tcPr marR="64008" marT="32004" marB="32004" anchor="ctr">
                    <a:solidFill>
                      <a:srgbClr val="E3F1EF"/>
                    </a:solidFill>
                  </a:tcPr>
                </a:tc>
                <a:extLst>
                  <a:ext uri="{0D108BD9-81ED-4DB2-BD59-A6C34878D82A}">
                    <a16:rowId xmlns:a16="http://schemas.microsoft.com/office/drawing/2014/main" val="10002"/>
                  </a:ext>
                </a:extLst>
              </a:tr>
              <a:tr h="475488">
                <a:tc>
                  <a:txBody>
                    <a:bodyPr/>
                    <a:lstStyle/>
                    <a:p>
                      <a:pPr algn="l">
                        <a:lnSpc>
                          <a:spcPct val="100000"/>
                        </a:lnSpc>
                        <a:spcAft>
                          <a:spcPts val="0"/>
                        </a:spcAft>
                      </a:pPr>
                      <a:r>
                        <a:rPr sz="1100" b="1" i="0">
                          <a:solidFill>
                            <a:srgbClr val="2E2E2E"/>
                          </a:solidFill>
                          <a:latin typeface="Calibri"/>
                        </a:rPr>
                        <a:t>Latent</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8 free params,</a:t>
                      </a:r>
                    </a:p>
                    <a:p>
                      <a:pPr algn="ctr">
                        <a:lnSpc>
                          <a:spcPct val="100000"/>
                        </a:lnSpc>
                        <a:spcAft>
                          <a:spcPts val="0"/>
                        </a:spcAft>
                      </a:pPr>
                      <a:r>
                        <a:rPr sz="1100" b="0" i="0">
                          <a:solidFill>
                            <a:srgbClr val="2E2E2E"/>
                          </a:solidFill>
                          <a:latin typeface="Calibri"/>
                        </a:rPr>
                        <a:t>v_lu = 1 − v_ep − v_st</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9 outputs,</a:t>
                      </a:r>
                    </a:p>
                    <a:p>
                      <a:pPr algn="ctr">
                        <a:lnSpc>
                          <a:spcPct val="100000"/>
                        </a:lnSpc>
                        <a:spcAft>
                          <a:spcPts val="0"/>
                        </a:spcAft>
                      </a:pPr>
                      <a:r>
                        <a:rPr sz="1100" b="0" i="0">
                          <a:solidFill>
                            <a:srgbClr val="2E2E2E"/>
                          </a:solidFill>
                          <a:latin typeface="Calibri"/>
                        </a:rPr>
                        <a:t>softmax fractions</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mbria Math"/>
                        </a:rPr>
                        <a:t>z ∈ ℝ⁹</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mbria Math"/>
                        </a:rPr>
                        <a:t>z ∈ ℝ⁸, ILR</a:t>
                      </a:r>
                    </a:p>
                  </a:txBody>
                  <a:tcPr marR="64008" marT="32004" marB="32004" anchor="ctr">
                    <a:solidFill>
                      <a:srgbClr val="E3F1EF"/>
                    </a:solidFill>
                  </a:tcPr>
                </a:tc>
                <a:extLst>
                  <a:ext uri="{0D108BD9-81ED-4DB2-BD59-A6C34878D82A}">
                    <a16:rowId xmlns:a16="http://schemas.microsoft.com/office/drawing/2014/main" val="10003"/>
                  </a:ext>
                </a:extLst>
              </a:tr>
              <a:tr h="475488">
                <a:tc>
                  <a:txBody>
                    <a:bodyPr/>
                    <a:lstStyle/>
                    <a:p>
                      <a:pPr algn="l">
                        <a:lnSpc>
                          <a:spcPct val="100000"/>
                        </a:lnSpc>
                        <a:spcAft>
                          <a:spcPts val="0"/>
                        </a:spcAft>
                      </a:pPr>
                      <a:r>
                        <a:rPr sz="1100" b="1" i="0">
                          <a:solidFill>
                            <a:srgbClr val="2E2E2E"/>
                          </a:solidFill>
                          <a:latin typeface="Calibri"/>
                        </a:rPr>
                        <a:t>Decoder</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Eq. (1)</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Eq. (1), no trainable</a:t>
                      </a:r>
                    </a:p>
                    <a:p>
                      <a:pPr algn="ctr">
                        <a:lnSpc>
                          <a:spcPct val="100000"/>
                        </a:lnSpc>
                        <a:spcAft>
                          <a:spcPts val="0"/>
                        </a:spcAft>
                      </a:pPr>
                      <a:r>
                        <a:rPr sz="1100" b="0" i="0">
                          <a:solidFill>
                            <a:srgbClr val="2E2E2E"/>
                          </a:solidFill>
                          <a:latin typeface="Calibri"/>
                        </a:rPr>
                        <a:t>layers</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Eq. (1), fixed</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Eq. (1), fixed</a:t>
                      </a:r>
                    </a:p>
                  </a:txBody>
                  <a:tcPr marR="64008" marT="32004" marB="32004" anchor="ctr">
                    <a:solidFill>
                      <a:srgbClr val="E3F1EF"/>
                    </a:solidFill>
                  </a:tcPr>
                </a:tc>
                <a:extLst>
                  <a:ext uri="{0D108BD9-81ED-4DB2-BD59-A6C34878D82A}">
                    <a16:rowId xmlns:a16="http://schemas.microsoft.com/office/drawing/2014/main" val="10004"/>
                  </a:ext>
                </a:extLst>
              </a:tr>
              <a:tr h="475488">
                <a:tc>
                  <a:txBody>
                    <a:bodyPr/>
                    <a:lstStyle/>
                    <a:p>
                      <a:pPr algn="l">
                        <a:lnSpc>
                          <a:spcPct val="100000"/>
                        </a:lnSpc>
                        <a:spcAft>
                          <a:spcPts val="0"/>
                        </a:spcAft>
                      </a:pPr>
                      <a:r>
                        <a:rPr sz="1100" b="1" i="0">
                          <a:solidFill>
                            <a:srgbClr val="2E2E2E"/>
                          </a:solidFill>
                          <a:latin typeface="Calibri"/>
                        </a:rPr>
                        <a:t>Objective</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Bounded least</a:t>
                      </a:r>
                    </a:p>
                    <a:p>
                      <a:pPr algn="ctr">
                        <a:lnSpc>
                          <a:spcPct val="100000"/>
                        </a:lnSpc>
                        <a:spcAft>
                          <a:spcPts val="0"/>
                        </a:spcAft>
                      </a:pPr>
                      <a:r>
                        <a:rPr sz="1100" b="0" i="0">
                          <a:solidFill>
                            <a:srgbClr val="2E2E2E"/>
                          </a:solidFill>
                          <a:latin typeface="Calibri"/>
                        </a:rPr>
                        <a:t>squares, Eq. (2)</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MSE(ŝ, s) over</a:t>
                      </a:r>
                    </a:p>
                    <a:p>
                      <a:pPr algn="ctr">
                        <a:lnSpc>
                          <a:spcPct val="100000"/>
                        </a:lnSpc>
                        <a:spcAft>
                          <a:spcPts val="0"/>
                        </a:spcAft>
                      </a:pPr>
                      <a:r>
                        <a:rPr sz="1100" b="0" i="0">
                          <a:solidFill>
                            <a:srgbClr val="2E2E2E"/>
                          </a:solidFill>
                          <a:latin typeface="Calibri"/>
                        </a:rPr>
                        <a:t>16 channels</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MSE(ŝ, s) + β D_KL</a:t>
                      </a:r>
                    </a:p>
                    <a:p>
                      <a:pPr algn="ctr">
                        <a:lnSpc>
                          <a:spcPct val="100000"/>
                        </a:lnSpc>
                        <a:spcAft>
                          <a:spcPts val="0"/>
                        </a:spcAft>
                      </a:pPr>
                      <a:r>
                        <a:rPr sz="1100" b="0" i="0">
                          <a:solidFill>
                            <a:srgbClr val="2E2E2E"/>
                          </a:solidFill>
                          <a:latin typeface="Calibri"/>
                        </a:rPr>
                        <a:t>β = 0.1</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Gaussian NLL + β D_KL</a:t>
                      </a:r>
                    </a:p>
                    <a:p>
                      <a:pPr algn="ctr">
                        <a:lnSpc>
                          <a:spcPct val="100000"/>
                        </a:lnSpc>
                        <a:spcAft>
                          <a:spcPts val="0"/>
                        </a:spcAft>
                      </a:pPr>
                      <a:r>
                        <a:rPr sz="1100" b="0" i="0">
                          <a:solidFill>
                            <a:srgbClr val="2E2E2E"/>
                          </a:solidFill>
                          <a:latin typeface="Calibri"/>
                        </a:rPr>
                        <a:t>σ_obs = 0.05</a:t>
                      </a:r>
                    </a:p>
                  </a:txBody>
                  <a:tcPr marR="64008" marT="32004" marB="32004" anchor="ctr">
                    <a:solidFill>
                      <a:srgbClr val="E3F1EF"/>
                    </a:solidFill>
                  </a:tcPr>
                </a:tc>
                <a:extLst>
                  <a:ext uri="{0D108BD9-81ED-4DB2-BD59-A6C34878D82A}">
                    <a16:rowId xmlns:a16="http://schemas.microsoft.com/office/drawing/2014/main" val="10005"/>
                  </a:ext>
                </a:extLst>
              </a:tr>
              <a:tr h="475488">
                <a:tc>
                  <a:txBody>
                    <a:bodyPr/>
                    <a:lstStyle/>
                    <a:p>
                      <a:pPr algn="l">
                        <a:lnSpc>
                          <a:spcPct val="100000"/>
                        </a:lnSpc>
                        <a:spcAft>
                          <a:spcPts val="0"/>
                        </a:spcAft>
                      </a:pPr>
                      <a:r>
                        <a:rPr sz="1100" b="1" i="0">
                          <a:solidFill>
                            <a:srgbClr val="2E2E2E"/>
                          </a:solidFill>
                          <a:latin typeface="Calibri"/>
                        </a:rPr>
                        <a:t>Optimizer</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SciPy trust-region</a:t>
                      </a:r>
                    </a:p>
                    <a:p>
                      <a:pPr algn="ctr">
                        <a:lnSpc>
                          <a:spcPct val="100000"/>
                        </a:lnSpc>
                        <a:spcAft>
                          <a:spcPts val="0"/>
                        </a:spcAft>
                      </a:pPr>
                      <a:r>
                        <a:rPr sz="1100" b="0" i="0">
                          <a:solidFill>
                            <a:srgbClr val="2E2E2E"/>
                          </a:solidFill>
                          <a:latin typeface="Calibri"/>
                        </a:rPr>
                        <a:t>reflective, 5000 evals</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Adam, 1e-4,</a:t>
                      </a:r>
                    </a:p>
                    <a:p>
                      <a:pPr algn="ctr">
                        <a:lnSpc>
                          <a:spcPct val="100000"/>
                        </a:lnSpc>
                        <a:spcAft>
                          <a:spcPts val="0"/>
                        </a:spcAft>
                      </a:pPr>
                      <a:r>
                        <a:rPr sz="1100" b="0" i="0">
                          <a:solidFill>
                            <a:srgbClr val="2E2E2E"/>
                          </a:solidFill>
                          <a:latin typeface="Calibri"/>
                        </a:rPr>
                        <a:t>200 epochs</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Adam, 5e-4, wd 1e-5,</a:t>
                      </a:r>
                    </a:p>
                    <a:p>
                      <a:pPr algn="ctr">
                        <a:lnSpc>
                          <a:spcPct val="100000"/>
                        </a:lnSpc>
                        <a:spcAft>
                          <a:spcPts val="0"/>
                        </a:spcAft>
                      </a:pPr>
                      <a:r>
                        <a:rPr sz="1100" b="0" i="0">
                          <a:solidFill>
                            <a:srgbClr val="2E2E2E"/>
                          </a:solidFill>
                          <a:latin typeface="Calibri"/>
                        </a:rPr>
                        <a:t>200 epochs</a:t>
                      </a:r>
                    </a:p>
                  </a:txBody>
                  <a:tcPr marR="64008" marT="32004" marB="32004" anchor="ctr">
                    <a:solidFill>
                      <a:srgbClr val="F3F5F8"/>
                    </a:solidFill>
                  </a:tcPr>
                </a:tc>
                <a:tc>
                  <a:txBody>
                    <a:bodyPr/>
                    <a:lstStyle/>
                    <a:p>
                      <a:pPr algn="ctr">
                        <a:lnSpc>
                          <a:spcPct val="100000"/>
                        </a:lnSpc>
                        <a:spcAft>
                          <a:spcPts val="0"/>
                        </a:spcAft>
                      </a:pPr>
                      <a:r>
                        <a:rPr sz="1100" b="0" i="0">
                          <a:solidFill>
                            <a:srgbClr val="2E2E2E"/>
                          </a:solidFill>
                          <a:latin typeface="Calibri"/>
                        </a:rPr>
                        <a:t>Adam, 5e-4, wd 1e-5,</a:t>
                      </a:r>
                    </a:p>
                    <a:p>
                      <a:pPr algn="ctr">
                        <a:lnSpc>
                          <a:spcPct val="100000"/>
                        </a:lnSpc>
                        <a:spcAft>
                          <a:spcPts val="0"/>
                        </a:spcAft>
                      </a:pPr>
                      <a:r>
                        <a:rPr sz="1100" b="0" i="0">
                          <a:solidFill>
                            <a:srgbClr val="2E2E2E"/>
                          </a:solidFill>
                          <a:latin typeface="Calibri"/>
                        </a:rPr>
                        <a:t>200 epochs</a:t>
                      </a:r>
                    </a:p>
                  </a:txBody>
                  <a:tcPr marR="64008" marT="32004" marB="32004" anchor="ctr">
                    <a:solidFill>
                      <a:srgbClr val="E3F1EF"/>
                    </a:solidFill>
                  </a:tcPr>
                </a:tc>
                <a:extLst>
                  <a:ext uri="{0D108BD9-81ED-4DB2-BD59-A6C34878D82A}">
                    <a16:rowId xmlns:a16="http://schemas.microsoft.com/office/drawing/2014/main" val="10006"/>
                  </a:ext>
                </a:extLst>
              </a:tr>
              <a:tr h="475488">
                <a:tc>
                  <a:txBody>
                    <a:bodyPr/>
                    <a:lstStyle/>
                    <a:p>
                      <a:pPr algn="l">
                        <a:lnSpc>
                          <a:spcPct val="100000"/>
                        </a:lnSpc>
                        <a:spcAft>
                          <a:spcPts val="0"/>
                        </a:spcAft>
                      </a:pPr>
                      <a:r>
                        <a:rPr sz="1100" b="1" i="0">
                          <a:solidFill>
                            <a:srgbClr val="2E2E2E"/>
                          </a:solidFill>
                          <a:latin typeface="Calibri"/>
                        </a:rPr>
                        <a:t>Tier</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1</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1</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1  (3 variants)</a:t>
                      </a:r>
                    </a:p>
                  </a:txBody>
                  <a:tcPr marR="64008" marT="32004" marB="32004" anchor="ctr">
                    <a:solidFill>
                      <a:srgbClr val="FFFFFF"/>
                    </a:solidFill>
                  </a:tcPr>
                </a:tc>
                <a:tc>
                  <a:txBody>
                    <a:bodyPr/>
                    <a:lstStyle/>
                    <a:p>
                      <a:pPr algn="ctr">
                        <a:lnSpc>
                          <a:spcPct val="100000"/>
                        </a:lnSpc>
                        <a:spcAft>
                          <a:spcPts val="0"/>
                        </a:spcAft>
                      </a:pPr>
                      <a:r>
                        <a:rPr sz="1100" b="0" i="0">
                          <a:solidFill>
                            <a:srgbClr val="2E2E2E"/>
                          </a:solidFill>
                          <a:latin typeface="Calibri"/>
                        </a:rPr>
                        <a:t>2</a:t>
                      </a:r>
                    </a:p>
                  </a:txBody>
                  <a:tcPr marR="64008" marT="32004" marB="32004" anchor="ctr">
                    <a:solidFill>
                      <a:srgbClr val="E3F1E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566928" y="5449824"/>
            <a:ext cx="11057839" cy="841248"/>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5449824"/>
            <a:ext cx="50292" cy="84124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5596128"/>
            <a:ext cx="10545775" cy="594360"/>
          </a:xfrm>
          <a:prstGeom prst="rect">
            <a:avLst/>
          </a:prstGeom>
          <a:noFill/>
        </p:spPr>
        <p:txBody>
          <a:bodyPr wrap="square" lIns="0" tIns="0" rIns="0" bIns="0" anchor="t">
            <a:spAutoFit/>
          </a:bodyPr>
          <a:lstStyle/>
          <a:p>
            <a:pPr algn="l">
              <a:lnSpc>
                <a:spcPct val="122000"/>
              </a:lnSpc>
              <a:spcBef>
                <a:spcPts val="0"/>
              </a:spcBef>
              <a:spcAft>
                <a:spcPts val="0"/>
              </a:spcAft>
            </a:pPr>
            <a:r>
              <a:rPr sz="1200" b="1" i="0">
                <a:solidFill>
                  <a:srgbClr val="1F3864"/>
                </a:solidFill>
                <a:latin typeface="Calibri"/>
              </a:rPr>
              <a:t>Shared encoder across all three neural models:  </a:t>
            </a:r>
            <a:r>
              <a:rPr sz="1200" b="0" i="0">
                <a:solidFill>
                  <a:srgbClr val="2E2E2E"/>
                </a:solidFill>
                <a:latin typeface="Calibri"/>
              </a:rPr>
              <a:t>16 → 64 → 128 → 256 → 512 → 512, Leaky-ReLU, separate heads for D, T₂, and v. Diffusivity and relaxation outputs are mapped into physiological intervals by mean-plus-scaled-tanh.  </a:t>
            </a:r>
            <a:r>
              <a:rPr sz="1200" b="0" i="0">
                <a:solidFill>
                  <a:srgbClr val="6E6E6E"/>
                </a:solidFill>
                <a:latin typeface="Calibri"/>
              </a:rPr>
              <a:t>Gradient-norm clipping at 1.0 throughout. Ground-truth parameter MAE is monitored during training but never enters the optimized loss.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The Focused Contribution: Full-Covariance ILR Posterior</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Adapted from the physics-structured VAE of Finkelstein et al. (2026), applied to the three-compartment prostate setting.</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8</a:t>
            </a:r>
          </a:p>
        </p:txBody>
      </p:sp>
      <p:sp>
        <p:nvSpPr>
          <p:cNvPr id="7" name="Rectangle 6"/>
          <p:cNvSpPr/>
          <p:nvPr/>
        </p:nvSpPr>
        <p:spPr>
          <a:xfrm>
            <a:off x="566928" y="1481328"/>
            <a:ext cx="5806440" cy="2926080"/>
          </a:xfrm>
          <a:prstGeom prst="rect">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50292" cy="292608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1682496"/>
            <a:ext cx="5221224" cy="2514600"/>
          </a:xfrm>
          <a:prstGeom prst="rect">
            <a:avLst/>
          </a:prstGeom>
          <a:noFill/>
        </p:spPr>
        <p:txBody>
          <a:bodyPr wrap="square" lIns="0" tIns="0" rIns="0" bIns="0" anchor="t">
            <a:spAutoFit/>
          </a:bodyPr>
          <a:lstStyle/>
          <a:p>
            <a:pPr algn="l">
              <a:lnSpc>
                <a:spcPct val="115000"/>
              </a:lnSpc>
              <a:spcBef>
                <a:spcPts val="0"/>
              </a:spcBef>
              <a:spcAft>
                <a:spcPts val="1000"/>
              </a:spcAft>
            </a:pPr>
            <a:r>
              <a:rPr sz="1400" b="1" i="0">
                <a:solidFill>
                  <a:srgbClr val="1F3864"/>
                </a:solidFill>
                <a:latin typeface="Calibri"/>
              </a:rPr>
              <a:t>Full covariance via Cholesky factor</a:t>
            </a:r>
          </a:p>
          <a:p>
            <a:pPr algn="ctr">
              <a:lnSpc>
                <a:spcPct val="115000"/>
              </a:lnSpc>
              <a:spcBef>
                <a:spcPts val="0"/>
              </a:spcBef>
              <a:spcAft>
                <a:spcPts val="800"/>
              </a:spcAft>
            </a:pPr>
            <a:r>
              <a:rPr sz="1600" b="0" i="0">
                <a:solidFill>
                  <a:srgbClr val="1F3864"/>
                </a:solidFill>
                <a:latin typeface="Cambria Math"/>
              </a:rPr>
              <a:t>q</a:t>
            </a:r>
            <a:r>
              <a:rPr sz="1100" b="0" i="0">
                <a:solidFill>
                  <a:srgbClr val="1F3864"/>
                </a:solidFill>
                <a:latin typeface="Cambria Math"/>
              </a:rPr>
              <a:t>ϕ</a:t>
            </a:r>
            <a:r>
              <a:rPr sz="1600" b="0" i="0">
                <a:solidFill>
                  <a:srgbClr val="1F3864"/>
                </a:solidFill>
                <a:latin typeface="Cambria Math"/>
              </a:rPr>
              <a:t>(z | x)  =  𝒩(μ, LLᵀ)</a:t>
            </a:r>
          </a:p>
          <a:p>
            <a:pPr algn="ctr">
              <a:lnSpc>
                <a:spcPct val="115000"/>
              </a:lnSpc>
              <a:spcBef>
                <a:spcPts val="0"/>
              </a:spcBef>
              <a:spcAft>
                <a:spcPts val="1200"/>
              </a:spcAft>
            </a:pPr>
            <a:r>
              <a:rPr sz="1500" b="0" i="0">
                <a:solidFill>
                  <a:srgbClr val="1F3864"/>
                </a:solidFill>
                <a:latin typeface="Cambria Math"/>
              </a:rPr>
              <a:t>z  =  μ + Lε,      ε ∼ 𝒩(0, I₈)</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L ∈ ℝ⁸ˣ⁸ lower-triangular, positive diagonal</a:t>
            </a:r>
          </a:p>
          <a:p>
            <a:pPr>
              <a:lnSpc>
                <a:spcPct val="118000"/>
              </a:lnSpc>
              <a:spcBef>
                <a:spcPts val="0"/>
              </a:spcBef>
              <a:spcAft>
                <a:spcPts val="700"/>
              </a:spcAft>
            </a:pPr>
            <a:r>
              <a:rPr sz="1150" b="0" i="0">
                <a:solidFill>
                  <a:srgbClr val="2E75B6"/>
                </a:solidFill>
                <a:latin typeface="Calibri"/>
              </a:rPr>
              <a:t>– </a:t>
            </a:r>
            <a:r>
              <a:rPr sz="1150" b="1" i="0">
                <a:solidFill>
                  <a:srgbClr val="1F3864"/>
                </a:solidFill>
                <a:latin typeface="Calibri"/>
              </a:rPr>
              <a:t>8 latent coordinates: </a:t>
            </a:r>
            <a:r>
              <a:rPr sz="1150" b="0" i="0">
                <a:solidFill>
                  <a:srgbClr val="2E2E2E"/>
                </a:solidFill>
                <a:latin typeface="Calibri"/>
              </a:rPr>
              <a:t>3 diffusivities + 3 relaxation times + 2 composition coordinates</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Can represent correlation among tissue parameters — a diagonal posterior structurally cannot</a:t>
            </a:r>
          </a:p>
          <a:p>
            <a:pPr algn="ctr">
              <a:lnSpc>
                <a:spcPct val="115000"/>
              </a:lnSpc>
              <a:spcBef>
                <a:spcPts val="600"/>
              </a:spcBef>
              <a:spcAft>
                <a:spcPts val="0"/>
              </a:spcAft>
            </a:pPr>
            <a:r>
              <a:rPr sz="1300" b="1" i="0">
                <a:solidFill>
                  <a:srgbClr val="1F3864"/>
                </a:solidFill>
                <a:latin typeface="Cambria Math"/>
              </a:rPr>
              <a:t>D</a:t>
            </a:r>
            <a:r>
              <a:rPr sz="950" b="1" i="0">
                <a:solidFill>
                  <a:srgbClr val="1F3864"/>
                </a:solidFill>
                <a:latin typeface="Cambria Math"/>
              </a:rPr>
              <a:t>KL</a:t>
            </a:r>
            <a:r>
              <a:rPr sz="1300" b="1" i="0">
                <a:solidFill>
                  <a:srgbClr val="1F3864"/>
                </a:solidFill>
                <a:latin typeface="Cambria Math"/>
              </a:rPr>
              <a:t> = ½ [ tr(LLᵀ) + μᵀμ − d − 2 ∑ log L</a:t>
            </a:r>
            <a:r>
              <a:rPr sz="950" b="1" i="0">
                <a:solidFill>
                  <a:srgbClr val="1F3864"/>
                </a:solidFill>
                <a:latin typeface="Cambria Math"/>
              </a:rPr>
              <a:t>jj</a:t>
            </a:r>
            <a:r>
              <a:rPr sz="1300" b="1" i="0">
                <a:solidFill>
                  <a:srgbClr val="1F3864"/>
                </a:solidFill>
                <a:latin typeface="Cambria Math"/>
              </a:rPr>
              <a:t> ]</a:t>
            </a:r>
            <a:r>
              <a:rPr sz="1050" b="0" i="0">
                <a:solidFill>
                  <a:srgbClr val="6E6E6E"/>
                </a:solidFill>
                <a:latin typeface="Calibri"/>
              </a:rPr>
              <a:t>     (4)</a:t>
            </a:r>
          </a:p>
        </p:txBody>
      </p:sp>
      <p:sp>
        <p:nvSpPr>
          <p:cNvPr id="10" name="Rectangle 9"/>
          <p:cNvSpPr/>
          <p:nvPr/>
        </p:nvSpPr>
        <p:spPr>
          <a:xfrm>
            <a:off x="6629400" y="1481328"/>
            <a:ext cx="4995367" cy="2926080"/>
          </a:xfrm>
          <a:prstGeom prst="rect">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629400" y="1481328"/>
            <a:ext cx="50292" cy="292608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22008" y="1682496"/>
            <a:ext cx="4410151" cy="2514600"/>
          </a:xfrm>
          <a:prstGeom prst="rect">
            <a:avLst/>
          </a:prstGeom>
          <a:noFill/>
        </p:spPr>
        <p:txBody>
          <a:bodyPr wrap="square" lIns="0" tIns="0" rIns="0" bIns="0" anchor="t">
            <a:spAutoFit/>
          </a:bodyPr>
          <a:lstStyle/>
          <a:p>
            <a:pPr algn="l">
              <a:lnSpc>
                <a:spcPct val="115000"/>
              </a:lnSpc>
              <a:spcBef>
                <a:spcPts val="0"/>
              </a:spcBef>
              <a:spcAft>
                <a:spcPts val="1000"/>
              </a:spcAft>
            </a:pPr>
            <a:r>
              <a:rPr sz="1400" b="1" i="0">
                <a:solidFill>
                  <a:srgbClr val="1F3864"/>
                </a:solidFill>
                <a:latin typeface="Calibri"/>
              </a:rPr>
              <a:t>ILR coordinates for volume fractions</a:t>
            </a:r>
          </a:p>
          <a:p>
            <a:pPr algn="ctr">
              <a:lnSpc>
                <a:spcPct val="115000"/>
              </a:lnSpc>
              <a:spcBef>
                <a:spcPts val="0"/>
              </a:spcBef>
              <a:spcAft>
                <a:spcPts val="1200"/>
              </a:spcAft>
            </a:pPr>
            <a:r>
              <a:rPr sz="1600" b="0" i="0">
                <a:solidFill>
                  <a:srgbClr val="1F3864"/>
                </a:solidFill>
                <a:latin typeface="Cambria Math"/>
              </a:rPr>
              <a:t>c  =  Ψ z</a:t>
            </a:r>
            <a:r>
              <a:rPr sz="1100" b="0" i="0">
                <a:solidFill>
                  <a:srgbClr val="1F3864"/>
                </a:solidFill>
                <a:latin typeface="Cambria Math"/>
              </a:rPr>
              <a:t>v</a:t>
            </a:r>
            <a:r>
              <a:rPr sz="1600" b="0" i="0">
                <a:solidFill>
                  <a:srgbClr val="1F3864"/>
                </a:solidFill>
                <a:latin typeface="Cambria Math"/>
              </a:rPr>
              <a:t>,      v  =  softmax(c)</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Ψ ∈ ℝ³ˣ² is an orthonormal ILR basis</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Its columns lie in the sum-zero subspace</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A two-dimensional z_v parameterizes the three-part simplex, dropping the redundant direction of three-logit softmax (Aitchison, 1986)</a:t>
            </a:r>
          </a:p>
        </p:txBody>
      </p:sp>
      <p:sp>
        <p:nvSpPr>
          <p:cNvPr id="13" name="Rectangle 12"/>
          <p:cNvSpPr/>
          <p:nvPr/>
        </p:nvSpPr>
        <p:spPr>
          <a:xfrm>
            <a:off x="6922008" y="3584448"/>
            <a:ext cx="4410151" cy="71323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86600" y="3703320"/>
            <a:ext cx="4080967" cy="548640"/>
          </a:xfrm>
          <a:prstGeom prst="rect">
            <a:avLst/>
          </a:prstGeom>
          <a:noFill/>
        </p:spPr>
        <p:txBody>
          <a:bodyPr wrap="square" lIns="0" tIns="0" rIns="0" bIns="0" anchor="t">
            <a:spAutoFit/>
          </a:bodyPr>
          <a:lstStyle/>
          <a:p>
            <a:pPr algn="l">
              <a:lnSpc>
                <a:spcPct val="120000"/>
              </a:lnSpc>
              <a:spcBef>
                <a:spcPts val="0"/>
              </a:spcBef>
              <a:spcAft>
                <a:spcPts val="0"/>
              </a:spcAft>
            </a:pPr>
            <a:r>
              <a:rPr sz="1100" b="1" i="0">
                <a:solidFill>
                  <a:srgbClr val="1F7A72"/>
                </a:solidFill>
                <a:latin typeface="Calibri"/>
              </a:rPr>
              <a:t>Why it matters for a covariance.  </a:t>
            </a:r>
            <a:r>
              <a:rPr sz="1100" b="0" i="0">
                <a:solidFill>
                  <a:srgbClr val="6E6E6E"/>
                </a:solidFill>
                <a:latin typeface="Calibri"/>
              </a:rPr>
              <a:t>Three logits for a 3-simplex have one unidentified direction. A full covariance over that redundancy is not meaningful; ILR removes it first.</a:t>
            </a:r>
          </a:p>
        </p:txBody>
      </p:sp>
      <p:sp>
        <p:nvSpPr>
          <p:cNvPr id="15" name="Rectangle 14"/>
          <p:cNvSpPr/>
          <p:nvPr/>
        </p:nvSpPr>
        <p:spPr>
          <a:xfrm>
            <a:off x="566928" y="4636008"/>
            <a:ext cx="11057839" cy="14173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7" y="4800600"/>
            <a:ext cx="10509199" cy="1143000"/>
          </a:xfrm>
          <a:prstGeom prst="rect">
            <a:avLst/>
          </a:prstGeom>
          <a:noFill/>
        </p:spPr>
        <p:txBody>
          <a:bodyPr wrap="square" lIns="0" tIns="0" rIns="0" bIns="0" anchor="t">
            <a:spAutoFit/>
          </a:bodyPr>
          <a:lstStyle/>
          <a:p>
            <a:pPr algn="l">
              <a:lnSpc>
                <a:spcPct val="115000"/>
              </a:lnSpc>
              <a:spcBef>
                <a:spcPts val="0"/>
              </a:spcBef>
              <a:spcAft>
                <a:spcPts val="900"/>
              </a:spcAft>
            </a:pPr>
            <a:r>
              <a:rPr sz="1300" b="1" i="0">
                <a:solidFill>
                  <a:srgbClr val="1F3864"/>
                </a:solidFill>
                <a:latin typeface="Calibri"/>
              </a:rPr>
              <a:t>Tier 2 objective and training protocol — identical for both models</a:t>
            </a:r>
          </a:p>
          <a:p>
            <a:pPr algn="l">
              <a:lnSpc>
                <a:spcPct val="115000"/>
              </a:lnSpc>
              <a:spcBef>
                <a:spcPts val="0"/>
              </a:spcBef>
              <a:spcAft>
                <a:spcPts val="800"/>
              </a:spcAft>
            </a:pPr>
            <a:r>
              <a:rPr sz="1400" b="0" i="0">
                <a:solidFill>
                  <a:srgbClr val="1F3864"/>
                </a:solidFill>
                <a:latin typeface="Cambria Math"/>
              </a:rPr>
              <a:t>ℒ</a:t>
            </a:r>
            <a:r>
              <a:rPr sz="1000" b="0" i="0">
                <a:solidFill>
                  <a:srgbClr val="1F3864"/>
                </a:solidFill>
                <a:latin typeface="Cambria Math"/>
              </a:rPr>
              <a:t>focused</a:t>
            </a:r>
            <a:r>
              <a:rPr sz="1400" b="0" i="0">
                <a:solidFill>
                  <a:srgbClr val="1F3864"/>
                </a:solidFill>
                <a:latin typeface="Cambria Math"/>
              </a:rPr>
              <a:t> = ℒ</a:t>
            </a:r>
            <a:r>
              <a:rPr sz="1000" b="0" i="0">
                <a:solidFill>
                  <a:srgbClr val="1F3864"/>
                </a:solidFill>
                <a:latin typeface="Cambria Math"/>
              </a:rPr>
              <a:t>NLL</a:t>
            </a:r>
            <a:r>
              <a:rPr sz="1400" b="0" i="0">
                <a:solidFill>
                  <a:srgbClr val="1F3864"/>
                </a:solidFill>
                <a:latin typeface="Cambria Math"/>
              </a:rPr>
              <a:t> + β D</a:t>
            </a:r>
            <a:r>
              <a:rPr sz="1000" b="0" i="0">
                <a:solidFill>
                  <a:srgbClr val="1F3864"/>
                </a:solidFill>
                <a:latin typeface="Cambria Math"/>
              </a:rPr>
              <a:t>KL</a:t>
            </a:r>
            <a:r>
              <a:rPr sz="1400" b="0" i="0">
                <a:solidFill>
                  <a:srgbClr val="1F3864"/>
                </a:solidFill>
                <a:latin typeface="Cambria Math"/>
              </a:rPr>
              <a:t>       where  ℒ</a:t>
            </a:r>
            <a:r>
              <a:rPr sz="1000" b="0" i="0">
                <a:solidFill>
                  <a:srgbClr val="1F3864"/>
                </a:solidFill>
                <a:latin typeface="Cambria Math"/>
              </a:rPr>
              <a:t>NLL</a:t>
            </a:r>
            <a:r>
              <a:rPr sz="1400" b="0" i="0">
                <a:solidFill>
                  <a:srgbClr val="1F3864"/>
                </a:solidFill>
                <a:latin typeface="Cambria Math"/>
              </a:rPr>
              <a:t> = (1/16) ∑ ½ [ (x</a:t>
            </a:r>
            <a:r>
              <a:rPr sz="1000" b="0" i="0">
                <a:solidFill>
                  <a:srgbClr val="1F3864"/>
                </a:solidFill>
                <a:latin typeface="Cambria Math"/>
              </a:rPr>
              <a:t>m</a:t>
            </a:r>
            <a:r>
              <a:rPr sz="1400" b="0" i="0">
                <a:solidFill>
                  <a:srgbClr val="1F3864"/>
                </a:solidFill>
                <a:latin typeface="Cambria Math"/>
              </a:rPr>
              <a:t> − x̂</a:t>
            </a:r>
            <a:r>
              <a:rPr sz="1000" b="0" i="0">
                <a:solidFill>
                  <a:srgbClr val="1F3864"/>
                </a:solidFill>
                <a:latin typeface="Cambria Math"/>
              </a:rPr>
              <a:t>m</a:t>
            </a:r>
            <a:r>
              <a:rPr sz="1400" b="0" i="0">
                <a:solidFill>
                  <a:srgbClr val="1F3864"/>
                </a:solidFill>
                <a:latin typeface="Cambria Math"/>
              </a:rPr>
              <a:t>)² / σ</a:t>
            </a:r>
            <a:r>
              <a:rPr sz="1000" b="0" i="0">
                <a:solidFill>
                  <a:srgbClr val="1F3864"/>
                </a:solidFill>
                <a:latin typeface="Cambria Math"/>
              </a:rPr>
              <a:t>obs</a:t>
            </a:r>
            <a:r>
              <a:rPr sz="1400" b="0" i="0">
                <a:solidFill>
                  <a:srgbClr val="1F3864"/>
                </a:solidFill>
                <a:latin typeface="Cambria Math"/>
              </a:rPr>
              <a:t>²  +  log(2πσ</a:t>
            </a:r>
            <a:r>
              <a:rPr sz="1000" b="0" i="0">
                <a:solidFill>
                  <a:srgbClr val="1F3864"/>
                </a:solidFill>
                <a:latin typeface="Cambria Math"/>
              </a:rPr>
              <a:t>obs</a:t>
            </a:r>
            <a:r>
              <a:rPr sz="1400" b="0" i="0">
                <a:solidFill>
                  <a:srgbClr val="1F3864"/>
                </a:solidFill>
                <a:latin typeface="Cambria Math"/>
              </a:rPr>
              <a:t>²) ]</a:t>
            </a:r>
          </a:p>
          <a:p>
            <a:pPr algn="l">
              <a:lnSpc>
                <a:spcPct val="120000"/>
              </a:lnSpc>
              <a:spcBef>
                <a:spcPts val="0"/>
              </a:spcBef>
              <a:spcAft>
                <a:spcPts val="0"/>
              </a:spcAft>
            </a:pPr>
            <a:r>
              <a:rPr sz="1150" b="0" i="0">
                <a:solidFill>
                  <a:srgbClr val="6E6E6E"/>
                </a:solidFill>
                <a:latin typeface="Calibri"/>
              </a:rPr>
              <a:t>Likelihood against the </a:t>
            </a:r>
            <a:r>
              <a:rPr sz="1150" b="1" i="0">
                <a:solidFill>
                  <a:srgbClr val="1F3864"/>
                </a:solidFill>
                <a:latin typeface="Calibri"/>
              </a:rPr>
              <a:t>noisy observation</a:t>
            </a:r>
            <a:r>
              <a:rPr sz="1150" b="0" i="0">
                <a:solidFill>
                  <a:srgbClr val="6E6E6E"/>
                </a:solidFill>
                <a:latin typeface="Calibri"/>
              </a:rPr>
              <a:t>, not MSE against the clean signal   ·   </a:t>
            </a:r>
            <a:r>
              <a:rPr sz="1150" b="1" i="0">
                <a:solidFill>
                  <a:srgbClr val="1F3864"/>
                </a:solidFill>
                <a:latin typeface="Calibri"/>
              </a:rPr>
              <a:t>KL warm-up</a:t>
            </a:r>
            <a:r>
              <a:rPr sz="1150" b="0" i="0">
                <a:solidFill>
                  <a:srgbClr val="6E6E6E"/>
                </a:solidFill>
                <a:latin typeface="Calibri"/>
              </a:rPr>
              <a:t> linear 0 → 1 over the first 20% of epochs   ·   </a:t>
            </a:r>
            <a:r>
              <a:rPr sz="1150" b="1" i="0">
                <a:solidFill>
                  <a:srgbClr val="1F3864"/>
                </a:solidFill>
                <a:latin typeface="Calibri"/>
              </a:rPr>
              <a:t>Free-bits floor</a:t>
            </a:r>
            <a:r>
              <a:rPr sz="1150" b="0" i="0">
                <a:solidFill>
                  <a:srgbClr val="6E6E6E"/>
                </a:solidFill>
                <a:latin typeface="Calibri"/>
              </a:rPr>
              <a:t> λ_fb = 0.5, explicitly monitored because clamping can zero the gradient below the floor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2788920"/>
            <a:ext cx="8686800" cy="1280160"/>
          </a:xfrm>
          <a:prstGeom prst="rect">
            <a:avLst/>
          </a:prstGeom>
          <a:noFill/>
        </p:spPr>
        <p:txBody>
          <a:bodyPr wrap="square" lIns="0" tIns="0" rIns="0" bIns="0" anchor="t">
            <a:spAutoFit/>
          </a:bodyPr>
          <a:lstStyle/>
          <a:p>
            <a:pPr algn="l">
              <a:lnSpc>
                <a:spcPct val="115000"/>
              </a:lnSpc>
              <a:spcBef>
                <a:spcPts val="0"/>
              </a:spcBef>
              <a:spcAft>
                <a:spcPts val="1000"/>
              </a:spcAft>
            </a:pPr>
            <a:r>
              <a:rPr sz="1300" b="1" i="0">
                <a:solidFill>
                  <a:srgbClr val="2E75B6"/>
                </a:solidFill>
                <a:latin typeface="Calibri"/>
              </a:rPr>
              <a:t>03</a:t>
            </a:r>
          </a:p>
          <a:p>
            <a:pPr algn="l">
              <a:lnSpc>
                <a:spcPct val="115000"/>
              </a:lnSpc>
              <a:spcBef>
                <a:spcPts val="0"/>
              </a:spcBef>
              <a:spcAft>
                <a:spcPts val="800"/>
              </a:spcAft>
            </a:pPr>
            <a:r>
              <a:rPr sz="3400" b="0" i="0">
                <a:solidFill>
                  <a:srgbClr val="FFFFFF"/>
                </a:solidFill>
                <a:latin typeface="Calibri Light"/>
              </a:rPr>
              <a:t>Analysis and Evaluation</a:t>
            </a:r>
          </a:p>
          <a:p>
            <a:pPr algn="l">
              <a:lnSpc>
                <a:spcPct val="115000"/>
              </a:lnSpc>
              <a:spcBef>
                <a:spcPts val="0"/>
              </a:spcBef>
              <a:spcAft>
                <a:spcPts val="0"/>
              </a:spcAft>
            </a:pPr>
            <a:r>
              <a:rPr sz="1400" b="0" i="0">
                <a:solidFill>
                  <a:srgbClr val="9FB8D6"/>
                </a:solidFill>
                <a:latin typeface="Calibri"/>
              </a:rPr>
              <a:t>Pre-specified metrics, inference procedure, and decision criteria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Analytical Methods</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5" name="TextBox 4"/>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9</a:t>
            </a:r>
          </a:p>
        </p:txBody>
      </p:sp>
      <p:sp>
        <p:nvSpPr>
          <p:cNvPr id="6" name="Rectangle 5"/>
          <p:cNvSpPr/>
          <p:nvPr/>
        </p:nvSpPr>
        <p:spPr>
          <a:xfrm>
            <a:off x="566928" y="1261872"/>
            <a:ext cx="5391759" cy="21031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261872"/>
            <a:ext cx="50292" cy="2103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444751"/>
            <a:ext cx="4843119" cy="1783080"/>
          </a:xfrm>
          <a:prstGeom prst="rect">
            <a:avLst/>
          </a:prstGeom>
          <a:noFill/>
        </p:spPr>
        <p:txBody>
          <a:bodyPr wrap="square" lIns="0" tIns="0" rIns="0" bIns="0" anchor="t">
            <a:spAutoFit/>
          </a:bodyPr>
          <a:lstStyle/>
          <a:p>
            <a:pPr algn="l">
              <a:lnSpc>
                <a:spcPct val="115000"/>
              </a:lnSpc>
              <a:spcBef>
                <a:spcPts val="0"/>
              </a:spcBef>
              <a:spcAft>
                <a:spcPts val="900"/>
              </a:spcAft>
            </a:pPr>
            <a:r>
              <a:rPr sz="1350" b="1" i="0">
                <a:solidFill>
                  <a:srgbClr val="1F3864"/>
                </a:solidFill>
                <a:latin typeface="Calibri"/>
              </a:rPr>
              <a:t>Point-estimation accuracy</a:t>
            </a:r>
          </a:p>
          <a:p>
            <a:pPr>
              <a:lnSpc>
                <a:spcPct val="118000"/>
              </a:lnSpc>
              <a:spcBef>
                <a:spcPts val="0"/>
              </a:spcBef>
              <a:spcAft>
                <a:spcPts val="700"/>
              </a:spcAft>
            </a:pPr>
            <a:r>
              <a:rPr sz="1150" b="0" i="0">
                <a:solidFill>
                  <a:srgbClr val="2E75B6"/>
                </a:solidFill>
                <a:latin typeface="Calibri"/>
              </a:rPr>
              <a:t>– </a:t>
            </a:r>
            <a:r>
              <a:rPr sz="1150" b="1" i="0">
                <a:solidFill>
                  <a:srgbClr val="1F3864"/>
                </a:solidFill>
                <a:latin typeface="Calibri"/>
              </a:rPr>
              <a:t>MAE — </a:t>
            </a:r>
            <a:r>
              <a:rPr sz="1150" b="0" i="0">
                <a:solidFill>
                  <a:srgbClr val="2E2E2E"/>
                </a:solidFill>
                <a:latin typeface="Calibri"/>
              </a:rPr>
              <a:t>primary measure, stays in the natural units of each parameter</a:t>
            </a:r>
          </a:p>
          <a:p>
            <a:pPr>
              <a:lnSpc>
                <a:spcPct val="118000"/>
              </a:lnSpc>
              <a:spcBef>
                <a:spcPts val="0"/>
              </a:spcBef>
              <a:spcAft>
                <a:spcPts val="700"/>
              </a:spcAft>
            </a:pPr>
            <a:r>
              <a:rPr sz="1150" b="0" i="0">
                <a:solidFill>
                  <a:srgbClr val="2E75B6"/>
                </a:solidFill>
                <a:latin typeface="Calibri"/>
              </a:rPr>
              <a:t>– </a:t>
            </a:r>
            <a:r>
              <a:rPr sz="1150" b="1" i="0">
                <a:solidFill>
                  <a:srgbClr val="1F3864"/>
                </a:solidFill>
                <a:latin typeface="Calibri"/>
              </a:rPr>
              <a:t>R² — </a:t>
            </a:r>
            <a:r>
              <a:rPr sz="1150" b="0" i="0">
                <a:solidFill>
                  <a:srgbClr val="2E2E2E"/>
                </a:solidFill>
                <a:latin typeface="Calibri"/>
              </a:rPr>
              <a:t>explained variation against a constant baseline; negative values indicate performance worse than predicting the mean</a:t>
            </a:r>
          </a:p>
          <a:p>
            <a:pPr>
              <a:lnSpc>
                <a:spcPct val="118000"/>
              </a:lnSpc>
              <a:spcBef>
                <a:spcPts val="0"/>
              </a:spcBef>
              <a:spcAft>
                <a:spcPts val="700"/>
              </a:spcAft>
            </a:pPr>
            <a:r>
              <a:rPr sz="1150" b="0" i="0">
                <a:solidFill>
                  <a:srgbClr val="2E75B6"/>
                </a:solidFill>
                <a:latin typeface="Calibri"/>
              </a:rPr>
              <a:t>– </a:t>
            </a:r>
            <a:r>
              <a:rPr sz="1150" b="1" i="0">
                <a:solidFill>
                  <a:srgbClr val="1F3864"/>
                </a:solidFill>
                <a:latin typeface="Calibri"/>
              </a:rPr>
              <a:t>Pearson r — </a:t>
            </a:r>
            <a:r>
              <a:rPr sz="1150" b="0" i="0">
                <a:solidFill>
                  <a:srgbClr val="2E2E2E"/>
                </a:solidFill>
                <a:latin typeface="Calibri"/>
              </a:rPr>
              <a:t>linear agreement only</a:t>
            </a:r>
          </a:p>
          <a:p>
            <a:pPr algn="l">
              <a:lnSpc>
                <a:spcPct val="120000"/>
              </a:lnSpc>
              <a:spcBef>
                <a:spcPts val="400"/>
              </a:spcBef>
              <a:spcAft>
                <a:spcPts val="0"/>
              </a:spcAft>
            </a:pPr>
            <a:r>
              <a:rPr sz="1100" b="0" i="0">
                <a:solidFill>
                  <a:srgbClr val="6E6E6E"/>
                </a:solidFill>
                <a:latin typeface="Calibri"/>
              </a:rPr>
              <a:t>Reported separately for D, T₂, and v. Correlation alone is never treated as evidence of accurate absolute recovery.</a:t>
            </a:r>
          </a:p>
        </p:txBody>
      </p:sp>
      <p:sp>
        <p:nvSpPr>
          <p:cNvPr id="9" name="Rectangle 8"/>
          <p:cNvSpPr/>
          <p:nvPr/>
        </p:nvSpPr>
        <p:spPr>
          <a:xfrm>
            <a:off x="6233007" y="1261872"/>
            <a:ext cx="5391759" cy="2103120"/>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33007" y="1261872"/>
            <a:ext cx="50292" cy="210312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07327" y="1444751"/>
            <a:ext cx="4843119" cy="1783080"/>
          </a:xfrm>
          <a:prstGeom prst="rect">
            <a:avLst/>
          </a:prstGeom>
          <a:noFill/>
        </p:spPr>
        <p:txBody>
          <a:bodyPr wrap="square" lIns="0" tIns="0" rIns="0" bIns="0" anchor="t">
            <a:spAutoFit/>
          </a:bodyPr>
          <a:lstStyle/>
          <a:p>
            <a:pPr algn="l">
              <a:lnSpc>
                <a:spcPct val="115000"/>
              </a:lnSpc>
              <a:spcBef>
                <a:spcPts val="0"/>
              </a:spcBef>
              <a:spcAft>
                <a:spcPts val="900"/>
              </a:spcAft>
            </a:pPr>
            <a:r>
              <a:rPr sz="1350" b="1" i="0">
                <a:solidFill>
                  <a:srgbClr val="1F3864"/>
                </a:solidFill>
                <a:latin typeface="Calibri"/>
              </a:rPr>
              <a:t>Raw posterior coverage</a:t>
            </a:r>
          </a:p>
          <a:p>
            <a:pPr algn="l">
              <a:lnSpc>
                <a:spcPct val="115000"/>
              </a:lnSpc>
              <a:spcBef>
                <a:spcPts val="0"/>
              </a:spcBef>
              <a:spcAft>
                <a:spcPts val="900"/>
              </a:spcAft>
            </a:pPr>
            <a:r>
              <a:rPr sz="1400" b="0" i="0">
                <a:solidFill>
                  <a:srgbClr val="1F3864"/>
                </a:solidFill>
                <a:latin typeface="Cambria Math"/>
              </a:rPr>
              <a:t>Ĉ</a:t>
            </a:r>
            <a:r>
              <a:rPr sz="1400" b="0" i="0" baseline="-25000">
                <a:solidFill>
                  <a:srgbClr val="1F3864"/>
                </a:solidFill>
                <a:latin typeface="Cambria Math"/>
              </a:rPr>
              <a:t>0.95</a:t>
            </a:r>
            <a:r>
              <a:rPr sz="1400" b="0" i="0">
                <a:solidFill>
                  <a:srgbClr val="1F3864"/>
                </a:solidFill>
                <a:latin typeface="Cambria Math"/>
              </a:rPr>
              <a:t> = (1/N) ∑ 1{ θ</a:t>
            </a:r>
            <a:r>
              <a:rPr sz="1400" b="0" i="0" baseline="-25000">
                <a:solidFill>
                  <a:srgbClr val="1F3864"/>
                </a:solidFill>
                <a:latin typeface="Cambria Math"/>
              </a:rPr>
              <a:t>i</a:t>
            </a:r>
            <a:r>
              <a:rPr sz="1400" b="0" i="0" baseline="30000">
                <a:solidFill>
                  <a:srgbClr val="1F3864"/>
                </a:solidFill>
                <a:latin typeface="Cambria Math"/>
              </a:rPr>
              <a:t>true</a:t>
            </a:r>
            <a:r>
              <a:rPr sz="1400" b="0" i="0">
                <a:solidFill>
                  <a:srgbClr val="1F3864"/>
                </a:solidFill>
                <a:latin typeface="Cambria Math"/>
              </a:rPr>
              <a:t> ∈ I</a:t>
            </a:r>
            <a:r>
              <a:rPr sz="1400" b="0" i="0" baseline="-25000">
                <a:solidFill>
                  <a:srgbClr val="1F3864"/>
                </a:solidFill>
                <a:latin typeface="Cambria Math"/>
              </a:rPr>
              <a:t>i</a:t>
            </a:r>
            <a:r>
              <a:rPr sz="1400" b="0" i="0" baseline="30000">
                <a:solidFill>
                  <a:srgbClr val="1F3864"/>
                </a:solidFill>
                <a:latin typeface="Cambria Math"/>
              </a:rPr>
              <a:t>0.95</a:t>
            </a:r>
            <a:r>
              <a:rPr sz="1400" b="0" i="0">
                <a:solidFill>
                  <a:srgbClr val="1F3864"/>
                </a:solidFill>
                <a:latin typeface="Cambria Math"/>
              </a:rPr>
              <a:t> }</a:t>
            </a:r>
            <a:r>
              <a:rPr sz="1000" b="0" i="0">
                <a:solidFill>
                  <a:srgbClr val="6E6E6E"/>
                </a:solidFill>
                <a:latin typeface="Calibri"/>
              </a:rPr>
              <a:t>       (5)</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95% percentile interval built from the 300 Monte Carlo samples</a:t>
            </a:r>
          </a:p>
          <a:p>
            <a:pPr>
              <a:lnSpc>
                <a:spcPct val="118000"/>
              </a:lnSpc>
              <a:spcBef>
                <a:spcPts val="0"/>
              </a:spcBef>
              <a:spcAft>
                <a:spcPts val="700"/>
              </a:spcAft>
            </a:pPr>
            <a:r>
              <a:rPr sz="1150" b="0" i="0">
                <a:solidFill>
                  <a:srgbClr val="2E75B6"/>
                </a:solidFill>
                <a:latin typeface="Calibri"/>
              </a:rPr>
              <a:t>– </a:t>
            </a:r>
            <a:r>
              <a:rPr sz="1150" b="0" i="0">
                <a:solidFill>
                  <a:srgbClr val="2E2E2E"/>
                </a:solidFill>
                <a:latin typeface="Calibri"/>
              </a:rPr>
              <a:t>Computed separately for each of the 9 compartment parameters</a:t>
            </a:r>
          </a:p>
          <a:p>
            <a:pPr>
              <a:lnSpc>
                <a:spcPct val="118000"/>
              </a:lnSpc>
              <a:spcBef>
                <a:spcPts val="0"/>
              </a:spcBef>
              <a:spcAft>
                <a:spcPts val="700"/>
              </a:spcAft>
            </a:pPr>
            <a:r>
              <a:rPr sz="1150" b="0" i="0">
                <a:solidFill>
                  <a:srgbClr val="2E75B6"/>
                </a:solidFill>
                <a:latin typeface="Calibri"/>
              </a:rPr>
              <a:t>– </a:t>
            </a:r>
            <a:r>
              <a:rPr sz="1150" b="1" i="0">
                <a:solidFill>
                  <a:srgbClr val="1F3864"/>
                </a:solidFill>
                <a:latin typeface="Calibri"/>
              </a:rPr>
              <a:t>Posterior sampling: </a:t>
            </a:r>
            <a:r>
              <a:rPr sz="1150" b="0" i="0">
                <a:solidFill>
                  <a:srgbClr val="2E2E2E"/>
                </a:solidFill>
                <a:latin typeface="Calibri"/>
              </a:rPr>
              <a:t>25 samples per test input (Tier 1) · 300 samples (Tier 2)</a:t>
            </a:r>
          </a:p>
        </p:txBody>
      </p:sp>
      <p:sp>
        <p:nvSpPr>
          <p:cNvPr id="12" name="Rectangle 11"/>
          <p:cNvSpPr/>
          <p:nvPr/>
        </p:nvSpPr>
        <p:spPr>
          <a:xfrm>
            <a:off x="566928" y="3593591"/>
            <a:ext cx="5391759" cy="2103120"/>
          </a:xfrm>
          <a:prstGeom prst="rect">
            <a:avLst/>
          </a:prstGeom>
          <a:solidFill>
            <a:srgbClr val="E7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593591"/>
            <a:ext cx="50292" cy="2103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776472"/>
            <a:ext cx="4843119" cy="1783080"/>
          </a:xfrm>
          <a:prstGeom prst="rect">
            <a:avLst/>
          </a:prstGeom>
          <a:noFill/>
        </p:spPr>
        <p:txBody>
          <a:bodyPr wrap="square" lIns="0" tIns="0" rIns="0" bIns="0" anchor="t">
            <a:spAutoFit/>
          </a:bodyPr>
          <a:lstStyle/>
          <a:p>
            <a:pPr algn="l">
              <a:lnSpc>
                <a:spcPct val="115000"/>
              </a:lnSpc>
              <a:spcBef>
                <a:spcPts val="0"/>
              </a:spcBef>
              <a:spcAft>
                <a:spcPts val="900"/>
              </a:spcAft>
            </a:pPr>
            <a:r>
              <a:rPr sz="1350" b="1" i="0">
                <a:solidFill>
                  <a:srgbClr val="1F3864"/>
                </a:solidFill>
                <a:latin typeface="Calibri"/>
              </a:rPr>
              <a:t>Paired bootstrap comparison</a:t>
            </a:r>
          </a:p>
          <a:p>
            <a:pPr algn="l">
              <a:lnSpc>
                <a:spcPct val="115000"/>
              </a:lnSpc>
              <a:spcBef>
                <a:spcPts val="0"/>
              </a:spcBef>
              <a:spcAft>
                <a:spcPts val="900"/>
              </a:spcAft>
            </a:pPr>
            <a:r>
              <a:rPr sz="1400" b="0" i="0">
                <a:solidFill>
                  <a:srgbClr val="1F3864"/>
                </a:solidFill>
                <a:latin typeface="Cambria Math"/>
              </a:rPr>
              <a:t>Δ</a:t>
            </a:r>
            <a:r>
              <a:rPr sz="1000" b="0" i="0">
                <a:solidFill>
                  <a:srgbClr val="1F3864"/>
                </a:solidFill>
                <a:latin typeface="Cambria Math"/>
              </a:rPr>
              <a:t>b</a:t>
            </a:r>
            <a:r>
              <a:rPr sz="1400" b="0" i="0">
                <a:solidFill>
                  <a:srgbClr val="1F3864"/>
                </a:solidFill>
                <a:latin typeface="Cambria Math"/>
              </a:rPr>
              <a:t> = Ĉ</a:t>
            </a:r>
            <a:r>
              <a:rPr sz="1000" b="0" i="0">
                <a:solidFill>
                  <a:srgbClr val="1F3864"/>
                </a:solidFill>
                <a:latin typeface="Cambria Math"/>
              </a:rPr>
              <a:t>FullILR,b</a:t>
            </a:r>
            <a:r>
              <a:rPr sz="1400" b="0" i="0">
                <a:solidFill>
                  <a:srgbClr val="1F3864"/>
                </a:solidFill>
                <a:latin typeface="Cambria Math"/>
              </a:rPr>
              <a:t> − Ĉ</a:t>
            </a:r>
            <a:r>
              <a:rPr sz="1000" b="0" i="0">
                <a:solidFill>
                  <a:srgbClr val="1F3864"/>
                </a:solidFill>
                <a:latin typeface="Cambria Math"/>
              </a:rPr>
              <a:t>Diagonal,b</a:t>
            </a:r>
            <a:r>
              <a:rPr sz="1000" b="0" i="0">
                <a:solidFill>
                  <a:srgbClr val="6E6E6E"/>
                </a:solidFill>
                <a:latin typeface="Calibri"/>
              </a:rPr>
              <a:t>       (6)</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B = 1000 paired draws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The same voxel-index sample is used for both models in each draw — pairing removes comparison noise (Efron &amp; Tibshirani, 1993)</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2.5th and 97.5th percentiles of {Δ_b} form the 95% percentile interval</a:t>
            </a:r>
          </a:p>
        </p:txBody>
      </p:sp>
      <p:sp>
        <p:nvSpPr>
          <p:cNvPr id="15" name="Rectangle 14"/>
          <p:cNvSpPr/>
          <p:nvPr/>
        </p:nvSpPr>
        <p:spPr>
          <a:xfrm>
            <a:off x="6233007" y="3593591"/>
            <a:ext cx="5391759" cy="2103120"/>
          </a:xfrm>
          <a:prstGeom prst="rect">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33007" y="3593591"/>
            <a:ext cx="50292" cy="210312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07327" y="3776472"/>
            <a:ext cx="4843119" cy="1783080"/>
          </a:xfrm>
          <a:prstGeom prst="rect">
            <a:avLst/>
          </a:prstGeom>
          <a:noFill/>
        </p:spPr>
        <p:txBody>
          <a:bodyPr wrap="square" lIns="0" tIns="0" rIns="0" bIns="0" anchor="t">
            <a:spAutoFit/>
          </a:bodyPr>
          <a:lstStyle/>
          <a:p>
            <a:pPr algn="l">
              <a:lnSpc>
                <a:spcPct val="115000"/>
              </a:lnSpc>
              <a:spcBef>
                <a:spcPts val="0"/>
              </a:spcBef>
              <a:spcAft>
                <a:spcPts val="900"/>
              </a:spcAft>
            </a:pPr>
            <a:r>
              <a:rPr sz="1350" b="1" i="0">
                <a:solidFill>
                  <a:srgbClr val="1F3864"/>
                </a:solidFill>
                <a:latin typeface="Calibri"/>
              </a:rPr>
              <a:t>Split-conformal calibration</a:t>
            </a:r>
          </a:p>
          <a:p>
            <a:pPr algn="l">
              <a:lnSpc>
                <a:spcPct val="115000"/>
              </a:lnSpc>
              <a:spcBef>
                <a:spcPts val="0"/>
              </a:spcBef>
              <a:spcAft>
                <a:spcPts val="900"/>
              </a:spcAft>
            </a:pPr>
            <a:r>
              <a:rPr sz="1400" b="0" i="0">
                <a:solidFill>
                  <a:srgbClr val="1F3864"/>
                </a:solidFill>
                <a:latin typeface="Cambria Math"/>
              </a:rPr>
              <a:t>a</a:t>
            </a:r>
            <a:r>
              <a:rPr sz="1000" b="0" i="0">
                <a:solidFill>
                  <a:srgbClr val="1F3864"/>
                </a:solidFill>
                <a:latin typeface="Cambria Math"/>
              </a:rPr>
              <a:t>i</a:t>
            </a:r>
            <a:r>
              <a:rPr sz="1400" b="0" i="0">
                <a:solidFill>
                  <a:srgbClr val="1F3864"/>
                </a:solidFill>
                <a:latin typeface="Cambria Math"/>
              </a:rPr>
              <a:t> = |y</a:t>
            </a:r>
            <a:r>
              <a:rPr sz="1000" b="0" i="0">
                <a:solidFill>
                  <a:srgbClr val="1F3864"/>
                </a:solidFill>
                <a:latin typeface="Cambria Math"/>
              </a:rPr>
              <a:t>i</a:t>
            </a:r>
            <a:r>
              <a:rPr sz="1400" b="0" i="0">
                <a:solidFill>
                  <a:srgbClr val="1F3864"/>
                </a:solidFill>
                <a:latin typeface="Cambria Math"/>
              </a:rPr>
              <a:t> − μ̂</a:t>
            </a:r>
            <a:r>
              <a:rPr sz="1000" b="0" i="0">
                <a:solidFill>
                  <a:srgbClr val="1F3864"/>
                </a:solidFill>
                <a:latin typeface="Cambria Math"/>
              </a:rPr>
              <a:t>i</a:t>
            </a:r>
            <a:r>
              <a:rPr sz="1400" b="0" i="0">
                <a:solidFill>
                  <a:srgbClr val="1F3864"/>
                </a:solidFill>
                <a:latin typeface="Cambria Math"/>
              </a:rPr>
              <a:t>| / max(σ̂</a:t>
            </a:r>
            <a:r>
              <a:rPr sz="1000" b="0" i="0">
                <a:solidFill>
                  <a:srgbClr val="1F3864"/>
                </a:solidFill>
                <a:latin typeface="Cambria Math"/>
              </a:rPr>
              <a:t>i</a:t>
            </a:r>
            <a:r>
              <a:rPr sz="1400" b="0" i="0">
                <a:solidFill>
                  <a:srgbClr val="1F3864"/>
                </a:solidFill>
                <a:latin typeface="Cambria Math"/>
              </a:rPr>
              <a:t>, 10⁻⁸)        →        [ μ̂</a:t>
            </a:r>
            <a:r>
              <a:rPr sz="1000" b="0" i="0">
                <a:solidFill>
                  <a:srgbClr val="1F3864"/>
                </a:solidFill>
                <a:latin typeface="Cambria Math"/>
              </a:rPr>
              <a:t>i</a:t>
            </a:r>
            <a:r>
              <a:rPr sz="1400" b="0" i="0">
                <a:solidFill>
                  <a:srgbClr val="1F3864"/>
                </a:solidFill>
                <a:latin typeface="Cambria Math"/>
              </a:rPr>
              <a:t> ± q̂ σ̂</a:t>
            </a:r>
            <a:r>
              <a:rPr sz="1000" b="0" i="0">
                <a:solidFill>
                  <a:srgbClr val="1F3864"/>
                </a:solidFill>
                <a:latin typeface="Cambria Math"/>
              </a:rPr>
              <a:t>i</a:t>
            </a:r>
            <a:r>
              <a:rPr sz="1400" b="0" i="0">
                <a:solidFill>
                  <a:srgbClr val="1F3864"/>
                </a:solidFill>
                <a:latin typeface="Cambria Math"/>
              </a:rPr>
              <a:t> ]</a:t>
            </a:r>
            <a:r>
              <a:rPr sz="1000" b="0" i="0">
                <a:solidFill>
                  <a:srgbClr val="6E6E6E"/>
                </a:solidFill>
                <a:latin typeface="Calibri"/>
              </a:rPr>
              <a:t>   (7)</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Held-out cohort split into equal calibration and evaluation halves</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q̂ = finite-sample corrected (1 − α) quantile, α = 0.05</a:t>
            </a:r>
          </a:p>
          <a:p>
            <a:pPr>
              <a:lnSpc>
                <a:spcPct val="118000"/>
              </a:lnSpc>
              <a:spcBef>
                <a:spcPts val="0"/>
              </a:spcBef>
              <a:spcAft>
                <a:spcPts val="600"/>
              </a:spcAft>
            </a:pPr>
            <a:r>
              <a:rPr sz="1150" b="0" i="0">
                <a:solidFill>
                  <a:srgbClr val="2E75B6"/>
                </a:solidFill>
                <a:latin typeface="Calibri"/>
              </a:rPr>
              <a:t>– </a:t>
            </a:r>
            <a:r>
              <a:rPr sz="1150" b="0" i="0">
                <a:solidFill>
                  <a:srgbClr val="2E2E2E"/>
                </a:solidFill>
                <a:latin typeface="Calibri"/>
              </a:rPr>
              <a:t>Tests whether the learned uncertainty scale can be corrected post hoc to nominal marginal coverage (Angelopoulos &amp; Bates, 2021)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Pre-Specified Evaluation Criteria</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dirty="0">
                <a:solidFill>
                  <a:srgbClr val="6E6E6E"/>
                </a:solidFill>
                <a:latin typeface="Calibri"/>
              </a:rPr>
              <a:t>Fixed before external clinical evaluation — stated in advance to constrain interpretation.</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10</a:t>
            </a:r>
          </a:p>
        </p:txBody>
      </p:sp>
      <p:sp>
        <p:nvSpPr>
          <p:cNvPr id="7" name="Rectangle 6"/>
          <p:cNvSpPr/>
          <p:nvPr/>
        </p:nvSpPr>
        <p:spPr>
          <a:xfrm>
            <a:off x="566928" y="1481328"/>
            <a:ext cx="539175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45720" cy="9875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68096" y="1700784"/>
            <a:ext cx="329184" cy="329184"/>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1</a:t>
            </a:r>
          </a:p>
        </p:txBody>
      </p:sp>
      <p:sp>
        <p:nvSpPr>
          <p:cNvPr id="10" name="TextBox 9"/>
          <p:cNvSpPr txBox="1"/>
          <p:nvPr/>
        </p:nvSpPr>
        <p:spPr>
          <a:xfrm>
            <a:off x="1225295" y="1609344"/>
            <a:ext cx="452307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Primary point accuracy</a:t>
            </a:r>
          </a:p>
          <a:p>
            <a:pPr algn="l">
              <a:lnSpc>
                <a:spcPct val="118000"/>
              </a:lnSpc>
              <a:spcBef>
                <a:spcPts val="0"/>
              </a:spcBef>
              <a:spcAft>
                <a:spcPts val="0"/>
              </a:spcAft>
            </a:pPr>
            <a:r>
              <a:rPr sz="1080" b="0" i="0">
                <a:solidFill>
                  <a:srgbClr val="6E6E6E"/>
                </a:solidFill>
                <a:latin typeface="Calibri"/>
              </a:rPr>
              <a:t>At σ = 0.05, a physics-informed model beats NLLS for a parameter family when its held-out MAE is lower. MAE is primary because it stays in natural units.</a:t>
            </a:r>
          </a:p>
        </p:txBody>
      </p:sp>
      <p:sp>
        <p:nvSpPr>
          <p:cNvPr id="11" name="Rectangle 10"/>
          <p:cNvSpPr/>
          <p:nvPr/>
        </p:nvSpPr>
        <p:spPr>
          <a:xfrm>
            <a:off x="6233007" y="1481328"/>
            <a:ext cx="539175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33007" y="1481328"/>
            <a:ext cx="45720" cy="9875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34175" y="1700784"/>
            <a:ext cx="329184" cy="329184"/>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2</a:t>
            </a:r>
          </a:p>
        </p:txBody>
      </p:sp>
      <p:sp>
        <p:nvSpPr>
          <p:cNvPr id="14" name="TextBox 13"/>
          <p:cNvSpPr txBox="1"/>
          <p:nvPr/>
        </p:nvSpPr>
        <p:spPr>
          <a:xfrm>
            <a:off x="6891375" y="1609344"/>
            <a:ext cx="452307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Noise robustness</a:t>
            </a:r>
          </a:p>
          <a:p>
            <a:pPr algn="l">
              <a:lnSpc>
                <a:spcPct val="118000"/>
              </a:lnSpc>
              <a:spcBef>
                <a:spcPts val="0"/>
              </a:spcBef>
              <a:spcAft>
                <a:spcPts val="0"/>
              </a:spcAft>
            </a:pPr>
            <a:r>
              <a:rPr sz="1080" b="0" i="0">
                <a:solidFill>
                  <a:srgbClr val="6E6E6E"/>
                </a:solidFill>
                <a:latin typeface="Calibri"/>
              </a:rPr>
              <a:t>Performance inspected across all four σ. A useful model degrades gradually rather than failing abruptly at the clinical reference level.</a:t>
            </a:r>
          </a:p>
        </p:txBody>
      </p:sp>
      <p:sp>
        <p:nvSpPr>
          <p:cNvPr id="15" name="Rectangle 14"/>
          <p:cNvSpPr/>
          <p:nvPr/>
        </p:nvSpPr>
        <p:spPr>
          <a:xfrm>
            <a:off x="566928" y="2560320"/>
            <a:ext cx="539175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2560320"/>
            <a:ext cx="45720" cy="9875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68096" y="2779776"/>
            <a:ext cx="329184" cy="329184"/>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3</a:t>
            </a:r>
          </a:p>
        </p:txBody>
      </p:sp>
      <p:sp>
        <p:nvSpPr>
          <p:cNvPr id="18" name="TextBox 17"/>
          <p:cNvSpPr txBox="1"/>
          <p:nvPr/>
        </p:nvSpPr>
        <p:spPr>
          <a:xfrm>
            <a:off x="1225295" y="2688336"/>
            <a:ext cx="452307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Agreement</a:t>
            </a:r>
          </a:p>
          <a:p>
            <a:pPr algn="l">
              <a:lnSpc>
                <a:spcPct val="118000"/>
              </a:lnSpc>
              <a:spcBef>
                <a:spcPts val="0"/>
              </a:spcBef>
              <a:spcAft>
                <a:spcPts val="0"/>
              </a:spcAft>
            </a:pPr>
            <a:r>
              <a:rPr sz="1080" b="0" i="0">
                <a:solidFill>
                  <a:srgbClr val="6E6E6E"/>
                </a:solidFill>
                <a:latin typeface="Calibri"/>
              </a:rPr>
              <a:t>R² and Pearson r are interpreted alongside MAE. High correlation alone is not evidence of accurate absolute recovery.</a:t>
            </a:r>
          </a:p>
        </p:txBody>
      </p:sp>
      <p:sp>
        <p:nvSpPr>
          <p:cNvPr id="19" name="Rectangle 18"/>
          <p:cNvSpPr/>
          <p:nvPr/>
        </p:nvSpPr>
        <p:spPr>
          <a:xfrm>
            <a:off x="6233007" y="2560320"/>
            <a:ext cx="539175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3007" y="2560320"/>
            <a:ext cx="45720" cy="987552"/>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34175" y="2779776"/>
            <a:ext cx="329184" cy="329184"/>
          </a:xfrm>
          <a:prstGeom prst="ellipse">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4</a:t>
            </a:r>
          </a:p>
        </p:txBody>
      </p:sp>
      <p:sp>
        <p:nvSpPr>
          <p:cNvPr id="22" name="TextBox 21"/>
          <p:cNvSpPr txBox="1"/>
          <p:nvPr/>
        </p:nvSpPr>
        <p:spPr>
          <a:xfrm>
            <a:off x="6891375" y="2688336"/>
            <a:ext cx="452307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Raw uncertainty</a:t>
            </a:r>
          </a:p>
          <a:p>
            <a:pPr algn="l">
              <a:lnSpc>
                <a:spcPct val="118000"/>
              </a:lnSpc>
              <a:spcBef>
                <a:spcPts val="0"/>
              </a:spcBef>
              <a:spcAft>
                <a:spcPts val="0"/>
              </a:spcAft>
            </a:pPr>
            <a:r>
              <a:rPr sz="1080" b="0" i="0">
                <a:solidFill>
                  <a:srgbClr val="6E6E6E"/>
                </a:solidFill>
                <a:latin typeface="Calibri"/>
              </a:rPr>
              <a:t>A nominal 95% interval counts as adequately calibrated when |Ĉ₀.₉₅ − 0.95| ≤ 0.05 on held-out data.</a:t>
            </a:r>
          </a:p>
        </p:txBody>
      </p:sp>
      <p:sp>
        <p:nvSpPr>
          <p:cNvPr id="23" name="Rectangle 22"/>
          <p:cNvSpPr/>
          <p:nvPr/>
        </p:nvSpPr>
        <p:spPr>
          <a:xfrm>
            <a:off x="566928" y="3639312"/>
            <a:ext cx="539175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66928" y="3639312"/>
            <a:ext cx="45720" cy="987552"/>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68096" y="3858768"/>
            <a:ext cx="329184" cy="329184"/>
          </a:xfrm>
          <a:prstGeom prst="ellipse">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5</a:t>
            </a:r>
          </a:p>
        </p:txBody>
      </p:sp>
      <p:sp>
        <p:nvSpPr>
          <p:cNvPr id="26" name="TextBox 25"/>
          <p:cNvSpPr txBox="1"/>
          <p:nvPr/>
        </p:nvSpPr>
        <p:spPr>
          <a:xfrm>
            <a:off x="1225295" y="3767328"/>
            <a:ext cx="452307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Posterior structure</a:t>
            </a:r>
          </a:p>
          <a:p>
            <a:pPr algn="l">
              <a:lnSpc>
                <a:spcPct val="118000"/>
              </a:lnSpc>
              <a:spcBef>
                <a:spcPts val="0"/>
              </a:spcBef>
              <a:spcAft>
                <a:spcPts val="0"/>
              </a:spcAft>
            </a:pPr>
            <a:r>
              <a:rPr sz="1080" b="0" i="0">
                <a:solidFill>
                  <a:srgbClr val="6E6E6E"/>
                </a:solidFill>
                <a:latin typeface="Calibri"/>
              </a:rPr>
              <a:t>Evidence that FullILR changes raw coverage requires the paired bootstrap 95% interval for Δ to exclude zero. Coverage bought only with excessively wide intervals is not an improvement.</a:t>
            </a:r>
          </a:p>
        </p:txBody>
      </p:sp>
      <p:sp>
        <p:nvSpPr>
          <p:cNvPr id="27" name="Rectangle 26"/>
          <p:cNvSpPr/>
          <p:nvPr/>
        </p:nvSpPr>
        <p:spPr>
          <a:xfrm>
            <a:off x="6233007" y="3639312"/>
            <a:ext cx="539175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3007" y="3639312"/>
            <a:ext cx="45720" cy="987552"/>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34175" y="3858768"/>
            <a:ext cx="329184" cy="329184"/>
          </a:xfrm>
          <a:prstGeom prst="ellipse">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6</a:t>
            </a:r>
          </a:p>
        </p:txBody>
      </p:sp>
      <p:sp>
        <p:nvSpPr>
          <p:cNvPr id="30" name="TextBox 29"/>
          <p:cNvSpPr txBox="1"/>
          <p:nvPr/>
        </p:nvSpPr>
        <p:spPr>
          <a:xfrm>
            <a:off x="6891375" y="3767328"/>
            <a:ext cx="452307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Conformal sharpness</a:t>
            </a:r>
          </a:p>
          <a:p>
            <a:pPr algn="l">
              <a:lnSpc>
                <a:spcPct val="118000"/>
              </a:lnSpc>
              <a:spcBef>
                <a:spcPts val="0"/>
              </a:spcBef>
              <a:spcAft>
                <a:spcPts val="0"/>
              </a:spcAft>
            </a:pPr>
            <a:r>
              <a:rPr sz="1080" b="0" i="0">
                <a:solidFill>
                  <a:srgbClr val="6E6E6E"/>
                </a:solidFill>
                <a:latin typeface="Calibri"/>
              </a:rPr>
              <a:t>Among models reaching approximately 95% conformal coverage, smaller mean interval width indicates greater sharpness.</a:t>
            </a:r>
          </a:p>
        </p:txBody>
      </p:sp>
      <p:sp>
        <p:nvSpPr>
          <p:cNvPr id="31" name="Rectangle 30"/>
          <p:cNvSpPr/>
          <p:nvPr/>
        </p:nvSpPr>
        <p:spPr>
          <a:xfrm>
            <a:off x="566928" y="4718304"/>
            <a:ext cx="11057839" cy="987552"/>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66928" y="4718304"/>
            <a:ext cx="45720" cy="987552"/>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68096" y="4937760"/>
            <a:ext cx="329184" cy="329184"/>
          </a:xfrm>
          <a:prstGeom prst="ellipse">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Calibri"/>
              </a:rPr>
              <a:t>7</a:t>
            </a:r>
          </a:p>
        </p:txBody>
      </p:sp>
      <p:sp>
        <p:nvSpPr>
          <p:cNvPr id="34" name="TextBox 33"/>
          <p:cNvSpPr txBox="1"/>
          <p:nvPr/>
        </p:nvSpPr>
        <p:spPr>
          <a:xfrm>
            <a:off x="1225295" y="4846320"/>
            <a:ext cx="10189159" cy="804672"/>
          </a:xfrm>
          <a:prstGeom prst="rect">
            <a:avLst/>
          </a:prstGeom>
          <a:noFill/>
        </p:spPr>
        <p:txBody>
          <a:bodyPr wrap="square" lIns="0" tIns="0" rIns="0" bIns="0" anchor="t">
            <a:spAutoFit/>
          </a:bodyPr>
          <a:lstStyle/>
          <a:p>
            <a:pPr algn="l">
              <a:lnSpc>
                <a:spcPct val="115000"/>
              </a:lnSpc>
              <a:spcBef>
                <a:spcPts val="0"/>
              </a:spcBef>
              <a:spcAft>
                <a:spcPts val="300"/>
              </a:spcAft>
            </a:pPr>
            <a:r>
              <a:rPr sz="1250" b="1" i="0">
                <a:solidFill>
                  <a:srgbClr val="1F3864"/>
                </a:solidFill>
                <a:latin typeface="Calibri"/>
              </a:rPr>
              <a:t>Reconstruction</a:t>
            </a:r>
          </a:p>
          <a:p>
            <a:pPr algn="l">
              <a:lnSpc>
                <a:spcPct val="118000"/>
              </a:lnSpc>
              <a:spcBef>
                <a:spcPts val="0"/>
              </a:spcBef>
              <a:spcAft>
                <a:spcPts val="0"/>
              </a:spcAft>
            </a:pPr>
            <a:r>
              <a:rPr sz="1080" b="0" i="0">
                <a:solidFill>
                  <a:srgbClr val="6E6E6E"/>
                </a:solidFill>
                <a:latin typeface="Calibri"/>
              </a:rPr>
              <a:t>Reconstruction loss is a training diagnostic only — low reconstruction error is insufficient because multiple parameter combinations generate similar signals.</a:t>
            </a:r>
          </a:p>
        </p:txBody>
      </p:sp>
      <p:sp>
        <p:nvSpPr>
          <p:cNvPr id="35" name="TextBox 34"/>
          <p:cNvSpPr txBox="1"/>
          <p:nvPr/>
        </p:nvSpPr>
        <p:spPr>
          <a:xfrm>
            <a:off x="566928" y="5888736"/>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1F3864"/>
                </a:solidFill>
                <a:latin typeface="Calibri"/>
              </a:rPr>
              <a:t>Reporting:  </a:t>
            </a:r>
            <a:r>
              <a:rPr sz="1150" b="0" i="0">
                <a:solidFill>
                  <a:srgbClr val="6E6E6E"/>
                </a:solidFill>
                <a:latin typeface="Calibri"/>
              </a:rPr>
              <a:t>evaluation tables report D, T₂, and v separately. For Tier 2, coverage and interval widths are additionally reported for all nine compartment-specific parameters.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Limitations and Threats to Validity</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Stated up front — several of these bound what the synthetic tier can support.</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11</a:t>
            </a:r>
          </a:p>
        </p:txBody>
      </p:sp>
      <p:sp>
        <p:nvSpPr>
          <p:cNvPr id="7" name="Rectangle 6"/>
          <p:cNvSpPr/>
          <p:nvPr/>
        </p:nvSpPr>
        <p:spPr>
          <a:xfrm>
            <a:off x="566928" y="1481328"/>
            <a:ext cx="3533546" cy="4315968"/>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3533546"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682496"/>
            <a:ext cx="3076346"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2E75B6"/>
                </a:solidFill>
                <a:latin typeface="Calibri"/>
              </a:rPr>
              <a:t>DESIGN VALIDITY</a:t>
            </a:r>
          </a:p>
        </p:txBody>
      </p:sp>
      <p:sp>
        <p:nvSpPr>
          <p:cNvPr id="10" name="TextBox 9"/>
          <p:cNvSpPr txBox="1"/>
          <p:nvPr/>
        </p:nvSpPr>
        <p:spPr>
          <a:xfrm>
            <a:off x="804672" y="2139696"/>
            <a:ext cx="3076346" cy="1091183"/>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Synthetic-data validity</a:t>
            </a:r>
          </a:p>
          <a:p>
            <a:pPr algn="l">
              <a:lnSpc>
                <a:spcPct val="117000"/>
              </a:lnSpc>
              <a:spcBef>
                <a:spcPts val="0"/>
              </a:spcBef>
              <a:spcAft>
                <a:spcPts val="0"/>
              </a:spcAft>
            </a:pPr>
            <a:r>
              <a:rPr sz="1019" b="0" i="0">
                <a:solidFill>
                  <a:srgbClr val="6E6E6E"/>
                </a:solidFill>
                <a:latin typeface="Calibri"/>
              </a:rPr>
              <a:t>The same forward equation generates the data and decodes predictions — an inverse crime. Clinical MRI adds misspecification, motion, and unmodeled compartments. Establishes feasibility, not validity.</a:t>
            </a:r>
          </a:p>
        </p:txBody>
      </p:sp>
      <p:sp>
        <p:nvSpPr>
          <p:cNvPr id="11" name="TextBox 10"/>
          <p:cNvSpPr txBox="1"/>
          <p:nvPr/>
        </p:nvSpPr>
        <p:spPr>
          <a:xfrm>
            <a:off x="804672" y="3322319"/>
            <a:ext cx="3076346" cy="1091183"/>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Population-prior dependence</a:t>
            </a:r>
          </a:p>
          <a:p>
            <a:pPr algn="l">
              <a:lnSpc>
                <a:spcPct val="117000"/>
              </a:lnSpc>
              <a:spcBef>
                <a:spcPts val="0"/>
              </a:spcBef>
              <a:spcAft>
                <a:spcPts val="0"/>
              </a:spcAft>
            </a:pPr>
            <a:r>
              <a:rPr sz="1019" b="0" i="0">
                <a:solidFill>
                  <a:srgbClr val="6E6E6E"/>
                </a:solidFill>
                <a:latin typeface="Calibri"/>
              </a:rPr>
              <a:t>Estimators learn from fixed ranges and one hierarchical generator. Apparent performance may partly reflect shrinkage toward the synthetic population.</a:t>
            </a:r>
          </a:p>
        </p:txBody>
      </p:sp>
      <p:sp>
        <p:nvSpPr>
          <p:cNvPr id="12" name="TextBox 11"/>
          <p:cNvSpPr txBox="1"/>
          <p:nvPr/>
        </p:nvSpPr>
        <p:spPr>
          <a:xfrm>
            <a:off x="804672" y="4504943"/>
            <a:ext cx="3076346" cy="1091183"/>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No spatial or diagnostic endpoint</a:t>
            </a:r>
          </a:p>
          <a:p>
            <a:pPr algn="l">
              <a:lnSpc>
                <a:spcPct val="117000"/>
              </a:lnSpc>
              <a:spcBef>
                <a:spcPts val="0"/>
              </a:spcBef>
              <a:spcAft>
                <a:spcPts val="0"/>
              </a:spcAft>
            </a:pPr>
            <a:r>
              <a:rPr sz="1019" b="0" i="0">
                <a:solidFill>
                  <a:srgbClr val="6E6E6E"/>
                </a:solidFill>
                <a:latin typeface="Calibri"/>
              </a:rPr>
              <a:t>Voxels are estimated independently. No test of cancer classification, biopsy avoidance, or patient outcomes.</a:t>
            </a:r>
          </a:p>
        </p:txBody>
      </p:sp>
      <p:sp>
        <p:nvSpPr>
          <p:cNvPr id="13" name="Rectangle 12"/>
          <p:cNvSpPr/>
          <p:nvPr/>
        </p:nvSpPr>
        <p:spPr>
          <a:xfrm>
            <a:off x="4329074" y="1481328"/>
            <a:ext cx="3533546" cy="4315968"/>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9074" y="1481328"/>
            <a:ext cx="3533546" cy="45720"/>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6818" y="1682496"/>
            <a:ext cx="3076346"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1F7A72"/>
                </a:solidFill>
                <a:latin typeface="Calibri"/>
              </a:rPr>
              <a:t>STATISTICAL POWER</a:t>
            </a:r>
          </a:p>
        </p:txBody>
      </p:sp>
      <p:sp>
        <p:nvSpPr>
          <p:cNvPr id="16" name="TextBox 15"/>
          <p:cNvSpPr txBox="1"/>
          <p:nvPr/>
        </p:nvSpPr>
        <p:spPr>
          <a:xfrm>
            <a:off x="4566818" y="2139696"/>
            <a:ext cx="3076346" cy="1091183"/>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Effective sample size</a:t>
            </a:r>
          </a:p>
          <a:p>
            <a:pPr algn="l">
              <a:lnSpc>
                <a:spcPct val="117000"/>
              </a:lnSpc>
              <a:spcBef>
                <a:spcPts val="0"/>
              </a:spcBef>
              <a:spcAft>
                <a:spcPts val="0"/>
              </a:spcAft>
            </a:pPr>
            <a:r>
              <a:rPr sz="1019" b="0" i="0">
                <a:solidFill>
                  <a:srgbClr val="6E6E6E"/>
                </a:solidFill>
                <a:latin typeface="Calibri"/>
              </a:rPr>
              <a:t>Bootstrapping multiplies records, not biology. Effective biological n remains bounded by the 80 base patients.</a:t>
            </a:r>
          </a:p>
        </p:txBody>
      </p:sp>
      <p:sp>
        <p:nvSpPr>
          <p:cNvPr id="17" name="TextBox 16"/>
          <p:cNvSpPr txBox="1"/>
          <p:nvPr/>
        </p:nvSpPr>
        <p:spPr>
          <a:xfrm>
            <a:off x="4566818" y="3074688"/>
            <a:ext cx="3076346" cy="1091183"/>
          </a:xfrm>
          <a:prstGeom prst="rect">
            <a:avLst/>
          </a:prstGeom>
          <a:noFill/>
        </p:spPr>
        <p:txBody>
          <a:bodyPr wrap="square" lIns="0" tIns="0" rIns="0" bIns="0" anchor="t">
            <a:spAutoFit/>
          </a:bodyPr>
          <a:lstStyle/>
          <a:p>
            <a:pPr algn="l">
              <a:lnSpc>
                <a:spcPct val="115000"/>
              </a:lnSpc>
              <a:spcBef>
                <a:spcPts val="0"/>
              </a:spcBef>
              <a:spcAft>
                <a:spcPts val="300"/>
              </a:spcAft>
            </a:pPr>
            <a:r>
              <a:rPr sz="1180" b="1" i="0" dirty="0">
                <a:solidFill>
                  <a:srgbClr val="1F3864"/>
                </a:solidFill>
                <a:latin typeface="Calibri"/>
              </a:rPr>
              <a:t>Patient clustering</a:t>
            </a:r>
          </a:p>
          <a:p>
            <a:pPr algn="l">
              <a:lnSpc>
                <a:spcPct val="117000"/>
              </a:lnSpc>
              <a:spcBef>
                <a:spcPts val="0"/>
              </a:spcBef>
              <a:spcAft>
                <a:spcPts val="0"/>
              </a:spcAft>
            </a:pPr>
            <a:r>
              <a:rPr sz="1019" b="0" i="0" dirty="0">
                <a:solidFill>
                  <a:srgbClr val="6E6E6E"/>
                </a:solidFill>
                <a:latin typeface="Calibri"/>
              </a:rPr>
              <a:t>Voxels within a patient share phenotype. Point metrics flatten voxel-compartment values and the Tier 2 bootstrap resamples voxels, not patients — this may understate uncertainty. A patient-cluster bootstrap is preferable.</a:t>
            </a:r>
          </a:p>
        </p:txBody>
      </p:sp>
      <p:sp>
        <p:nvSpPr>
          <p:cNvPr id="18" name="TextBox 17"/>
          <p:cNvSpPr txBox="1"/>
          <p:nvPr/>
        </p:nvSpPr>
        <p:spPr>
          <a:xfrm>
            <a:off x="4566818" y="4504943"/>
            <a:ext cx="3076346" cy="1091183"/>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Small focused test cohort</a:t>
            </a:r>
          </a:p>
          <a:p>
            <a:pPr algn="l">
              <a:lnSpc>
                <a:spcPct val="117000"/>
              </a:lnSpc>
              <a:spcBef>
                <a:spcPts val="0"/>
              </a:spcBef>
              <a:spcAft>
                <a:spcPts val="0"/>
              </a:spcAft>
            </a:pPr>
            <a:r>
              <a:rPr sz="1019" b="0" i="0">
                <a:solidFill>
                  <a:srgbClr val="6E6E6E"/>
                </a:solidFill>
                <a:latin typeface="Calibri"/>
              </a:rPr>
              <a:t>240 voxels from 24 patients, split into two ≈120-voxel halves for conformal calibration. Compartment-level coverage estimates can be variable.</a:t>
            </a:r>
          </a:p>
        </p:txBody>
      </p:sp>
      <p:sp>
        <p:nvSpPr>
          <p:cNvPr id="19" name="Rectangle 18"/>
          <p:cNvSpPr/>
          <p:nvPr/>
        </p:nvSpPr>
        <p:spPr>
          <a:xfrm>
            <a:off x="8091220" y="1481328"/>
            <a:ext cx="3533546" cy="4315968"/>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91220" y="1481328"/>
            <a:ext cx="3533546" cy="45720"/>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8964" y="1682496"/>
            <a:ext cx="3076346" cy="274320"/>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A9630A"/>
                </a:solidFill>
                <a:latin typeface="Calibri"/>
              </a:rPr>
              <a:t>IMPLEMENTATION &amp; INFERENCE</a:t>
            </a:r>
          </a:p>
        </p:txBody>
      </p:sp>
      <p:sp>
        <p:nvSpPr>
          <p:cNvPr id="22" name="TextBox 21"/>
          <p:cNvSpPr txBox="1"/>
          <p:nvPr/>
        </p:nvSpPr>
        <p:spPr>
          <a:xfrm>
            <a:off x="8328964" y="2139696"/>
            <a:ext cx="3076346" cy="795528"/>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NLLS simplex constraint</a:t>
            </a:r>
          </a:p>
          <a:p>
            <a:pPr algn="l">
              <a:lnSpc>
                <a:spcPct val="117000"/>
              </a:lnSpc>
              <a:spcBef>
                <a:spcPts val="0"/>
              </a:spcBef>
              <a:spcAft>
                <a:spcPts val="0"/>
              </a:spcAft>
            </a:pPr>
            <a:r>
              <a:rPr sz="1019" b="0" i="0">
                <a:solidFill>
                  <a:srgbClr val="6E6E6E"/>
                </a:solidFill>
                <a:latin typeface="Calibri"/>
              </a:rPr>
              <a:t>v_ep + v_st ≤ 1 is not imposed during optimization, so a negative derived lumen fraction is possible.</a:t>
            </a:r>
          </a:p>
        </p:txBody>
      </p:sp>
      <p:sp>
        <p:nvSpPr>
          <p:cNvPr id="23" name="TextBox 22"/>
          <p:cNvSpPr txBox="1"/>
          <p:nvPr/>
        </p:nvSpPr>
        <p:spPr>
          <a:xfrm>
            <a:off x="8328964" y="3026663"/>
            <a:ext cx="3076346" cy="795528"/>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Model-selection bias</a:t>
            </a:r>
          </a:p>
          <a:p>
            <a:pPr algn="l">
              <a:lnSpc>
                <a:spcPct val="117000"/>
              </a:lnSpc>
              <a:spcBef>
                <a:spcPts val="0"/>
              </a:spcBef>
              <a:spcAft>
                <a:spcPts val="0"/>
              </a:spcAft>
            </a:pPr>
            <a:r>
              <a:rPr sz="1019" b="0" i="0">
                <a:solidFill>
                  <a:srgbClr val="6E6E6E"/>
                </a:solidFill>
                <a:latin typeface="Calibri"/>
              </a:rPr>
              <a:t>Variants and β values examined on a common reference cohort with no distinct validation split.</a:t>
            </a:r>
          </a:p>
        </p:txBody>
      </p:sp>
      <p:sp>
        <p:nvSpPr>
          <p:cNvPr id="24" name="TextBox 23"/>
          <p:cNvSpPr txBox="1"/>
          <p:nvPr/>
        </p:nvSpPr>
        <p:spPr>
          <a:xfrm>
            <a:off x="8328964" y="3913631"/>
            <a:ext cx="3076346" cy="795528"/>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Single seed, fixed hyperparameters</a:t>
            </a:r>
          </a:p>
          <a:p>
            <a:pPr algn="l">
              <a:lnSpc>
                <a:spcPct val="117000"/>
              </a:lnSpc>
              <a:spcBef>
                <a:spcPts val="0"/>
              </a:spcBef>
              <a:spcAft>
                <a:spcPts val="0"/>
              </a:spcAft>
            </a:pPr>
            <a:r>
              <a:rPr sz="1019" b="0" i="0">
                <a:solidFill>
                  <a:srgbClr val="6E6E6E"/>
                </a:solidFill>
                <a:latin typeface="Calibri"/>
              </a:rPr>
              <a:t>Differences may be sensitive to initialization, optimizer noise, width, and free-bits.</a:t>
            </a:r>
          </a:p>
        </p:txBody>
      </p:sp>
      <p:sp>
        <p:nvSpPr>
          <p:cNvPr id="25" name="TextBox 24"/>
          <p:cNvSpPr txBox="1"/>
          <p:nvPr/>
        </p:nvSpPr>
        <p:spPr>
          <a:xfrm>
            <a:off x="8328964" y="4800599"/>
            <a:ext cx="3076346" cy="795528"/>
          </a:xfrm>
          <a:prstGeom prst="rect">
            <a:avLst/>
          </a:prstGeom>
          <a:noFill/>
        </p:spPr>
        <p:txBody>
          <a:bodyPr wrap="square" lIns="0" tIns="0" rIns="0" bIns="0" anchor="t">
            <a:spAutoFit/>
          </a:bodyPr>
          <a:lstStyle/>
          <a:p>
            <a:pPr algn="l">
              <a:lnSpc>
                <a:spcPct val="115000"/>
              </a:lnSpc>
              <a:spcBef>
                <a:spcPts val="0"/>
              </a:spcBef>
              <a:spcAft>
                <a:spcPts val="300"/>
              </a:spcAft>
            </a:pPr>
            <a:r>
              <a:rPr sz="1180" b="1" i="0">
                <a:solidFill>
                  <a:srgbClr val="1F3864"/>
                </a:solidFill>
                <a:latin typeface="Calibri"/>
              </a:rPr>
              <a:t>Uncertainty interpretation</a:t>
            </a:r>
          </a:p>
          <a:p>
            <a:pPr algn="l">
              <a:lnSpc>
                <a:spcPct val="117000"/>
              </a:lnSpc>
              <a:spcBef>
                <a:spcPts val="0"/>
              </a:spcBef>
              <a:spcAft>
                <a:spcPts val="0"/>
              </a:spcAft>
            </a:pPr>
            <a:r>
              <a:rPr sz="1019" b="0" i="0">
                <a:solidFill>
                  <a:srgbClr val="6E6E6E"/>
                </a:solidFill>
                <a:latin typeface="Calibri"/>
              </a:rPr>
              <a:t>MC variability misses model-form error and population or acquisition shift. Conformal gives marginal, not conditional, coverage.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Not Yet Implemented — Planned Work</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60704"/>
            <a:ext cx="11057839" cy="256032"/>
          </a:xfrm>
          <a:prstGeom prst="rect">
            <a:avLst/>
          </a:prstGeom>
          <a:noFill/>
        </p:spPr>
        <p:txBody>
          <a:bodyPr wrap="square" lIns="0" tIns="0" rIns="0" bIns="0" anchor="t">
            <a:spAutoFit/>
          </a:bodyPr>
          <a:lstStyle/>
          <a:p>
            <a:pPr algn="l">
              <a:lnSpc>
                <a:spcPct val="115000"/>
              </a:lnSpc>
              <a:spcBef>
                <a:spcPts val="0"/>
              </a:spcBef>
              <a:spcAft>
                <a:spcPts val="0"/>
              </a:spcAft>
            </a:pPr>
            <a:r>
              <a:rPr sz="1250" b="0" i="1">
                <a:solidFill>
                  <a:srgbClr val="6E6E6E"/>
                </a:solidFill>
                <a:latin typeface="Calibri"/>
              </a:rPr>
              <a:t>Explicitly marked in the methodology; none of these are represented in the current repository.</a:t>
            </a:r>
          </a:p>
        </p:txBody>
      </p:sp>
      <p:sp>
        <p:nvSpPr>
          <p:cNvPr id="5" name="TextBox 4"/>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6" name="TextBox 5"/>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12</a:t>
            </a:r>
          </a:p>
        </p:txBody>
      </p:sp>
      <p:sp>
        <p:nvSpPr>
          <p:cNvPr id="7" name="Rectangle 6"/>
          <p:cNvSpPr/>
          <p:nvPr/>
        </p:nvSpPr>
        <p:spPr>
          <a:xfrm>
            <a:off x="566928" y="1481328"/>
            <a:ext cx="11057839" cy="932688"/>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481328"/>
            <a:ext cx="45720" cy="932688"/>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636776"/>
            <a:ext cx="2834640" cy="640080"/>
          </a:xfrm>
          <a:prstGeom prst="rect">
            <a:avLst/>
          </a:prstGeom>
          <a:noFill/>
        </p:spPr>
        <p:txBody>
          <a:bodyPr wrap="square" lIns="0" tIns="0" rIns="0" bIns="0" anchor="t">
            <a:spAutoFit/>
          </a:bodyPr>
          <a:lstStyle/>
          <a:p>
            <a:pPr algn="l">
              <a:lnSpc>
                <a:spcPct val="115000"/>
              </a:lnSpc>
              <a:spcBef>
                <a:spcPts val="0"/>
              </a:spcBef>
              <a:spcAft>
                <a:spcPts val="400"/>
              </a:spcAft>
            </a:pPr>
            <a:r>
              <a:rPr sz="1350" b="1" i="0">
                <a:solidFill>
                  <a:srgbClr val="1F3864"/>
                </a:solidFill>
                <a:latin typeface="Calibri"/>
              </a:rPr>
              <a:t>Spearman rank agreement</a:t>
            </a:r>
          </a:p>
          <a:p>
            <a:pPr algn="l">
              <a:lnSpc>
                <a:spcPct val="115000"/>
              </a:lnSpc>
              <a:spcBef>
                <a:spcPts val="0"/>
              </a:spcBef>
              <a:spcAft>
                <a:spcPts val="0"/>
              </a:spcAft>
            </a:pPr>
            <a:r>
              <a:rPr sz="950" b="1" i="0">
                <a:solidFill>
                  <a:srgbClr val="A9630A"/>
                </a:solidFill>
                <a:latin typeface="Calibri"/>
              </a:rPr>
              <a:t>ANALYSIS</a:t>
            </a:r>
          </a:p>
        </p:txBody>
      </p:sp>
      <p:sp>
        <p:nvSpPr>
          <p:cNvPr id="10" name="TextBox 9"/>
          <p:cNvSpPr txBox="1"/>
          <p:nvPr/>
        </p:nvSpPr>
        <p:spPr>
          <a:xfrm>
            <a:off x="3813048" y="1655064"/>
            <a:ext cx="7491679" cy="640080"/>
          </a:xfrm>
          <a:prstGeom prst="rect">
            <a:avLst/>
          </a:prstGeom>
          <a:noFill/>
        </p:spPr>
        <p:txBody>
          <a:bodyPr wrap="square" lIns="0" tIns="0" rIns="0" bIns="0" anchor="t">
            <a:spAutoFit/>
          </a:bodyPr>
          <a:lstStyle/>
          <a:p>
            <a:pPr algn="l">
              <a:lnSpc>
                <a:spcPct val="122000"/>
              </a:lnSpc>
              <a:spcBef>
                <a:spcPts val="0"/>
              </a:spcBef>
              <a:spcAft>
                <a:spcPts val="0"/>
              </a:spcAft>
            </a:pPr>
            <a:r>
              <a:rPr sz="1130" b="0" i="0">
                <a:solidFill>
                  <a:srgbClr val="2E2E2E"/>
                </a:solidFill>
                <a:latin typeface="Calibri"/>
              </a:rPr>
              <a:t>ρ_s = corr(R(y), R(ŷ)) with average ranks for ties. A model may preserve voxel ordering despite nonlinear scale compression. Secondary metric — will not replace MAE.</a:t>
            </a:r>
          </a:p>
        </p:txBody>
      </p:sp>
      <p:sp>
        <p:nvSpPr>
          <p:cNvPr id="11" name="Rectangle 10"/>
          <p:cNvSpPr/>
          <p:nvPr/>
        </p:nvSpPr>
        <p:spPr>
          <a:xfrm>
            <a:off x="566928" y="2523744"/>
            <a:ext cx="11057839" cy="932688"/>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2523744"/>
            <a:ext cx="45720" cy="932688"/>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7" y="2679191"/>
            <a:ext cx="2834640" cy="640080"/>
          </a:xfrm>
          <a:prstGeom prst="rect">
            <a:avLst/>
          </a:prstGeom>
          <a:noFill/>
        </p:spPr>
        <p:txBody>
          <a:bodyPr wrap="square" lIns="0" tIns="0" rIns="0" bIns="0" anchor="t">
            <a:spAutoFit/>
          </a:bodyPr>
          <a:lstStyle/>
          <a:p>
            <a:pPr algn="l">
              <a:lnSpc>
                <a:spcPct val="115000"/>
              </a:lnSpc>
              <a:spcBef>
                <a:spcPts val="0"/>
              </a:spcBef>
              <a:spcAft>
                <a:spcPts val="400"/>
              </a:spcAft>
            </a:pPr>
            <a:r>
              <a:rPr sz="1350" b="1" i="0">
                <a:solidFill>
                  <a:srgbClr val="1F3864"/>
                </a:solidFill>
                <a:latin typeface="Calibri"/>
              </a:rPr>
              <a:t>Multi-seed model stability</a:t>
            </a:r>
          </a:p>
          <a:p>
            <a:pPr algn="l">
              <a:lnSpc>
                <a:spcPct val="115000"/>
              </a:lnSpc>
              <a:spcBef>
                <a:spcPts val="0"/>
              </a:spcBef>
              <a:spcAft>
                <a:spcPts val="0"/>
              </a:spcAft>
            </a:pPr>
            <a:r>
              <a:rPr sz="950" b="1" i="0">
                <a:solidFill>
                  <a:srgbClr val="A9630A"/>
                </a:solidFill>
                <a:latin typeface="Calibri"/>
              </a:rPr>
              <a:t>ANALYSIS</a:t>
            </a:r>
          </a:p>
        </p:txBody>
      </p:sp>
      <p:sp>
        <p:nvSpPr>
          <p:cNvPr id="14" name="TextBox 13"/>
          <p:cNvSpPr txBox="1"/>
          <p:nvPr/>
        </p:nvSpPr>
        <p:spPr>
          <a:xfrm>
            <a:off x="3813048" y="2697479"/>
            <a:ext cx="7491679" cy="640080"/>
          </a:xfrm>
          <a:prstGeom prst="rect">
            <a:avLst/>
          </a:prstGeom>
          <a:noFill/>
        </p:spPr>
        <p:txBody>
          <a:bodyPr wrap="square" lIns="0" tIns="0" rIns="0" bIns="0" anchor="t">
            <a:spAutoFit/>
          </a:bodyPr>
          <a:lstStyle/>
          <a:p>
            <a:pPr algn="l">
              <a:lnSpc>
                <a:spcPct val="122000"/>
              </a:lnSpc>
              <a:spcBef>
                <a:spcPts val="0"/>
              </a:spcBef>
              <a:spcAft>
                <a:spcPts val="0"/>
              </a:spcAft>
            </a:pPr>
            <a:r>
              <a:rPr sz="1130" b="0" i="0">
                <a:solidFill>
                  <a:srgbClr val="2E2E2E"/>
                </a:solidFill>
                <a:latin typeface="Calibri"/>
              </a:rPr>
              <a:t>Retrain each final architecture with ≥ 5 independent PyTorch seeds on the same patient-level cohorts. Summarize MAE, R², coverage, and width by mean, SD, and a seed-level CI — separating architecture effects from optimizer randomness.</a:t>
            </a:r>
          </a:p>
        </p:txBody>
      </p:sp>
      <p:sp>
        <p:nvSpPr>
          <p:cNvPr id="15" name="Rectangle 14"/>
          <p:cNvSpPr/>
          <p:nvPr/>
        </p:nvSpPr>
        <p:spPr>
          <a:xfrm>
            <a:off x="566928" y="3566159"/>
            <a:ext cx="11057839" cy="932688"/>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3566159"/>
            <a:ext cx="45720" cy="932688"/>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3721607"/>
            <a:ext cx="2834640" cy="640080"/>
          </a:xfrm>
          <a:prstGeom prst="rect">
            <a:avLst/>
          </a:prstGeom>
          <a:noFill/>
        </p:spPr>
        <p:txBody>
          <a:bodyPr wrap="square" lIns="0" tIns="0" rIns="0" bIns="0" anchor="t">
            <a:spAutoFit/>
          </a:bodyPr>
          <a:lstStyle/>
          <a:p>
            <a:pPr algn="l">
              <a:lnSpc>
                <a:spcPct val="115000"/>
              </a:lnSpc>
              <a:spcBef>
                <a:spcPts val="0"/>
              </a:spcBef>
              <a:spcAft>
                <a:spcPts val="400"/>
              </a:spcAft>
            </a:pPr>
            <a:r>
              <a:rPr sz="1350" b="1" i="0">
                <a:solidFill>
                  <a:srgbClr val="1F3864"/>
                </a:solidFill>
                <a:latin typeface="Calibri"/>
              </a:rPr>
              <a:t>External clinical validation</a:t>
            </a:r>
          </a:p>
          <a:p>
            <a:pPr algn="l">
              <a:lnSpc>
                <a:spcPct val="115000"/>
              </a:lnSpc>
              <a:spcBef>
                <a:spcPts val="0"/>
              </a:spcBef>
              <a:spcAft>
                <a:spcPts val="0"/>
              </a:spcAft>
            </a:pPr>
            <a:r>
              <a:rPr sz="950" b="1" i="0">
                <a:solidFill>
                  <a:srgbClr val="A9630A"/>
                </a:solidFill>
                <a:latin typeface="Calibri"/>
              </a:rPr>
              <a:t>DATA</a:t>
            </a:r>
          </a:p>
        </p:txBody>
      </p:sp>
      <p:sp>
        <p:nvSpPr>
          <p:cNvPr id="18" name="TextBox 17"/>
          <p:cNvSpPr txBox="1"/>
          <p:nvPr/>
        </p:nvSpPr>
        <p:spPr>
          <a:xfrm>
            <a:off x="3813048" y="3739896"/>
            <a:ext cx="7491679" cy="640080"/>
          </a:xfrm>
          <a:prstGeom prst="rect">
            <a:avLst/>
          </a:prstGeom>
          <a:noFill/>
        </p:spPr>
        <p:txBody>
          <a:bodyPr wrap="square" lIns="0" tIns="0" rIns="0" bIns="0" anchor="t">
            <a:spAutoFit/>
          </a:bodyPr>
          <a:lstStyle/>
          <a:p>
            <a:pPr algn="l">
              <a:lnSpc>
                <a:spcPct val="122000"/>
              </a:lnSpc>
              <a:spcBef>
                <a:spcPts val="0"/>
              </a:spcBef>
              <a:spcAft>
                <a:spcPts val="0"/>
              </a:spcAft>
            </a:pPr>
            <a:r>
              <a:rPr sz="1130" b="0" i="0">
                <a:solidFill>
                  <a:srgbClr val="2E2E2E"/>
                </a:solidFill>
                <a:latin typeface="Calibri"/>
              </a:rPr>
              <a:t>De-identified multi-b, multi-TE prostate MRI from an independent cohort. Inclusion requires the modeled acquisition values or a documented harmonization procedure. Patient-level separation preserved between development and evaluation.</a:t>
            </a:r>
          </a:p>
        </p:txBody>
      </p:sp>
      <p:sp>
        <p:nvSpPr>
          <p:cNvPr id="19" name="Rectangle 18"/>
          <p:cNvSpPr/>
          <p:nvPr/>
        </p:nvSpPr>
        <p:spPr>
          <a:xfrm>
            <a:off x="566928" y="4608575"/>
            <a:ext cx="11057839" cy="932688"/>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4608575"/>
            <a:ext cx="45720" cy="932688"/>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4764023"/>
            <a:ext cx="2834640" cy="640080"/>
          </a:xfrm>
          <a:prstGeom prst="rect">
            <a:avLst/>
          </a:prstGeom>
          <a:noFill/>
        </p:spPr>
        <p:txBody>
          <a:bodyPr wrap="square" lIns="0" tIns="0" rIns="0" bIns="0" anchor="t">
            <a:spAutoFit/>
          </a:bodyPr>
          <a:lstStyle/>
          <a:p>
            <a:pPr algn="l">
              <a:lnSpc>
                <a:spcPct val="115000"/>
              </a:lnSpc>
              <a:spcBef>
                <a:spcPts val="0"/>
              </a:spcBef>
              <a:spcAft>
                <a:spcPts val="400"/>
              </a:spcAft>
            </a:pPr>
            <a:r>
              <a:rPr sz="1350" b="1" i="0">
                <a:solidFill>
                  <a:srgbClr val="1F3864"/>
                </a:solidFill>
                <a:latin typeface="Calibri"/>
              </a:rPr>
              <a:t>Planned clinical evaluation</a:t>
            </a:r>
          </a:p>
          <a:p>
            <a:pPr algn="l">
              <a:lnSpc>
                <a:spcPct val="115000"/>
              </a:lnSpc>
              <a:spcBef>
                <a:spcPts val="0"/>
              </a:spcBef>
              <a:spcAft>
                <a:spcPts val="0"/>
              </a:spcAft>
            </a:pPr>
            <a:r>
              <a:rPr sz="950" b="1" i="0">
                <a:solidFill>
                  <a:srgbClr val="A9630A"/>
                </a:solidFill>
                <a:latin typeface="Calibri"/>
              </a:rPr>
              <a:t>ENDPOINT</a:t>
            </a:r>
          </a:p>
        </p:txBody>
      </p:sp>
      <p:sp>
        <p:nvSpPr>
          <p:cNvPr id="22" name="TextBox 21"/>
          <p:cNvSpPr txBox="1"/>
          <p:nvPr/>
        </p:nvSpPr>
        <p:spPr>
          <a:xfrm>
            <a:off x="3813048" y="4782312"/>
            <a:ext cx="7491679" cy="640080"/>
          </a:xfrm>
          <a:prstGeom prst="rect">
            <a:avLst/>
          </a:prstGeom>
          <a:noFill/>
        </p:spPr>
        <p:txBody>
          <a:bodyPr wrap="square" lIns="0" tIns="0" rIns="0" bIns="0" anchor="t">
            <a:spAutoFit/>
          </a:bodyPr>
          <a:lstStyle/>
          <a:p>
            <a:pPr algn="l">
              <a:lnSpc>
                <a:spcPct val="122000"/>
              </a:lnSpc>
              <a:spcBef>
                <a:spcPts val="0"/>
              </a:spcBef>
              <a:spcAft>
                <a:spcPts val="0"/>
              </a:spcAft>
            </a:pPr>
            <a:r>
              <a:rPr sz="1130" b="0" i="0">
                <a:solidFill>
                  <a:srgbClr val="2E2E2E"/>
                </a:solidFill>
                <a:latin typeface="Calibri"/>
              </a:rPr>
              <a:t>Protocol compared against ℰ and ℱ before inference. Parameter maps reviewed for physiological plausibility, failure rates, and scanner/site sensitivity. Where histopathology exists, associations analyzed at patient or lesion level — never treating voxels as independent.</a:t>
            </a:r>
          </a:p>
        </p:txBody>
      </p:sp>
      <p:sp>
        <p:nvSpPr>
          <p:cNvPr id="23" name="Rectangle 22"/>
          <p:cNvSpPr/>
          <p:nvPr/>
        </p:nvSpPr>
        <p:spPr>
          <a:xfrm>
            <a:off x="566928" y="5669279"/>
            <a:ext cx="11057839" cy="566928"/>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66928" y="5669279"/>
            <a:ext cx="50292"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797295"/>
            <a:ext cx="10545775" cy="329184"/>
          </a:xfrm>
          <a:prstGeom prst="rect">
            <a:avLst/>
          </a:prstGeom>
          <a:noFill/>
        </p:spPr>
        <p:txBody>
          <a:bodyPr wrap="square" lIns="0" tIns="0" rIns="0" bIns="0" anchor="t">
            <a:spAutoFit/>
          </a:bodyPr>
          <a:lstStyle/>
          <a:p>
            <a:pPr algn="l">
              <a:lnSpc>
                <a:spcPct val="120000"/>
              </a:lnSpc>
              <a:spcBef>
                <a:spcPts val="0"/>
              </a:spcBef>
              <a:spcAft>
                <a:spcPts val="0"/>
              </a:spcAft>
            </a:pPr>
            <a:r>
              <a:rPr sz="1150" b="1" i="0">
                <a:solidFill>
                  <a:srgbClr val="1F3864"/>
                </a:solidFill>
                <a:latin typeface="Calibri"/>
              </a:rPr>
              <a:t>Governance:  </a:t>
            </a:r>
            <a:r>
              <a:rPr sz="1150" b="0" i="0">
                <a:solidFill>
                  <a:srgbClr val="6E6E6E"/>
                </a:solidFill>
                <a:latin typeface="Calibri"/>
              </a:rPr>
              <a:t>the implemented work is entirely synthetic — no PHI, no human-subject recruitment, no access approval. Any clinical extension requires de-identification, secure storage, access controls, a data-use agreement, and institutional review. Clinical data will be split by patient, never by voxel.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Questions for Discussion</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5" name="TextBox 4"/>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13</a:t>
            </a:r>
          </a:p>
        </p:txBody>
      </p:sp>
      <p:sp>
        <p:nvSpPr>
          <p:cNvPr id="6" name="Rectangle 5"/>
          <p:cNvSpPr/>
          <p:nvPr/>
        </p:nvSpPr>
        <p:spPr>
          <a:xfrm>
            <a:off x="566928" y="1261872"/>
            <a:ext cx="11057839" cy="1060704"/>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261872"/>
            <a:ext cx="45720" cy="106070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426463"/>
            <a:ext cx="10463479" cy="777240"/>
          </a:xfrm>
          <a:prstGeom prst="rect">
            <a:avLst/>
          </a:prstGeom>
          <a:noFill/>
        </p:spPr>
        <p:txBody>
          <a:bodyPr wrap="square" lIns="0" tIns="0" rIns="0" bIns="0" anchor="t">
            <a:spAutoFit/>
          </a:bodyPr>
          <a:lstStyle/>
          <a:p>
            <a:pPr algn="l">
              <a:lnSpc>
                <a:spcPct val="115000"/>
              </a:lnSpc>
              <a:spcBef>
                <a:spcPts val="0"/>
              </a:spcBef>
              <a:spcAft>
                <a:spcPts val="600"/>
              </a:spcAft>
            </a:pPr>
            <a:r>
              <a:rPr sz="1450" b="1" i="0">
                <a:solidFill>
                  <a:srgbClr val="1F3864"/>
                </a:solidFill>
                <a:latin typeface="Calibri"/>
              </a:rPr>
              <a:t>Should Tier 2 be re-run with a patient-cluster bootstrap?</a:t>
            </a:r>
          </a:p>
          <a:p>
            <a:pPr algn="l">
              <a:lnSpc>
                <a:spcPct val="122000"/>
              </a:lnSpc>
              <a:spcBef>
                <a:spcPts val="0"/>
              </a:spcBef>
              <a:spcAft>
                <a:spcPts val="0"/>
              </a:spcAft>
            </a:pPr>
            <a:r>
              <a:rPr sz="1150" b="0" i="0">
                <a:solidFill>
                  <a:srgbClr val="6E6E6E"/>
                </a:solidFill>
                <a:latin typeface="Calibri"/>
              </a:rPr>
              <a:t>The current bootstrap resamples voxels, treating correlated within-patient voxels as independent. This likely narrows the interval for Δ and makes criterion 5 easier to pass than it should be. Re-running at the patient level is cheap and more defensible.</a:t>
            </a:r>
          </a:p>
        </p:txBody>
      </p:sp>
      <p:sp>
        <p:nvSpPr>
          <p:cNvPr id="9" name="Rectangle 8"/>
          <p:cNvSpPr/>
          <p:nvPr/>
        </p:nvSpPr>
        <p:spPr>
          <a:xfrm>
            <a:off x="566928" y="2432304"/>
            <a:ext cx="11057839" cy="1060704"/>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2432304"/>
            <a:ext cx="45720" cy="1060704"/>
          </a:xfrm>
          <a:prstGeom prst="rect">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596896"/>
            <a:ext cx="10463479" cy="777240"/>
          </a:xfrm>
          <a:prstGeom prst="rect">
            <a:avLst/>
          </a:prstGeom>
          <a:noFill/>
        </p:spPr>
        <p:txBody>
          <a:bodyPr wrap="square" lIns="0" tIns="0" rIns="0" bIns="0" anchor="t">
            <a:spAutoFit/>
          </a:bodyPr>
          <a:lstStyle/>
          <a:p>
            <a:pPr algn="l">
              <a:lnSpc>
                <a:spcPct val="115000"/>
              </a:lnSpc>
              <a:spcBef>
                <a:spcPts val="0"/>
              </a:spcBef>
              <a:spcAft>
                <a:spcPts val="600"/>
              </a:spcAft>
            </a:pPr>
            <a:r>
              <a:rPr sz="1450" b="1" i="0">
                <a:solidFill>
                  <a:srgbClr val="1F3864"/>
                </a:solidFill>
                <a:latin typeface="Calibri"/>
              </a:rPr>
              <a:t>Do we need a diagonal + ILR arm to break the confound?</a:t>
            </a:r>
          </a:p>
          <a:p>
            <a:pPr algn="l">
              <a:lnSpc>
                <a:spcPct val="122000"/>
              </a:lnSpc>
              <a:spcBef>
                <a:spcPts val="0"/>
              </a:spcBef>
              <a:spcAft>
                <a:spcPts val="0"/>
              </a:spcAft>
            </a:pPr>
            <a:r>
              <a:rPr sz="1150" b="0" i="0">
                <a:solidFill>
                  <a:srgbClr val="6E6E6E"/>
                </a:solidFill>
                <a:latin typeface="Calibri"/>
              </a:rPr>
              <a:t>Tier 2 varies covariance structure and fraction parameterization together, so it identifies their joint effect. One additional 200-epoch run would separate them — is that worth it, or is the joint contrast the claim we actually want?</a:t>
            </a:r>
          </a:p>
        </p:txBody>
      </p:sp>
      <p:sp>
        <p:nvSpPr>
          <p:cNvPr id="12" name="Rectangle 11"/>
          <p:cNvSpPr/>
          <p:nvPr/>
        </p:nvSpPr>
        <p:spPr>
          <a:xfrm>
            <a:off x="566928" y="3602736"/>
            <a:ext cx="11057839" cy="1060704"/>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602736"/>
            <a:ext cx="45720" cy="1060704"/>
          </a:xfrm>
          <a:prstGeom prst="rect">
            <a:avLst/>
          </a:prstGeom>
          <a:solidFill>
            <a:srgbClr val="A9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3767328"/>
            <a:ext cx="10463479" cy="777240"/>
          </a:xfrm>
          <a:prstGeom prst="rect">
            <a:avLst/>
          </a:prstGeom>
          <a:noFill/>
        </p:spPr>
        <p:txBody>
          <a:bodyPr wrap="square" lIns="0" tIns="0" rIns="0" bIns="0" anchor="t">
            <a:spAutoFit/>
          </a:bodyPr>
          <a:lstStyle/>
          <a:p>
            <a:pPr algn="l">
              <a:lnSpc>
                <a:spcPct val="115000"/>
              </a:lnSpc>
              <a:spcBef>
                <a:spcPts val="0"/>
              </a:spcBef>
              <a:spcAft>
                <a:spcPts val="600"/>
              </a:spcAft>
            </a:pPr>
            <a:r>
              <a:rPr sz="1450" b="1" i="0">
                <a:solidFill>
                  <a:srgbClr val="1F3864"/>
                </a:solidFill>
                <a:latin typeface="Calibri"/>
              </a:rPr>
              <a:t>Is multi-seed the right next milestone before external data?</a:t>
            </a:r>
          </a:p>
          <a:p>
            <a:pPr algn="l">
              <a:lnSpc>
                <a:spcPct val="122000"/>
              </a:lnSpc>
              <a:spcBef>
                <a:spcPts val="0"/>
              </a:spcBef>
              <a:spcAft>
                <a:spcPts val="0"/>
              </a:spcAft>
            </a:pPr>
            <a:r>
              <a:rPr sz="1150" b="0" i="0">
                <a:solidFill>
                  <a:srgbClr val="6E6E6E"/>
                </a:solidFill>
                <a:latin typeface="Calibri"/>
              </a:rPr>
              <a:t>Five seeds per architecture would convert the Tier 2 comparison from suggestive to inferential. Alternative: prioritize securing the external cohort first and accept single-seed synthetic results as preliminary.</a:t>
            </a:r>
          </a:p>
        </p:txBody>
      </p:sp>
      <p:sp>
        <p:nvSpPr>
          <p:cNvPr id="15" name="Rectangle 14"/>
          <p:cNvSpPr/>
          <p:nvPr/>
        </p:nvSpPr>
        <p:spPr>
          <a:xfrm>
            <a:off x="566928" y="4773168"/>
            <a:ext cx="11057839" cy="1060704"/>
          </a:xfrm>
          <a:prstGeom prst="rect">
            <a:avLst/>
          </a:prstGeom>
          <a:solidFill>
            <a:srgbClr val="FFFFFF"/>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4773168"/>
            <a:ext cx="45720" cy="1060704"/>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4937760"/>
            <a:ext cx="10463479" cy="777240"/>
          </a:xfrm>
          <a:prstGeom prst="rect">
            <a:avLst/>
          </a:prstGeom>
          <a:noFill/>
        </p:spPr>
        <p:txBody>
          <a:bodyPr wrap="square" lIns="0" tIns="0" rIns="0" bIns="0" anchor="t">
            <a:spAutoFit/>
          </a:bodyPr>
          <a:lstStyle/>
          <a:p>
            <a:pPr algn="l">
              <a:lnSpc>
                <a:spcPct val="115000"/>
              </a:lnSpc>
              <a:spcBef>
                <a:spcPts val="0"/>
              </a:spcBef>
              <a:spcAft>
                <a:spcPts val="600"/>
              </a:spcAft>
            </a:pPr>
            <a:r>
              <a:rPr sz="1450" b="1" i="0">
                <a:solidFill>
                  <a:srgbClr val="1F3864"/>
                </a:solidFill>
                <a:latin typeface="Calibri"/>
              </a:rPr>
              <a:t>How should model-selection bias be handled at n = 80 patients?</a:t>
            </a:r>
          </a:p>
          <a:p>
            <a:pPr algn="l">
              <a:lnSpc>
                <a:spcPct val="122000"/>
              </a:lnSpc>
              <a:spcBef>
                <a:spcPts val="0"/>
              </a:spcBef>
              <a:spcAft>
                <a:spcPts val="0"/>
              </a:spcAft>
            </a:pPr>
            <a:r>
              <a:rPr sz="1150" b="0" i="0">
                <a:solidFill>
                  <a:srgbClr val="6E6E6E"/>
                </a:solidFill>
                <a:latin typeface="Calibri"/>
              </a:rPr>
              <a:t>A three-way patient split costs training data we may not have to spare. Nested patient-level resampling is the alternative but is considerably more expensive.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960559" cy="502920"/>
          </a:xfrm>
          <a:prstGeom prst="rect">
            <a:avLst/>
          </a:prstGeom>
          <a:noFill/>
        </p:spPr>
        <p:txBody>
          <a:bodyPr wrap="square" lIns="0" tIns="0" rIns="0" bIns="0" anchor="t">
            <a:spAutoFit/>
          </a:bodyPr>
          <a:lstStyle/>
          <a:p>
            <a:pPr algn="l">
              <a:lnSpc>
                <a:spcPct val="115000"/>
              </a:lnSpc>
              <a:spcBef>
                <a:spcPts val="0"/>
              </a:spcBef>
              <a:spcAft>
                <a:spcPts val="0"/>
              </a:spcAft>
            </a:pPr>
            <a:r>
              <a:rPr sz="2700" b="0" i="0">
                <a:solidFill>
                  <a:srgbClr val="1F3864"/>
                </a:solidFill>
                <a:latin typeface="Calibri Light"/>
              </a:rPr>
              <a:t>References</a:t>
            </a:r>
          </a:p>
        </p:txBody>
      </p:sp>
      <p:sp>
        <p:nvSpPr>
          <p:cNvPr id="3" name="Rectangle 2"/>
          <p:cNvSpPr/>
          <p:nvPr/>
        </p:nvSpPr>
        <p:spPr>
          <a:xfrm>
            <a:off x="566928" y="941832"/>
            <a:ext cx="960120" cy="34747"/>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382512"/>
            <a:ext cx="10600639" cy="237744"/>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9AA3B0"/>
                </a:solidFill>
                <a:latin typeface="Calibri"/>
              </a:rPr>
              <a:t>Physics-Informed Variational Autoencoding — Three-Compartment Prostate MRI</a:t>
            </a:r>
          </a:p>
        </p:txBody>
      </p:sp>
      <p:sp>
        <p:nvSpPr>
          <p:cNvPr id="5" name="TextBox 4"/>
          <p:cNvSpPr txBox="1"/>
          <p:nvPr/>
        </p:nvSpPr>
        <p:spPr>
          <a:xfrm>
            <a:off x="11167567" y="6382512"/>
            <a:ext cx="457200" cy="237744"/>
          </a:xfrm>
          <a:prstGeom prst="rect">
            <a:avLst/>
          </a:prstGeom>
          <a:noFill/>
        </p:spPr>
        <p:txBody>
          <a:bodyPr wrap="square" lIns="0" tIns="0" rIns="0" bIns="0" anchor="t">
            <a:spAutoFit/>
          </a:bodyPr>
          <a:lstStyle/>
          <a:p>
            <a:pPr algn="r">
              <a:lnSpc>
                <a:spcPct val="115000"/>
              </a:lnSpc>
              <a:spcBef>
                <a:spcPts val="0"/>
              </a:spcBef>
              <a:spcAft>
                <a:spcPts val="0"/>
              </a:spcAft>
            </a:pPr>
            <a:r>
              <a:rPr sz="950" b="0" i="0">
                <a:solidFill>
                  <a:srgbClr val="6E6E6E"/>
                </a:solidFill>
                <a:latin typeface="Calibri"/>
              </a:rPr>
              <a:t>14</a:t>
            </a:r>
          </a:p>
        </p:txBody>
      </p:sp>
      <p:sp>
        <p:nvSpPr>
          <p:cNvPr id="6" name="TextBox 5"/>
          <p:cNvSpPr txBox="1"/>
          <p:nvPr/>
        </p:nvSpPr>
        <p:spPr>
          <a:xfrm>
            <a:off x="566928" y="1261872"/>
            <a:ext cx="5300319" cy="4206240"/>
          </a:xfrm>
          <a:prstGeom prst="rect">
            <a:avLst/>
          </a:prstGeom>
          <a:noFill/>
        </p:spPr>
        <p:txBody>
          <a:bodyPr wrap="square" lIns="0" tIns="0" rIns="0" bIns="0" anchor="t">
            <a:spAutoFit/>
          </a:bodyPr>
          <a:lstStyle/>
          <a:p>
            <a:pPr algn="l">
              <a:lnSpc>
                <a:spcPct val="120000"/>
              </a:lnSpc>
              <a:spcBef>
                <a:spcPts val="0"/>
              </a:spcBef>
              <a:spcAft>
                <a:spcPts val="1100"/>
              </a:spcAft>
            </a:pPr>
            <a:r>
              <a:rPr sz="1100" b="1" i="0">
                <a:solidFill>
                  <a:srgbClr val="1F3864"/>
                </a:solidFill>
                <a:latin typeface="Calibri"/>
              </a:rPr>
              <a:t>Aitchison, J. (1986).</a:t>
            </a:r>
            <a:r>
              <a:rPr sz="1100" b="0" i="0">
                <a:solidFill>
                  <a:srgbClr val="6E6E6E"/>
                </a:solidFill>
                <a:latin typeface="Calibri"/>
              </a:rPr>
              <a:t> The Statistical Analysis of Compositional Data. Chapman and Hall.</a:t>
            </a:r>
          </a:p>
          <a:p>
            <a:pPr algn="l">
              <a:lnSpc>
                <a:spcPct val="120000"/>
              </a:lnSpc>
              <a:spcBef>
                <a:spcPts val="0"/>
              </a:spcBef>
              <a:spcAft>
                <a:spcPts val="1100"/>
              </a:spcAft>
            </a:pPr>
            <a:r>
              <a:rPr sz="1100" b="1" i="0">
                <a:solidFill>
                  <a:srgbClr val="1F3864"/>
                </a:solidFill>
                <a:latin typeface="Calibri"/>
              </a:rPr>
              <a:t>Angelopoulos, A. N., &amp; Bates, S. (2021).</a:t>
            </a:r>
            <a:r>
              <a:rPr sz="1100" b="0" i="0">
                <a:solidFill>
                  <a:srgbClr val="6E6E6E"/>
                </a:solidFill>
                <a:latin typeface="Calibri"/>
              </a:rPr>
              <a:t> A Gentle Introduction to Conformal Prediction and Distribution-Free Uncertainty Quantification. arXiv:2107.07511.</a:t>
            </a:r>
          </a:p>
          <a:p>
            <a:pPr algn="l">
              <a:lnSpc>
                <a:spcPct val="120000"/>
              </a:lnSpc>
              <a:spcBef>
                <a:spcPts val="0"/>
              </a:spcBef>
              <a:spcAft>
                <a:spcPts val="1100"/>
              </a:spcAft>
            </a:pPr>
            <a:r>
              <a:rPr sz="1100" b="1" i="0">
                <a:solidFill>
                  <a:srgbClr val="1F3864"/>
                </a:solidFill>
                <a:latin typeface="Calibri"/>
              </a:rPr>
              <a:t>Efron, B., &amp; Tibshirani, R. J. (1993).</a:t>
            </a:r>
            <a:r>
              <a:rPr sz="1100" b="0" i="0">
                <a:solidFill>
                  <a:srgbClr val="6E6E6E"/>
                </a:solidFill>
                <a:latin typeface="Calibri"/>
              </a:rPr>
              <a:t> An Introduction to the Bootstrap. Chapman and Hall/CRC.</a:t>
            </a:r>
          </a:p>
          <a:p>
            <a:pPr algn="l">
              <a:lnSpc>
                <a:spcPct val="120000"/>
              </a:lnSpc>
              <a:spcBef>
                <a:spcPts val="0"/>
              </a:spcBef>
              <a:spcAft>
                <a:spcPts val="1100"/>
              </a:spcAft>
            </a:pPr>
            <a:r>
              <a:rPr sz="1100" b="1" i="0">
                <a:solidFill>
                  <a:srgbClr val="1F3864"/>
                </a:solidFill>
                <a:latin typeface="Calibri"/>
              </a:rPr>
              <a:t>Finkelstein, A., Moneta, R., Zohar, O., Rivlin, M., Zaiss, M., Friedmann Morvinski, D., &amp; Perlman, O. (2026).</a:t>
            </a:r>
            <a:r>
              <a:rPr sz="1100" b="0" i="0">
                <a:solidFill>
                  <a:srgbClr val="6E6E6E"/>
                </a:solidFill>
                <a:latin typeface="Calibri"/>
              </a:rPr>
              <a:t> Multiparameter Uncertainty Mapping in Quantitative Molecular MRI using a Physics-Structured Variational Autoencoder. arXiv:2602.03317.</a:t>
            </a:r>
          </a:p>
          <a:p>
            <a:pPr algn="l">
              <a:lnSpc>
                <a:spcPct val="120000"/>
              </a:lnSpc>
              <a:spcBef>
                <a:spcPts val="0"/>
              </a:spcBef>
              <a:spcAft>
                <a:spcPts val="1100"/>
              </a:spcAft>
            </a:pPr>
            <a:r>
              <a:rPr sz="1100" b="1" i="0">
                <a:solidFill>
                  <a:srgbClr val="1F3864"/>
                </a:solidFill>
                <a:latin typeface="Calibri"/>
              </a:rPr>
              <a:t>Gudbjartsson, H., &amp; Patz, S. (1995).</a:t>
            </a:r>
            <a:r>
              <a:rPr sz="1100" b="0" i="0">
                <a:solidFill>
                  <a:srgbClr val="6E6E6E"/>
                </a:solidFill>
                <a:latin typeface="Calibri"/>
              </a:rPr>
              <a:t> The Rician Distribution of Noisy MRI Data. Magnetic Resonance in Medicine, 34(6), 910–914.</a:t>
            </a:r>
          </a:p>
          <a:p>
            <a:pPr algn="l">
              <a:lnSpc>
                <a:spcPct val="120000"/>
              </a:lnSpc>
              <a:spcBef>
                <a:spcPts val="0"/>
              </a:spcBef>
              <a:spcAft>
                <a:spcPts val="1100"/>
              </a:spcAft>
            </a:pPr>
            <a:r>
              <a:rPr sz="1100" b="1" i="0">
                <a:solidFill>
                  <a:srgbClr val="1F3864"/>
                </a:solidFill>
                <a:latin typeface="Calibri"/>
              </a:rPr>
              <a:t>Higgins, I., Matthey, L., Pal, A., Burgess, C., Glorot, X., Botvinick, M., Mohamed, S., &amp; Lerchner, A. (2017).</a:t>
            </a:r>
            <a:r>
              <a:rPr sz="1100" b="0" i="0">
                <a:solidFill>
                  <a:srgbClr val="6E6E6E"/>
                </a:solidFill>
                <a:latin typeface="Calibri"/>
              </a:rPr>
              <a:t> beta-VAE: Learning Basic Visual Concepts with a Constrained Variational Framework. ICLR.</a:t>
            </a:r>
          </a:p>
        </p:txBody>
      </p:sp>
      <p:sp>
        <p:nvSpPr>
          <p:cNvPr id="7" name="TextBox 6"/>
          <p:cNvSpPr txBox="1"/>
          <p:nvPr/>
        </p:nvSpPr>
        <p:spPr>
          <a:xfrm>
            <a:off x="6324447" y="1261872"/>
            <a:ext cx="5300319" cy="4206240"/>
          </a:xfrm>
          <a:prstGeom prst="rect">
            <a:avLst/>
          </a:prstGeom>
          <a:noFill/>
        </p:spPr>
        <p:txBody>
          <a:bodyPr wrap="square" lIns="0" tIns="0" rIns="0" bIns="0" anchor="t">
            <a:spAutoFit/>
          </a:bodyPr>
          <a:lstStyle/>
          <a:p>
            <a:pPr algn="l">
              <a:lnSpc>
                <a:spcPct val="120000"/>
              </a:lnSpc>
              <a:spcBef>
                <a:spcPts val="0"/>
              </a:spcBef>
              <a:spcAft>
                <a:spcPts val="1100"/>
              </a:spcAft>
            </a:pPr>
            <a:r>
              <a:rPr sz="1100" b="1" i="0">
                <a:solidFill>
                  <a:srgbClr val="1F3864"/>
                </a:solidFill>
                <a:latin typeface="Calibri"/>
              </a:rPr>
              <a:t>Kingma, D. P., &amp; Welling, M. (2014).</a:t>
            </a:r>
            <a:r>
              <a:rPr sz="1100" b="0" i="0">
                <a:solidFill>
                  <a:srgbClr val="6E6E6E"/>
                </a:solidFill>
                <a:latin typeface="Calibri"/>
              </a:rPr>
              <a:t> Auto-Encoding Variational Bayes. ICLR. arXiv:1312.6114.</a:t>
            </a:r>
          </a:p>
          <a:p>
            <a:pPr algn="l">
              <a:lnSpc>
                <a:spcPct val="120000"/>
              </a:lnSpc>
              <a:spcBef>
                <a:spcPts val="0"/>
              </a:spcBef>
              <a:spcAft>
                <a:spcPts val="1100"/>
              </a:spcAft>
            </a:pPr>
            <a:r>
              <a:rPr sz="1100" b="1" i="0">
                <a:solidFill>
                  <a:srgbClr val="1F3864"/>
                </a:solidFill>
                <a:latin typeface="Calibri"/>
              </a:rPr>
              <a:t>Panagiotaki, E., Walker-Samuel, S., Siow, B., Johnson, S. P., Rajkumar, V., Pedley, R. B., Lythgoe, M. F., &amp; Alexander, D. C. (2014).</a:t>
            </a:r>
            <a:r>
              <a:rPr sz="1100" b="0" i="0">
                <a:solidFill>
                  <a:srgbClr val="6E6E6E"/>
                </a:solidFill>
                <a:latin typeface="Calibri"/>
              </a:rPr>
              <a:t> Noninvasive Quantification of Solid Tumor Microstructure Using VERDICT MRI. Cancer Research, 74(7), 1902–1912.</a:t>
            </a:r>
          </a:p>
          <a:p>
            <a:pPr algn="l">
              <a:lnSpc>
                <a:spcPct val="120000"/>
              </a:lnSpc>
              <a:spcBef>
                <a:spcPts val="0"/>
              </a:spcBef>
              <a:spcAft>
                <a:spcPts val="1100"/>
              </a:spcAft>
            </a:pPr>
            <a:r>
              <a:rPr sz="1100" b="1" i="0">
                <a:solidFill>
                  <a:srgbClr val="1F3864"/>
                </a:solidFill>
                <a:latin typeface="Calibri"/>
              </a:rPr>
              <a:t>Raissi, M., Perdikaris, P., &amp; Karniadakis, G. E. (2019).</a:t>
            </a:r>
            <a:r>
              <a:rPr sz="1100" b="0" i="0">
                <a:solidFill>
                  <a:srgbClr val="6E6E6E"/>
                </a:solidFill>
                <a:latin typeface="Calibri"/>
              </a:rPr>
              <a:t> Physics-Informed Neural Networks: A Deep Learning Framework for Solving Forward and Inverse Problems Involving Nonlinear Partial Differential Equations. Journal of Computational Physics, 378, 686–707.</a:t>
            </a:r>
          </a:p>
          <a:p>
            <a:pPr algn="l">
              <a:lnSpc>
                <a:spcPct val="120000"/>
              </a:lnSpc>
              <a:spcBef>
                <a:spcPts val="0"/>
              </a:spcBef>
              <a:spcAft>
                <a:spcPts val="1100"/>
              </a:spcAft>
            </a:pPr>
            <a:r>
              <a:rPr sz="1100" b="1" i="0">
                <a:solidFill>
                  <a:srgbClr val="1F3864"/>
                </a:solidFill>
                <a:latin typeface="Calibri"/>
              </a:rPr>
              <a:t>Thoreau, R., Risser, L., Achard, V., Berthelot, B., &amp; Briottet, X. (2025).</a:t>
            </a:r>
            <a:r>
              <a:rPr sz="1100" b="0" i="0">
                <a:solidFill>
                  <a:srgbClr val="6E6E6E"/>
                </a:solidFill>
                <a:latin typeface="Calibri"/>
              </a:rPr>
              <a:t> Physics-Informed Variational Autoencoders for Improved Robustness to Environmental Factors of Variation. arXiv:2210.10418v5.</a:t>
            </a:r>
          </a:p>
          <a:p>
            <a:pPr algn="l">
              <a:lnSpc>
                <a:spcPct val="120000"/>
              </a:lnSpc>
              <a:spcBef>
                <a:spcPts val="0"/>
              </a:spcBef>
              <a:spcAft>
                <a:spcPts val="1100"/>
              </a:spcAft>
            </a:pPr>
            <a:r>
              <a:rPr sz="1100" b="1" i="0">
                <a:solidFill>
                  <a:srgbClr val="1F3864"/>
                </a:solidFill>
                <a:latin typeface="Calibri"/>
              </a:rPr>
              <a:t>Virtanen, P., et al. (2020).</a:t>
            </a:r>
            <a:r>
              <a:rPr sz="1100" b="0" i="0">
                <a:solidFill>
                  <a:srgbClr val="6E6E6E"/>
                </a:solidFill>
                <a:latin typeface="Calibri"/>
              </a:rPr>
              <a:t> SciPy 1.0: Fundamental Algorithms for Scientific Computing in Python. Nature Methods, 17, 261–272.</a:t>
            </a:r>
          </a:p>
        </p:txBody>
      </p:sp>
      <p:sp>
        <p:nvSpPr>
          <p:cNvPr id="8" name="Rectangle 7"/>
          <p:cNvSpPr/>
          <p:nvPr/>
        </p:nvSpPr>
        <p:spPr>
          <a:xfrm>
            <a:off x="566928" y="5605272"/>
            <a:ext cx="11057839" cy="18288"/>
          </a:xfrm>
          <a:prstGeom prst="rect">
            <a:avLst/>
          </a:prstGeom>
          <a:solidFill>
            <a:srgbClr val="D5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5742432"/>
            <a:ext cx="11057839" cy="27432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1F3864"/>
                </a:solidFill>
                <a:latin typeface="Calibri"/>
              </a:rPr>
              <a:t>Reproducibility:  </a:t>
            </a:r>
            <a:r>
              <a:rPr sz="1150" b="0" i="0">
                <a:solidFill>
                  <a:srgbClr val="6E6E6E"/>
                </a:solidFill>
                <a:latin typeface="Calibri"/>
              </a:rPr>
              <a:t>notebooks contain the acquisition grid, seeds, physiological ranges, cohort sizes, model definitions, optimizer settings, and evaluation code. Dependencies are pinned in requirements.txt. Reproduction runs top-to-bottom from a clean environment without reusing hidden notebook state.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4775</Words>
  <Application>Microsoft Macintosh PowerPoint</Application>
  <PresentationFormat>Widescreen</PresentationFormat>
  <Paragraphs>397</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Garay, Aaron</cp:lastModifiedBy>
  <cp:revision>2</cp:revision>
  <dcterms:created xsi:type="dcterms:W3CDTF">2013-01-27T09:14:16Z</dcterms:created>
  <dcterms:modified xsi:type="dcterms:W3CDTF">2026-07-15T22:06:53Z</dcterms:modified>
  <cp:category/>
</cp:coreProperties>
</file>