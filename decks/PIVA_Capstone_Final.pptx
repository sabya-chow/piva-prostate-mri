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copied1.svg" ContentType="image/svg+xml"/>
  <Override PartName="/ppt/media/copied2.svg" ContentType="image/svg+xml"/>
  <Override PartName="/ppt/media/copied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1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396"/>
    <a:srgbClr val="D6D6CE"/>
    <a:srgbClr val="767676"/>
    <a:srgbClr val="A6A6A6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0"/>
    <p:restoredTop sz="94558"/>
  </p:normalViewPr>
  <p:slideViewPr>
    <p:cSldViewPr snapToGrid="0" snapToObjects="1" showGuides="1">
      <p:cViewPr varScale="1">
        <p:scale>
          <a:sx n="116" d="100"/>
          <a:sy n="116" d="100"/>
        </p:scale>
        <p:origin x="1248" y="200"/>
      </p:cViewPr>
      <p:guideLst>
        <p:guide orient="horz" pos="2160"/>
        <p:guide pos="3816"/>
      </p:guideLst>
    </p:cSldViewPr>
  </p:slideViewPr>
  <p:notesTextViewPr>
    <p:cViewPr>
      <p:scale>
        <a:sx n="55" d="100"/>
        <a:sy n="5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72" d="100"/>
          <a:sy n="72" d="100"/>
        </p:scale>
        <p:origin x="359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90C404-CDA9-4845-B42A-2FC66BD024A1}" type="datetimeFigureOut">
              <a:rPr lang="en-US" smtClean="0"/>
              <a:t>9/16/21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058B3-987A-6A45-B91C-84067A2BE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19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microsoft.com/office/2007/relationships/hdphoto" Target="../media/hdphoto1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Background Sh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A963CE4-0B47-E14C-9F34-FE73C1C1A4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t="28434" r="25845" b="9306"/>
          <a:stretch/>
        </p:blipFill>
        <p:spPr>
          <a:xfrm>
            <a:off x="-1" y="0"/>
            <a:ext cx="12192001" cy="68242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9E3BA62-8BB3-B747-9E3E-15AA957B8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0000"/>
          </a:blip>
          <a:srcRect/>
          <a:stretch/>
        </p:blipFill>
        <p:spPr>
          <a:xfrm>
            <a:off x="-2703201" y="-2649403"/>
            <a:ext cx="9640714" cy="124762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01106"/>
            <a:ext cx="3776134" cy="2387600"/>
          </a:xfr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0580" y="3680781"/>
            <a:ext cx="3739954" cy="623598"/>
          </a:xfrm>
        </p:spPr>
        <p:txBody>
          <a:bodyPr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Helvetica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A5BA48-AFE1-5E44-A9C5-06E7B917E328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0D7907-C9D3-3549-909B-0DF4C37BE507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11A4FFB-2DA6-B041-8E46-A9F639194E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B065AF6-9149-3648-8E45-2ACA8FA0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473B1-050A-A247-ADA5-767EBF5542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53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Background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5CC0828-A75B-F849-8641-3DEDF618C8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8434" r="25845" b="9209"/>
          <a:stretch/>
        </p:blipFill>
        <p:spPr>
          <a:xfrm>
            <a:off x="-1" y="0"/>
            <a:ext cx="12192000" cy="683481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9FA067-2C4D-C14D-A888-A679E57BB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15888"/>
            <a:ext cx="5306907" cy="647501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 dirty="0">
              <a:latin typeface="Helvetic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01106"/>
            <a:ext cx="3776134" cy="2387600"/>
          </a:xfr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0580" y="3680781"/>
            <a:ext cx="3739954" cy="623598"/>
          </a:xfrm>
        </p:spPr>
        <p:txBody>
          <a:bodyPr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Helvetica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37163BF-3A81-2549-BBA1-DD2297BF2E61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AB37B8-08AE-A24D-9A15-E005CE6538B8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8DDB43C-FB49-224C-8652-7BE6DDE9E0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1B61ED-8963-3247-B88B-7C128694B7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00C56AA3-E32C-0E48-BEC1-1F1FE93DB4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1" y="6459132"/>
            <a:ext cx="3432387" cy="365125"/>
          </a:xfrm>
        </p:spPr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438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Grey Shi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14DE7D81-13B8-AF4E-B872-344D1FDA5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995160" y="-2087105"/>
            <a:ext cx="8384488" cy="10850515"/>
            <a:chOff x="3890639" y="-2045539"/>
            <a:chExt cx="8193228" cy="10603002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B044032-08FC-B844-88A8-08FDA25149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30000"/>
            </a:blip>
            <a:srcRect/>
            <a:stretch/>
          </p:blipFill>
          <p:spPr>
            <a:xfrm>
              <a:off x="3890639" y="-2045539"/>
              <a:ext cx="8193228" cy="10603002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5DAE276-DC3F-7F4D-8C26-D2C187FF2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5000"/>
            </a:blip>
            <a:srcRect/>
            <a:stretch/>
          </p:blipFill>
          <p:spPr>
            <a:xfrm>
              <a:off x="5173001" y="727132"/>
              <a:ext cx="5641848" cy="4936616"/>
            </a:xfrm>
            <a:prstGeom prst="rect">
              <a:avLst/>
            </a:prstGeom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D9CD9831-3B3C-754B-A7A8-952190E4C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201106"/>
            <a:ext cx="5583936" cy="2387600"/>
          </a:xfrm>
        </p:spPr>
        <p:txBody>
          <a:bodyPr anchor="b">
            <a:normAutofit/>
          </a:bodyPr>
          <a:lstStyle>
            <a:lvl1pPr algn="l">
              <a:defRPr sz="4800" b="0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D9668E-7616-1345-B7B1-F38998B6A14F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4D1A3D0-4FC2-BD4B-80E4-B645C00F12C9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6A5CA1C-F727-B149-8097-BB1439F163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1B9F0A3-7301-A245-97F5-063935E592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16BDA11F-C7EA-8E41-AB78-A68AE2718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579" y="3680781"/>
            <a:ext cx="5551823" cy="623598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tx2"/>
                </a:solidFill>
                <a:latin typeface="Helvetica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54322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Grey Phoen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B5DAE276-DC3F-7F4D-8C26-D2C187FF2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/>
          <a:stretch/>
        </p:blipFill>
        <p:spPr>
          <a:xfrm>
            <a:off x="8307457" y="750290"/>
            <a:ext cx="5773549" cy="505185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9CD9831-3B3C-754B-A7A8-952190E4C5A3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914400" y="1201106"/>
            <a:ext cx="5583936" cy="2387600"/>
          </a:xfrm>
        </p:spPr>
        <p:txBody>
          <a:bodyPr anchor="b">
            <a:normAutofit/>
          </a:bodyPr>
          <a:lstStyle>
            <a:lvl1pPr algn="l">
              <a:defRPr sz="4800" b="0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CD0C7C-CA0B-6D4B-9E66-C56947278E67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0053998-B21C-2143-A93B-FEA89D63FCCC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4813638-BF56-CE47-82B3-C8C80C097B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B8463C2-D23C-D848-9189-3E0C7F383A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16BDA11F-C7EA-8E41-AB78-A68AE2718AE7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950579" y="3680781"/>
            <a:ext cx="5551823" cy="623598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tx2"/>
                </a:solidFill>
                <a:latin typeface="Helvetica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0203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Grey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5416ABD3-B0FF-3B4C-8FD0-7EFA69524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11896" y="0"/>
            <a:ext cx="5773549" cy="6400800"/>
            <a:chOff x="5156004" y="0"/>
            <a:chExt cx="5773549" cy="64008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7F6E9A7-0B96-9A45-BE03-B02DAC131566}"/>
                </a:ext>
              </a:extLst>
            </p:cNvPr>
            <p:cNvSpPr/>
            <p:nvPr userDrawn="1"/>
          </p:nvSpPr>
          <p:spPr>
            <a:xfrm>
              <a:off x="5303520" y="0"/>
              <a:ext cx="3840480" cy="64008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Helvetica" pitchFamily="2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CCBEB3A-B9C1-834D-8C72-39DBB30106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15000"/>
            </a:blip>
            <a:srcRect/>
            <a:stretch/>
          </p:blipFill>
          <p:spPr>
            <a:xfrm>
              <a:off x="5156004" y="750290"/>
              <a:ext cx="5773549" cy="5051855"/>
            </a:xfrm>
            <a:prstGeom prst="rect">
              <a:avLst/>
            </a:prstGeom>
          </p:spPr>
        </p:pic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92991CA0-39EA-1545-AEF0-B75C5CE47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201106"/>
            <a:ext cx="5583936" cy="2387600"/>
          </a:xfrm>
        </p:spPr>
        <p:txBody>
          <a:bodyPr anchor="b">
            <a:normAutofit/>
          </a:bodyPr>
          <a:lstStyle>
            <a:lvl1pPr algn="l">
              <a:defRPr sz="4800" b="0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66F5B0B-C9FD-0347-A1C2-1D3B7E62F1ED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CC818AB-BB6F-E04B-BBFA-A07BE3C4FEB7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13BF5B-E37C-E74A-9F18-110D87EEF2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7228A89-9676-CC42-BA39-DEE5DFAB9D9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Subtitle 2">
            <a:extLst>
              <a:ext uri="{FF2B5EF4-FFF2-40B4-BE49-F238E27FC236}">
                <a16:creationId xmlns:a16="http://schemas.microsoft.com/office/drawing/2014/main" id="{71327F5D-F3C8-B04A-BB58-B93516C9B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579" y="3680781"/>
            <a:ext cx="5551823" cy="623598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tx2"/>
                </a:solidFill>
                <a:latin typeface="Helvetica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12090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Greysto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CE658D9-D054-3F4C-A92D-31C587025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11896" y="0"/>
            <a:ext cx="5773549" cy="6400800"/>
            <a:chOff x="5156004" y="0"/>
            <a:chExt cx="5773549" cy="64008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1968A1-5801-1E42-B6BA-F3BB96E0DF89}"/>
                </a:ext>
              </a:extLst>
            </p:cNvPr>
            <p:cNvSpPr/>
            <p:nvPr userDrawn="1"/>
          </p:nvSpPr>
          <p:spPr>
            <a:xfrm>
              <a:off x="5303520" y="0"/>
              <a:ext cx="3732588" cy="64008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Helvetica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0FE511D-5816-794B-A1B8-B5C1A62FA9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30000"/>
            </a:blip>
            <a:srcRect/>
            <a:stretch/>
          </p:blipFill>
          <p:spPr>
            <a:xfrm>
              <a:off x="5156004" y="749809"/>
              <a:ext cx="5773549" cy="5051855"/>
            </a:xfrm>
            <a:prstGeom prst="rect">
              <a:avLst/>
            </a:prstGeom>
          </p:spPr>
        </p:pic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BA048696-EA6C-704F-9DD8-BBC1BBCE2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201106"/>
            <a:ext cx="5583936" cy="2387600"/>
          </a:xfrm>
        </p:spPr>
        <p:txBody>
          <a:bodyPr anchor="b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3D550AB-4267-2745-B8A7-471587897BC8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BA9218E-908A-5D45-ADBF-342BC22CD9DD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C6B51FA-8094-1142-B844-02A6D5A91E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EA4C7F4-A86F-4345-824D-93F8B6A11C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Subtitle 2">
            <a:extLst>
              <a:ext uri="{FF2B5EF4-FFF2-40B4-BE49-F238E27FC236}">
                <a16:creationId xmlns:a16="http://schemas.microsoft.com/office/drawing/2014/main" id="{273C311C-0F83-4F4C-B006-EF4884A4D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579" y="3680781"/>
            <a:ext cx="5551823" cy="623598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0048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sz="16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2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Light Greyst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359716"/>
            <a:ext cx="10515600" cy="2581861"/>
          </a:xfrm>
        </p:spPr>
        <p:txBody>
          <a:bodyPr anchor="b">
            <a:normAutofit/>
          </a:bodyPr>
          <a:lstStyle>
            <a:lvl1pPr>
              <a:defRPr sz="4000" b="0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968566"/>
            <a:ext cx="10515600" cy="92551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C8D841-3845-F943-981F-C2E3E57F437A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A82A58-E4D6-B345-A3C4-34CEF615051E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9E30AB7-A0FC-FC44-843C-EF28BA8176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72FEE50-C598-2041-A9E0-2129F1D887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89CD69E-4FBE-784C-A603-C5046E41F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5000"/>
          </a:blip>
          <a:srcRect/>
          <a:stretch/>
        </p:blipFill>
        <p:spPr>
          <a:xfrm>
            <a:off x="9427464" y="0"/>
            <a:ext cx="3836416" cy="335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07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968566"/>
            <a:ext cx="10515600" cy="92551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rgbClr val="76767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359716"/>
            <a:ext cx="10515600" cy="2581861"/>
          </a:xfrm>
        </p:spPr>
        <p:txBody>
          <a:bodyPr anchor="b">
            <a:normAutofit/>
          </a:bodyPr>
          <a:lstStyle>
            <a:lvl1pPr>
              <a:defRPr sz="4000" b="0" i="0">
                <a:solidFill>
                  <a:srgbClr val="8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C63AC4-5A08-2448-A97C-452F675A36B9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D9D04EE-FB04-984A-A9E5-11B792051E10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ED6D137-810A-2B42-B9FD-BA384D6CC0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FA87152-16F0-7644-A3F6-738E589BAC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42C294E9-685F-4941-9BB0-F4B17776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10000"/>
          </a:blip>
          <a:srcRect/>
          <a:stretch/>
        </p:blipFill>
        <p:spPr>
          <a:xfrm>
            <a:off x="9429243" y="0"/>
            <a:ext cx="3836416" cy="335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3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Maro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78B395A-ABD1-784B-A94A-7A6283C5448E}"/>
              </a:ext>
            </a:extLst>
          </p:cNvPr>
          <p:cNvSpPr/>
          <p:nvPr/>
        </p:nvSpPr>
        <p:spPr>
          <a:xfrm>
            <a:off x="0" y="3"/>
            <a:ext cx="12192000" cy="686523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Helvetica" pitchFamily="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968566"/>
            <a:ext cx="10515600" cy="92551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359716"/>
            <a:ext cx="10515600" cy="2581861"/>
          </a:xfrm>
        </p:spPr>
        <p:txBody>
          <a:bodyPr anchor="b">
            <a:normAutofit/>
          </a:bodyPr>
          <a:lstStyle>
            <a:lvl1pPr>
              <a:defRPr sz="4000" b="0" i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880606-C0DA-1244-B23A-CDDC05B4C63A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54CFDE2-E6EB-A345-957E-50A4ECD423D1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3868FDA-D1BB-EE41-ABB2-465907C57C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BD39B1C-C9BE-9F4C-88E3-EF2E97B7E5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853C0E5-BAE9-8B41-90FD-2C57873CF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 trans="8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427464" y="0"/>
            <a:ext cx="3836416" cy="335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73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 b="0" i="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 b="0" i="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0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"/>
            <a:ext cx="10515600" cy="1325563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 b="0" i="0">
                <a:solidFill>
                  <a:srgbClr val="8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8"/>
            <a:ext cx="5157787" cy="3400425"/>
          </a:xfrm>
        </p:spPr>
        <p:txBody>
          <a:bodyPr/>
          <a:lstStyle>
            <a:lvl1pPr>
              <a:defRPr sz="2400" b="0" i="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2" y="1681163"/>
            <a:ext cx="5183188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 b="0" i="0">
                <a:solidFill>
                  <a:srgbClr val="8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8"/>
            <a:ext cx="5183188" cy="3400425"/>
          </a:xfrm>
        </p:spPr>
        <p:txBody>
          <a:bodyPr/>
          <a:lstStyle>
            <a:lvl1pPr>
              <a:defRPr sz="2400" b="0" i="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847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428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606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B326AB-2B19-2B4B-A7BC-8A991C83D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1811871"/>
            <a:ext cx="7315200" cy="4049183"/>
          </a:xfrm>
        </p:spPr>
        <p:txBody>
          <a:bodyPr/>
          <a:lstStyle>
            <a:lvl1pPr marL="0" indent="0">
              <a:buNone/>
              <a:defRPr sz="2400" b="0" i="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9BB38-E405-0644-A47A-B0875B53B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10600" y="1811868"/>
            <a:ext cx="2743200" cy="4057121"/>
          </a:xfrm>
        </p:spPr>
        <p:txBody>
          <a:bodyPr/>
          <a:lstStyle>
            <a:lvl1pPr marL="0" indent="0">
              <a:buNone/>
              <a:defRPr sz="1200" b="0" i="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CFD0A-EE5E-3E41-9808-9D111F54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0B90FFB-1D8E-AF4C-A20C-D4A3B8A3A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8060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CFD0A-EE5E-3E41-9808-9D111F54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0B90FFB-1D8E-AF4C-A20C-D4A3B8A3A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F7EFA50-3B63-3A4E-837C-38C854BE2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3" y="1811867"/>
            <a:ext cx="3356036" cy="2047752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7E8FA33-8160-E84B-9F98-0A2BFB2A2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1" y="3995065"/>
            <a:ext cx="3356035" cy="1128713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7B00556-D0CC-204C-9B94-C8062981F51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417013" y="3995065"/>
            <a:ext cx="3357971" cy="1128713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2899E92-C4B9-4144-ADBA-EF18DD116823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7995828" y="3995065"/>
            <a:ext cx="3357969" cy="1128713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C631A6A1-A439-A143-ABEA-DDB2D12F1818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4417015" y="1811870"/>
            <a:ext cx="3357972" cy="2048933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5E8AC718-D08E-D142-ABDD-8F7BAA4AC98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7995827" y="1811870"/>
            <a:ext cx="3357972" cy="2048933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9469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B326AB-2B19-2B4B-A7BC-8A991C83D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1811871"/>
            <a:ext cx="4919133" cy="4049183"/>
          </a:xfrm>
        </p:spPr>
        <p:txBody>
          <a:bodyPr/>
          <a:lstStyle>
            <a:lvl1pPr marL="0" indent="0">
              <a:buNone/>
              <a:defRPr sz="2400" b="0" i="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CFD0A-EE5E-3E41-9808-9D111F54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A856875-E70E-F044-B7AD-961CE18586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34671" y="1809751"/>
            <a:ext cx="4919133" cy="4059238"/>
          </a:xfrm>
        </p:spPr>
        <p:txBody>
          <a:bodyPr/>
          <a:lstStyle>
            <a:lvl1pPr>
              <a:defRPr sz="2400" b="0" i="0"/>
            </a:lvl1pPr>
            <a:lvl2pPr>
              <a:defRPr sz="2100" b="0" i="0"/>
            </a:lvl2pPr>
            <a:lvl3pPr>
              <a:defRPr sz="1800" b="0" i="0"/>
            </a:lvl3pPr>
            <a:lvl4pPr>
              <a:defRPr sz="1500" b="0" i="0"/>
            </a:lvl4pPr>
            <a:lvl5pPr>
              <a:defRPr sz="1500" b="0" i="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B2F242-CA0B-5440-B148-FC652EC0D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"/>
            <a:ext cx="10515600" cy="1325563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9312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Picture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C10E13E9-A40B-8242-87D0-21EA016AAB43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2" y="3231643"/>
            <a:ext cx="6065519" cy="3184256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CBE66D83-505F-514A-94A7-9B6AE6877B0C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26480" y="3231643"/>
            <a:ext cx="6065523" cy="3172968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11E4A28-1755-3844-AD33-415D78C99D8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2"/>
            <a:ext cx="6065520" cy="3172968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57D2046-3B53-4544-9BDB-18F56371C74D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126480" y="2"/>
            <a:ext cx="6065523" cy="3172968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9113D8F-5565-DD41-BF67-678D23803461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3EEC998-5A27-9346-81A2-F9B3545521BA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95D0983-302A-8E44-935E-E9CF14A3B0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9B5F19-F9FD-9945-B1B4-5CE6811368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CFD0A-EE5E-3E41-9808-9D111F54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147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Picture Ful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F198491-2097-0946-B177-67C64AE6E6F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4"/>
            <a:ext cx="12192000" cy="6379784"/>
          </a:xfrm>
        </p:spPr>
        <p:txBody>
          <a:bodyPr/>
          <a:lstStyle>
            <a:lvl1pPr marL="0" indent="0">
              <a:buNone/>
              <a:defRPr sz="2400" b="0" i="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87628E-BF1D-164B-AA84-0B12AE4A56E4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6A92FCC-2FC8-6E45-BE8E-CD882CFC0811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405C2DC-D64C-9E43-BDDE-425E75EFB5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B898CF9-CC00-6F41-99B6-BB63E711CBC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CFD0A-EE5E-3E41-9808-9D111F54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19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Grey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31D2FB2-72E8-654B-BDC3-440102A15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11896" y="0"/>
            <a:ext cx="5773549" cy="6400800"/>
            <a:chOff x="5156004" y="0"/>
            <a:chExt cx="5773549" cy="64008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D659737-1021-E747-89B3-76FB616933A4}"/>
                </a:ext>
              </a:extLst>
            </p:cNvPr>
            <p:cNvSpPr/>
            <p:nvPr userDrawn="1"/>
          </p:nvSpPr>
          <p:spPr>
            <a:xfrm>
              <a:off x="5303520" y="0"/>
              <a:ext cx="3732588" cy="64008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Helvetica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42803AD-AA31-3A44-8C9A-BA97BCD301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15000"/>
            </a:blip>
            <a:srcRect/>
            <a:stretch/>
          </p:blipFill>
          <p:spPr>
            <a:xfrm>
              <a:off x="5156004" y="750290"/>
              <a:ext cx="5773549" cy="5051855"/>
            </a:xfrm>
            <a:prstGeom prst="rect">
              <a:avLst/>
            </a:prstGeom>
          </p:spPr>
        </p:pic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2430928"/>
            <a:ext cx="5264149" cy="1991782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rgbClr val="76767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9B499C2-3DE5-514E-B209-26F56500FA87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0ED4D4F-AC78-4449-BA53-42FFD88FDE0E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CF554CD-5CBC-CF47-8E84-2AFF6ABE9C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E02FBD5-1048-6C42-A32F-B6FF988FF7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616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Shi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41B7554-0594-584B-919D-1DF1A71D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995160" y="-2087105"/>
            <a:ext cx="8384488" cy="10850515"/>
            <a:chOff x="3890639" y="-2045539"/>
            <a:chExt cx="8193228" cy="1060300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C2FF98D-B38B-4E4F-A7D3-EFDE30DF1B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30000"/>
            </a:blip>
            <a:srcRect/>
            <a:stretch/>
          </p:blipFill>
          <p:spPr>
            <a:xfrm>
              <a:off x="3890639" y="-2045539"/>
              <a:ext cx="8193228" cy="1060300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0EA7C03-7F17-CF4E-91C2-9F463E1BD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5000"/>
            </a:blip>
            <a:srcRect/>
            <a:stretch/>
          </p:blipFill>
          <p:spPr>
            <a:xfrm>
              <a:off x="5173001" y="727132"/>
              <a:ext cx="5641848" cy="4936616"/>
            </a:xfrm>
            <a:prstGeom prst="rect">
              <a:avLst/>
            </a:prstGeom>
          </p:spPr>
        </p:pic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2430928"/>
            <a:ext cx="5264149" cy="1991782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rgbClr val="76767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3E5C16-F0BD-5F46-97A8-CEDF94F42EED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8E1EF7D-E655-2A49-9DEE-EC8AD2225E5C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F566C16-C310-8747-A5D4-D3BBDF298D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5925706-8E66-E649-919D-D820B55EC1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6168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Grey Phoen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6A13415-5C23-C347-8FD4-FCC01FDDBED9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D88F65-95EA-794A-84D9-561E25623B28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F2065E5-A0DB-D342-872B-5182669289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EED2DC2-9202-A944-8C6A-0589E3A79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2430928"/>
            <a:ext cx="5264149" cy="1991782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rgbClr val="76767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A3D350-3A11-F04D-9DBD-7AF23535D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15000"/>
          </a:blip>
          <a:srcRect/>
          <a:stretch/>
        </p:blipFill>
        <p:spPr>
          <a:xfrm>
            <a:off x="8307457" y="750290"/>
            <a:ext cx="5773549" cy="505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24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Dark Greysto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6DDAAFD-B28B-B347-8A93-5F44BAFD3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11896" y="0"/>
            <a:ext cx="5773549" cy="6400800"/>
            <a:chOff x="5156004" y="0"/>
            <a:chExt cx="5773549" cy="64008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94388C-76E0-6545-A3AB-12CBFD8DCF09}"/>
                </a:ext>
              </a:extLst>
            </p:cNvPr>
            <p:cNvSpPr/>
            <p:nvPr userDrawn="1"/>
          </p:nvSpPr>
          <p:spPr>
            <a:xfrm>
              <a:off x="5303520" y="0"/>
              <a:ext cx="3732588" cy="64008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Helvetica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722082E-E1DF-634A-A836-3F5F10A936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30000"/>
            </a:blip>
            <a:srcRect/>
            <a:stretch/>
          </p:blipFill>
          <p:spPr>
            <a:xfrm>
              <a:off x="5156004" y="750290"/>
              <a:ext cx="5773549" cy="5051855"/>
            </a:xfrm>
            <a:prstGeom prst="rect">
              <a:avLst/>
            </a:prstGeom>
          </p:spPr>
        </p:pic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2430928"/>
            <a:ext cx="5264149" cy="1991782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75BAB41-634C-384C-BD5E-EC3DBF8AC7FF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4A157C6-DEF5-B642-BB25-3E6B4CA3F128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92B8B0D-DD6D-3E4F-AF16-D03DD5CD8B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4EA944C-50C1-D746-9CA5-FCD2C7BCB2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7281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Relationship Id="rId26" Type="http://schemas.openxmlformats.org/officeDocument/2006/relationships/image" Target="../media/image2.png"/><Relationship Id="rId27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13B7DC8-268B-1048-A957-4E9359ADA4B9}"/>
              </a:ext>
            </a:extLst>
          </p:cNvPr>
          <p:cNvGrpSpPr/>
          <p:nvPr userDrawn="1"/>
        </p:nvGrpSpPr>
        <p:grpSpPr>
          <a:xfrm>
            <a:off x="0" y="6395644"/>
            <a:ext cx="12192000" cy="470922"/>
            <a:chOff x="0" y="6395644"/>
            <a:chExt cx="12192000" cy="47092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803185-146A-A14A-A4BF-97AB80981521}"/>
                </a:ext>
              </a:extLst>
            </p:cNvPr>
            <p:cNvSpPr/>
            <p:nvPr userDrawn="1"/>
          </p:nvSpPr>
          <p:spPr>
            <a:xfrm>
              <a:off x="0" y="6400222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b="0" i="0" dirty="0">
                <a:latin typeface="Helvetica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5E445A6-E661-A542-93F8-3BDAE8F20D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5"/>
            <a:srcRect r="42000"/>
            <a:stretch/>
          </p:blipFill>
          <p:spPr>
            <a:xfrm>
              <a:off x="703686" y="6407383"/>
              <a:ext cx="1214747" cy="451789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C432EE2-7792-3845-B4F9-855AEA81B94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95648"/>
              <a:ext cx="12192000" cy="0"/>
            </a:xfrm>
            <a:prstGeom prst="line">
              <a:avLst/>
            </a:prstGeom>
            <a:ln w="6350">
              <a:solidFill>
                <a:srgbClr val="D6D6C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838200" y="1534136"/>
            <a:ext cx="10515600" cy="442949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E5C833-4073-5D47-B09D-AF15D624975A}"/>
              </a:ext>
            </a:extLst>
          </p:cNvPr>
          <p:cNvCxnSpPr>
            <a:cxnSpLocks/>
          </p:cNvCxnSpPr>
          <p:nvPr userDrawn="1"/>
        </p:nvCxnSpPr>
        <p:spPr>
          <a:xfrm>
            <a:off x="0" y="1344113"/>
            <a:ext cx="12192000" cy="0"/>
          </a:xfrm>
          <a:prstGeom prst="line">
            <a:avLst/>
          </a:prstGeom>
          <a:ln w="38100">
            <a:solidFill>
              <a:srgbClr val="D6D6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94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08" r:id="rId2"/>
    <p:sldLayoutId id="2147483685" r:id="rId3"/>
    <p:sldLayoutId id="2147483709" r:id="rId4"/>
    <p:sldLayoutId id="2147483703" r:id="rId5"/>
    <p:sldLayoutId id="2147483704" r:id="rId6"/>
    <p:sldLayoutId id="2147483686" r:id="rId7"/>
    <p:sldLayoutId id="2147483687" r:id="rId8"/>
    <p:sldLayoutId id="2147483688" r:id="rId9"/>
    <p:sldLayoutId id="2147483705" r:id="rId10"/>
    <p:sldLayoutId id="2147483689" r:id="rId11"/>
    <p:sldLayoutId id="2147483690" r:id="rId12"/>
    <p:sldLayoutId id="2147483691" r:id="rId13"/>
    <p:sldLayoutId id="2147483692" r:id="rId14"/>
    <p:sldLayoutId id="2147483696" r:id="rId15"/>
    <p:sldLayoutId id="2147483697" r:id="rId16"/>
    <p:sldLayoutId id="2147483698" r:id="rId17"/>
    <p:sldLayoutId id="2147483700" r:id="rId18"/>
    <p:sldLayoutId id="2147483699" r:id="rId19"/>
    <p:sldLayoutId id="2147483701" r:id="rId20"/>
    <p:sldLayoutId id="2147483706" r:id="rId21"/>
    <p:sldLayoutId id="2147483710" r:id="rId22"/>
    <p:sldLayoutId id="2147483707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rgbClr val="800000"/>
          </a:solidFill>
          <a:latin typeface="Helvetica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800000"/>
        </a:buClr>
        <a:buFont typeface="Arial" panose="020B0604020202020204" pitchFamily="34" charset="0"/>
        <a:buChar char="•"/>
        <a:defRPr sz="2400" b="0" i="0" kern="1200">
          <a:solidFill>
            <a:srgbClr val="767676"/>
          </a:solidFill>
          <a:latin typeface="Helvetica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00000"/>
        </a:buClr>
        <a:buFont typeface="Arial" panose="020B0604020202020204" pitchFamily="34" charset="0"/>
        <a:buChar char="•"/>
        <a:defRPr sz="2000" b="0" i="0" kern="1200">
          <a:solidFill>
            <a:srgbClr val="767676"/>
          </a:solidFill>
          <a:latin typeface="Helvetica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00000"/>
        </a:buClr>
        <a:buFont typeface="Arial" panose="020B0604020202020204" pitchFamily="34" charset="0"/>
        <a:buChar char="•"/>
        <a:defRPr sz="1800" b="0" i="0" kern="1200">
          <a:solidFill>
            <a:srgbClr val="767676"/>
          </a:solidFill>
          <a:latin typeface="Helvetica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00000"/>
        </a:buClr>
        <a:buFont typeface="Arial" panose="020B0604020202020204" pitchFamily="34" charset="0"/>
        <a:buChar char="•"/>
        <a:defRPr sz="1600" b="0" i="0" kern="1200">
          <a:solidFill>
            <a:srgbClr val="767676"/>
          </a:solidFill>
          <a:latin typeface="Helvetica" pitchFamily="2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00000"/>
        </a:buClr>
        <a:buFont typeface="Arial" panose="020B0604020202020204" pitchFamily="34" charset="0"/>
        <a:buChar char="•"/>
        <a:defRPr sz="1400" b="0" i="0" kern="1200">
          <a:solidFill>
            <a:srgbClr val="767676"/>
          </a:solidFill>
          <a:latin typeface="Helvetica" pitchFamily="2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jpg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3" Type="http://schemas.openxmlformats.org/officeDocument/2006/relationships/image" Target="../media/copied1.svg"/><Relationship Id="rId4" Type="http://schemas.openxmlformats.org/officeDocument/2006/relationships/image" Target="../media/image18.png"/><Relationship Id="rId5" Type="http://schemas.openxmlformats.org/officeDocument/2006/relationships/image" Target="../media/copied2.svg"/><Relationship Id="rId6" Type="http://schemas.openxmlformats.org/officeDocument/2006/relationships/image" Target="../media/image19.png"/><Relationship Id="rId7" Type="http://schemas.openxmlformats.org/officeDocument/2006/relationships/image" Target="../media/copied3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700" b="1"/>
              <a:t>Physics-Informed Variational Autoencoders for Prostate MRI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737373"/>
                </a:solidFill>
                <a:latin typeface="Arial"/>
              </a:rPr>
              <a:t>Can a neural inverse model quantify its own uncertainty at clinical noise?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4343400"/>
            <a:ext cx="5577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Sabyasachi Chowdhury  ·  Aaron Garay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737373"/>
                </a:solidFill>
                <a:latin typeface="Arial"/>
              </a:rPr>
              <a:t>MS Applied Data Science Capstone  ·  The University of Chicago</a:t>
            </a:r>
          </a:p>
          <a:p>
            <a:pPr>
              <a:spcAft>
                <a:spcPts val="0"/>
              </a:spcAft>
            </a:pPr>
            <a:r>
              <a:rPr sz="1100" b="0" i="1">
                <a:solidFill>
                  <a:srgbClr val="737373"/>
                </a:solidFill>
                <a:latin typeface="Arial"/>
              </a:rPr>
              <a:t>In collaboration with the Sanford J. Grossman Center of Excellence in Prostate Imaging and Image-Guided Therapy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Prostate cancer is over-biopsied because the imaging is ambiguous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600200"/>
            <a:ext cx="64465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≈168,000 men per year</a:t>
            </a:r>
            <a:r>
              <a:rPr sz="1500" b="0" i="0">
                <a:solidFill>
                  <a:srgbClr val="000000"/>
                </a:solidFill>
                <a:latin typeface="Arial"/>
              </a:rPr>
              <a:t> in the US undergo a biopsy after a false-positive PSA test — an invasive procedure driven by a blood test that cannot distinguish indolent from aggressive disease.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MRI could triage them.</a:t>
            </a:r>
            <a:r>
              <a:rPr sz="1500" b="0" i="0">
                <a:solidFill>
                  <a:srgbClr val="000000"/>
                </a:solidFill>
                <a:latin typeface="Arial"/>
              </a:rPr>
              <a:t> Benign and malignant prostate tissue differ in what they are made of: cancer replaces open glandular lumen with dense epithelium.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But standard multiparametric MRI returns a </a:t>
            </a:r>
            <a:r>
              <a:rPr sz="1500" b="0" i="1">
                <a:solidFill>
                  <a:srgbClr val="000000"/>
                </a:solidFill>
                <a:latin typeface="Arial"/>
              </a:rPr>
              <a:t>radiologist's score</a:t>
            </a:r>
            <a:r>
              <a:rPr sz="1500" b="0" i="0">
                <a:solidFill>
                  <a:srgbClr val="000000"/>
                </a:solidFill>
                <a:latin typeface="Arial"/>
              </a:rPr>
              <a:t> (PI-RADS), not a measurement. It is subjective and it does not say what the tissue is.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The quantitative alternative: estimate the actual </a:t>
            </a:r>
            <a:r>
              <a:rPr sz="1500" b="1" i="0">
                <a:solidFill>
                  <a:srgbClr val="000000"/>
                </a:solidFill>
                <a:latin typeface="Arial"/>
              </a:rPr>
              <a:t>tissue composition of every voxel</a:t>
            </a:r>
            <a:r>
              <a:rPr sz="1500" b="0" i="0">
                <a:solidFill>
                  <a:srgbClr val="000000"/>
                </a:solidFill>
                <a:latin typeface="Arial"/>
              </a:rPr>
              <a:t> — how much epithelium, stroma, and lumen it contains.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1600200"/>
            <a:ext cx="3721608" cy="1508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54864" bIns="54864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00000"/>
                </a:solidFill>
                <a:latin typeface="Arial"/>
              </a:rPr>
              <a:t>Where this work sits. 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The obstacle is not the scanner. It is the estimation problem that turns a scan into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35240" y="1600200"/>
            <a:ext cx="50292" cy="150876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3383280"/>
            <a:ext cx="372160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800000"/>
                </a:solidFill>
                <a:latin typeface="Arial"/>
              </a:rPr>
              <a:t>THE INVERSE PROBLEM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16</a:t>
            </a:r>
            <a:r>
              <a:rPr sz="1300" b="0" i="0">
                <a:solidFill>
                  <a:srgbClr val="000000"/>
                </a:solidFill>
                <a:latin typeface="Arial"/>
              </a:rPr>
              <a:t> MRI measurements per voxel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737373"/>
                </a:solidFill>
                <a:latin typeface="Arial"/>
              </a:rPr>
              <a:t>↓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9</a:t>
            </a:r>
            <a:r>
              <a:rPr sz="1300" b="0" i="0">
                <a:solidFill>
                  <a:srgbClr val="000000"/>
                </a:solidFill>
                <a:latin typeface="Arial"/>
              </a:rPr>
              <a:t> tissue parameters per voxel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737373"/>
                </a:solidFill>
                <a:latin typeface="Arial"/>
              </a:rPr>
              <a:t>Nonlinear, near-degenerate, and measured at SNR ≈ 20:1.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Hybrid Multidimensional MRI turns a scan into a composition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515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i="1">
                <a:solidFill>
                  <a:srgbClr val="737373"/>
                </a:solidFill>
                <a:latin typeface="Arial"/>
              </a:rPr>
              <a:t>Established method — Grossman Center, UChicago (Chatterjee et al., Radiology 2018 / 2022)</a:t>
            </a:r>
          </a:p>
        </p:txBody>
      </p:sp>
      <p:pic>
        <p:nvPicPr>
          <p:cNvPr id="90001" name="Picture 4" descr="A picture containing text, screenshot, multimedia software, software&#10;&#10;Description automatically generated">
            <a:extLst>
              <a:ext uri="{FF2B5EF4-FFF2-40B4-BE49-F238E27FC236}">
                <a16:creationId xmlns:a16="http://schemas.microsoft.com/office/drawing/2014/main" id="{4C561F56-EEE2-BD81-7D4D-AE0B83C78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441" y="1517904"/>
            <a:ext cx="9851833" cy="2019253"/>
          </a:xfrm>
          <a:prstGeom prst="rect">
            <a:avLst/>
          </a:prstGeom>
        </p:spPr>
      </p:pic>
      <p:pic>
        <p:nvPicPr>
          <p:cNvPr id="90002" name="Picture 2">
            <a:extLst>
              <a:ext uri="{FF2B5EF4-FFF2-40B4-BE49-F238E27FC236}">
                <a16:creationId xmlns:a16="http://schemas.microsoft.com/office/drawing/2014/main" id="{A6C2E8BD-5641-0B93-0AE0-695A3E36E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057" y="4722499"/>
            <a:ext cx="3604208" cy="1001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003" name="TextBox 2">
            <a:extLst>
              <a:ext uri="{FF2B5EF4-FFF2-40B4-BE49-F238E27FC236}">
                <a16:creationId xmlns:a16="http://schemas.microsoft.com/office/drawing/2014/main" id="{C49A2C10-70F6-1554-4A1E-FEDEA54017B8}"/>
              </a:ext>
            </a:extLst>
          </p:cNvPr>
          <p:cNvSpPr txBox="1"/>
          <p:nvPr/>
        </p:nvSpPr>
        <p:spPr>
          <a:xfrm>
            <a:off x="1051964" y="3845942"/>
            <a:ext cx="2341805" cy="1189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2060"/>
                </a:solidFill>
              </a:rPr>
              <a:t>1. Collect a 4x4 matrix of signals as a function of ‘b’ and ‘TE’ for each image voxel</a:t>
            </a: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90004" name="TextBox 9">
            <a:extLst>
              <a:ext uri="{FF2B5EF4-FFF2-40B4-BE49-F238E27FC236}">
                <a16:creationId xmlns:a16="http://schemas.microsoft.com/office/drawing/2014/main" id="{E4DF5B85-A761-76BE-DB3B-7DD81F28DD0F}"/>
              </a:ext>
            </a:extLst>
          </p:cNvPr>
          <p:cNvSpPr txBox="1"/>
          <p:nvPr/>
        </p:nvSpPr>
        <p:spPr>
          <a:xfrm>
            <a:off x="3887553" y="4008571"/>
            <a:ext cx="2341805" cy="580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 sz="1400">
                <a:solidFill>
                  <a:srgbClr val="002060"/>
                </a:solidFill>
              </a:rPr>
              <a:t>2. </a:t>
            </a:r>
            <a:r>
              <a:rPr lang="en-US" sz="1600" b="1" i="1" dirty="0">
                <a:solidFill>
                  <a:srgbClr val="002060"/>
                </a:solidFill>
              </a:rPr>
              <a:t>Fit 3-compartment model </a:t>
            </a:r>
            <a:r>
              <a:rPr lang="en-US" b="1" i="1" dirty="0" sz="1400">
                <a:solidFill>
                  <a:srgbClr val="002060"/>
                </a:solidFill>
              </a:rPr>
              <a:t>in </a:t>
            </a:r>
            <a:r>
              <a:rPr lang="en-US" sz="1600" b="1" i="1" dirty="0">
                <a:solidFill>
                  <a:srgbClr val="002060"/>
                </a:solidFill>
              </a:rPr>
              <a:t>‘b’/’TE’ space</a:t>
            </a:r>
            <a:endParaRPr lang="en-US" dirty="0" sz="1600">
              <a:solidFill>
                <a:srgbClr val="002060"/>
              </a:solidFill>
            </a:endParaRPr>
          </a:p>
        </p:txBody>
      </p:sp>
      <p:sp>
        <p:nvSpPr>
          <p:cNvPr id="90005" name="TextBox 15">
            <a:extLst>
              <a:ext uri="{FF2B5EF4-FFF2-40B4-BE49-F238E27FC236}">
                <a16:creationId xmlns:a16="http://schemas.microsoft.com/office/drawing/2014/main" id="{96846E0D-BF14-900C-D77A-066BACEC3022}"/>
              </a:ext>
            </a:extLst>
          </p:cNvPr>
          <p:cNvSpPr txBox="1"/>
          <p:nvPr/>
        </p:nvSpPr>
        <p:spPr>
          <a:xfrm>
            <a:off x="6592553" y="3835682"/>
            <a:ext cx="2341805" cy="107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 sz="1400">
                <a:solidFill>
                  <a:srgbClr val="002060"/>
                </a:solidFill>
              </a:rPr>
              <a:t>3. This fit</a:t>
            </a:r>
            <a:r>
              <a:rPr lang="en-US" sz="1600" b="1" i="1" dirty="0">
                <a:solidFill>
                  <a:srgbClr val="002060"/>
                </a:solidFill>
              </a:rPr>
              <a:t> yields volume fractions of stroma, lumen, and epithelium in each voxel</a:t>
            </a:r>
            <a:endParaRPr lang="en-US" dirty="0" sz="1600">
              <a:solidFill>
                <a:srgbClr val="002060"/>
              </a:solidFill>
            </a:endParaRPr>
          </a:p>
        </p:txBody>
      </p:sp>
      <p:sp>
        <p:nvSpPr>
          <p:cNvPr id="90006" name="TextBox 17">
            <a:extLst>
              <a:ext uri="{FF2B5EF4-FFF2-40B4-BE49-F238E27FC236}">
                <a16:creationId xmlns:a16="http://schemas.microsoft.com/office/drawing/2014/main" id="{90D19D6D-8CE3-407B-C8DE-F7F44E8CAF68}"/>
              </a:ext>
            </a:extLst>
          </p:cNvPr>
          <p:cNvSpPr txBox="1"/>
          <p:nvPr/>
        </p:nvSpPr>
        <p:spPr>
          <a:xfrm>
            <a:off x="9237051" y="3845942"/>
            <a:ext cx="1876344" cy="107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 sz="1400">
                <a:solidFill>
                  <a:srgbClr val="002060"/>
                </a:solidFill>
              </a:rPr>
              <a:t>4.T</a:t>
            </a:r>
            <a:r>
              <a:rPr lang="en-US" sz="1600" b="1" i="1" dirty="0">
                <a:solidFill>
                  <a:srgbClr val="002060"/>
                </a:solidFill>
              </a:rPr>
              <a:t>issue composition provides a cancer risk map </a:t>
            </a:r>
            <a:endParaRPr lang="en-US" dirty="0" sz="1600">
              <a:solidFill>
                <a:srgbClr val="002060"/>
              </a:solidFill>
            </a:endParaRPr>
          </a:p>
        </p:txBody>
      </p:sp>
      <p:sp>
        <p:nvSpPr>
          <p:cNvPr id="90007" name="TextBox 90006"/>
          <p:cNvSpPr txBox="1"/>
          <p:nvPr/>
        </p:nvSpPr>
        <p:spPr>
          <a:xfrm>
            <a:off x="841248" y="5925312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>
                <a:solidFill>
                  <a:srgbClr val="737373"/>
                </a:solidFill>
                <a:latin typeface="Arial"/>
              </a:rPr>
              <a:t>Diagram reproduced from the 8/16/2024 Grossman Center progress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Three tissue compartments, nine numbers per voxel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515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i="1">
                <a:solidFill>
                  <a:srgbClr val="737373"/>
                </a:solidFill>
                <a:latin typeface="Arial"/>
              </a:rPr>
              <a:t>Histology defines the compartments; each one decays differently along b and TE</a:t>
            </a:r>
          </a:p>
        </p:txBody>
      </p:sp>
      <p:pic>
        <p:nvPicPr>
          <p:cNvPr id="90007" name="Picture 2" descr="Unleash The Power of AI In Prostate Histology">
            <a:extLst>
              <a:ext uri="{FF2B5EF4-FFF2-40B4-BE49-F238E27FC236}">
                <a16:creationId xmlns:a16="http://schemas.microsoft.com/office/drawing/2014/main" id="{FB29DC83-2DAC-3AA9-1949-BB2DB781D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1517904"/>
            <a:ext cx="3414717" cy="261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008" name="Picture 8" descr="A picture containing text, screenshot, multimedia software, software&#10;&#10;Description automatically generated">
            <a:extLst>
              <a:ext uri="{FF2B5EF4-FFF2-40B4-BE49-F238E27FC236}">
                <a16:creationId xmlns:a16="http://schemas.microsoft.com/office/drawing/2014/main" id="{2434AA2A-BFB8-666F-61C4-8E4AD0D488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63" r="53122" b="25760"/>
          <a:stretch/>
        </p:blipFill>
        <p:spPr>
          <a:xfrm>
            <a:off x="8271319" y="1818992"/>
            <a:ext cx="2472880" cy="1880055"/>
          </a:xfrm>
          <a:prstGeom prst="rect">
            <a:avLst/>
          </a:prstGeom>
        </p:spPr>
      </p:pic>
      <p:pic>
        <p:nvPicPr>
          <p:cNvPr id="90009" name="Picture 4">
            <a:extLst>
              <a:ext uri="{FF2B5EF4-FFF2-40B4-BE49-F238E27FC236}">
                <a16:creationId xmlns:a16="http://schemas.microsoft.com/office/drawing/2014/main" id="{D61069CA-AB7A-F9F2-A463-1A35B884D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625" y="2177572"/>
            <a:ext cx="4040694" cy="939432"/>
          </a:xfrm>
          <a:prstGeom prst="rect">
            <a:avLst/>
          </a:prstGeom>
        </p:spPr>
      </p:pic>
      <p:cxnSp>
        <p:nvCxnSpPr>
          <p:cNvPr id="90010" name="Connector: Curved 3">
            <a:extLst>
              <a:ext uri="{FF2B5EF4-FFF2-40B4-BE49-F238E27FC236}">
                <a16:creationId xmlns:a16="http://schemas.microsoft.com/office/drawing/2014/main" id="{121897EA-3EA1-7828-29D6-DAE6D3AAC344}"/>
              </a:ext>
            </a:extLst>
          </p:cNvPr>
          <p:cNvCxnSpPr>
            <a:cxnSpLocks/>
          </p:cNvCxnSpPr>
          <p:nvPr/>
        </p:nvCxnSpPr>
        <p:spPr>
          <a:xfrm flipV="1">
            <a:off x="3701972" y="2904739"/>
            <a:ext cx="1833621" cy="327960"/>
          </a:xfrm>
          <a:prstGeom prst="curvedConnector3">
            <a:avLst>
              <a:gd name="adj1" fmla="val 100988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011" name="Connector: Curved 6">
            <a:extLst>
              <a:ext uri="{FF2B5EF4-FFF2-40B4-BE49-F238E27FC236}">
                <a16:creationId xmlns:a16="http://schemas.microsoft.com/office/drawing/2014/main" id="{F886F434-BE03-F5B0-AC8D-B2FC49C2DF31}"/>
              </a:ext>
            </a:extLst>
          </p:cNvPr>
          <p:cNvCxnSpPr>
            <a:cxnSpLocks/>
          </p:cNvCxnSpPr>
          <p:nvPr/>
        </p:nvCxnSpPr>
        <p:spPr>
          <a:xfrm>
            <a:off x="3356901" y="2660342"/>
            <a:ext cx="1945713" cy="327610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012" name="Connector: Curved 16">
            <a:extLst>
              <a:ext uri="{FF2B5EF4-FFF2-40B4-BE49-F238E27FC236}">
                <a16:creationId xmlns:a16="http://schemas.microsoft.com/office/drawing/2014/main" id="{2F038A49-1722-BD7B-4266-AB57B8007279}"/>
              </a:ext>
            </a:extLst>
          </p:cNvPr>
          <p:cNvCxnSpPr>
            <a:cxnSpLocks/>
          </p:cNvCxnSpPr>
          <p:nvPr/>
        </p:nvCxnSpPr>
        <p:spPr>
          <a:xfrm flipV="1">
            <a:off x="3325063" y="2962814"/>
            <a:ext cx="2473376" cy="635373"/>
          </a:xfrm>
          <a:prstGeom prst="curvedConnector3">
            <a:avLst>
              <a:gd name="adj1" fmla="val 104424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0013" name="TextBox 2">
            <a:extLst>
              <a:ext uri="{FF2B5EF4-FFF2-40B4-BE49-F238E27FC236}">
                <a16:creationId xmlns:a16="http://schemas.microsoft.com/office/drawing/2014/main" id="{097588EF-5BE2-09DB-B5DD-758246C6BA92}"/>
              </a:ext>
            </a:extLst>
          </p:cNvPr>
          <p:cNvSpPr txBox="1"/>
          <p:nvPr/>
        </p:nvSpPr>
        <p:spPr>
          <a:xfrm>
            <a:off x="3572140" y="2854391"/>
            <a:ext cx="2521773" cy="425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epithelium</a:t>
            </a:r>
          </a:p>
        </p:txBody>
      </p:sp>
      <p:sp>
        <p:nvSpPr>
          <p:cNvPr id="90014" name="TextBox 5">
            <a:extLst>
              <a:ext uri="{FF2B5EF4-FFF2-40B4-BE49-F238E27FC236}">
                <a16:creationId xmlns:a16="http://schemas.microsoft.com/office/drawing/2014/main" id="{D56D2BB4-5BF4-8C11-7A7E-5E8369187BC4}"/>
              </a:ext>
            </a:extLst>
          </p:cNvPr>
          <p:cNvSpPr txBox="1"/>
          <p:nvPr/>
        </p:nvSpPr>
        <p:spPr>
          <a:xfrm>
            <a:off x="4543802" y="3111982"/>
            <a:ext cx="2521773" cy="425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B050"/>
                </a:solidFill>
              </a:rPr>
              <a:t>stroma</a:t>
            </a:r>
          </a:p>
        </p:txBody>
      </p:sp>
      <p:sp>
        <p:nvSpPr>
          <p:cNvPr id="90015" name="TextBox 7">
            <a:extLst>
              <a:ext uri="{FF2B5EF4-FFF2-40B4-BE49-F238E27FC236}">
                <a16:creationId xmlns:a16="http://schemas.microsoft.com/office/drawing/2014/main" id="{9F6A747B-73D0-3D5B-2D7E-1DC643B5CD51}"/>
              </a:ext>
            </a:extLst>
          </p:cNvPr>
          <p:cNvSpPr txBox="1"/>
          <p:nvPr/>
        </p:nvSpPr>
        <p:spPr>
          <a:xfrm>
            <a:off x="5171121" y="3475584"/>
            <a:ext cx="2521773" cy="425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</a:rPr>
              <a:t>lumen</a:t>
            </a:r>
          </a:p>
        </p:txBody>
      </p:sp>
      <p:sp>
        <p:nvSpPr>
          <p:cNvPr id="90016" name="TextBox 90015"/>
          <p:cNvSpPr txBox="1"/>
          <p:nvPr/>
        </p:nvSpPr>
        <p:spPr>
          <a:xfrm>
            <a:off x="8271319" y="3790486"/>
            <a:ext cx="247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737373"/>
                </a:solidFill>
                <a:latin typeface="Arial"/>
              </a:rPr>
              <a:t>Signal decay along b and TE</a:t>
            </a:r>
          </a:p>
        </p:txBody>
      </p:sp>
      <p:graphicFrame>
        <p:nvGraphicFramePr>
          <p:cNvPr id="90017" name="Table 90016"/>
          <p:cNvGraphicFramePr>
            <a:graphicFrameLocks noGrp="1"/>
          </p:cNvGraphicFramePr>
          <p:nvPr/>
        </p:nvGraphicFramePr>
        <p:xfrm>
          <a:off x="2331720" y="4526280"/>
          <a:ext cx="7543797" cy="81381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529148"/>
                <a:gridCol w="1529148"/>
                <a:gridCol w="1223318"/>
                <a:gridCol w="3262183"/>
              </a:tblGrid>
              <a:tr h="2377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Compartment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  (10⁻³ mm²/s)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T₂  (ms)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Biological meaning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Epithelium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0.30 – 0.70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20 – 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Cell-dense; expands with cancer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Stroma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0.70 – 1.70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40 – 100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Fibromuscular supporting tissue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Lumen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2.70 – 3.00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500 – 1000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Fluid-filled gland space; lost to cancer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018" name="TextBox 90017"/>
          <p:cNvSpPr txBox="1"/>
          <p:nvPr/>
        </p:nvSpPr>
        <p:spPr>
          <a:xfrm>
            <a:off x="841248" y="5669280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>
                <a:solidFill>
                  <a:srgbClr val="737373"/>
                </a:solidFill>
                <a:latin typeface="Arial"/>
              </a:rPr>
              <a:t>Signal model: Panagiotaki et al. (2014).  Figure reproduced from the 8/16/2024 Grossman Center progress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Prior work: replace the fit with a learned inverse — PIA</a:t>
            </a:r>
          </a:p>
        </p:txBody>
      </p:sp>
      <p:pic>
        <p:nvPicPr>
          <p:cNvPr id="90016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2D8051A-F5F8-93FF-497B-2EF987BDC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8" y="1554823"/>
            <a:ext cx="5263367" cy="3976953"/>
          </a:xfrm>
          <a:prstGeom prst="rect">
            <a:avLst/>
          </a:prstGeom>
        </p:spPr>
      </p:pic>
      <p:pic>
        <p:nvPicPr>
          <p:cNvPr id="90017" name="Picture 9">
            <a:extLst>
              <a:ext uri="{FF2B5EF4-FFF2-40B4-BE49-F238E27FC236}">
                <a16:creationId xmlns:a16="http://schemas.microsoft.com/office/drawing/2014/main" id="{AA197452-A19A-F75F-0E43-243A3CE94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207" y="2885932"/>
            <a:ext cx="571387" cy="333927"/>
          </a:xfrm>
          <a:prstGeom prst="rect">
            <a:avLst/>
          </a:prstGeom>
        </p:spPr>
      </p:pic>
      <p:pic>
        <p:nvPicPr>
          <p:cNvPr id="90018" name="Picture 4">
            <a:extLst>
              <a:ext uri="{FF2B5EF4-FFF2-40B4-BE49-F238E27FC236}">
                <a16:creationId xmlns:a16="http://schemas.microsoft.com/office/drawing/2014/main" id="{7449A543-C5E2-C10A-AE39-4DAD4A713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901" y="3981832"/>
            <a:ext cx="1959266" cy="455515"/>
          </a:xfrm>
          <a:prstGeom prst="rect">
            <a:avLst/>
          </a:prstGeom>
        </p:spPr>
      </p:pic>
      <p:sp>
        <p:nvSpPr>
          <p:cNvPr id="90019" name="TextBox 90018"/>
          <p:cNvSpPr txBox="1"/>
          <p:nvPr/>
        </p:nvSpPr>
        <p:spPr>
          <a:xfrm>
            <a:off x="8412480" y="1572768"/>
            <a:ext cx="294436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00" b="1" i="0">
                <a:solidFill>
                  <a:srgbClr val="800000"/>
                </a:solidFill>
                <a:latin typeface="Arial"/>
              </a:rPr>
              <a:t>WHY THE CLASSICAL FIT FAILS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NLLS fits each voxel independently — no information shared, no prior to break the degeneracy. It lands on a bound and stays there.</a:t>
            </a:r>
          </a:p>
          <a:p>
            <a:pPr>
              <a:spcAft>
                <a:spcPts val="700"/>
              </a:spcAft>
            </a:pPr>
            <a:r>
              <a:rPr sz="1100" b="1" i="0">
                <a:solidFill>
                  <a:srgbClr val="800000"/>
                </a:solidFill>
                <a:latin typeface="Arial"/>
              </a:rPr>
              <a:t>THE KEY IDEA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The decoder is the physics equation itself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— fixed, not learned. Only the encoder trains, so the only way to reconstruct the signal is to emit parameters that actually explain it.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Bounds are architecture, not penalties: D = D̄ + ΔD·tanh(z), v = softmax(z). A negative diffusivity is unrepresentable.</a:t>
            </a:r>
          </a:p>
        </p:txBody>
      </p:sp>
      <p:sp>
        <p:nvSpPr>
          <p:cNvPr id="90020" name="Rectangle 90019"/>
          <p:cNvSpPr/>
          <p:nvPr/>
        </p:nvSpPr>
        <p:spPr>
          <a:xfrm>
            <a:off x="8412480" y="4956048"/>
            <a:ext cx="2944368" cy="11704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54864" bIns="54864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00000"/>
                </a:solidFill>
                <a:latin typeface="Arial"/>
              </a:rPr>
              <a:t>Amortized inference: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per-voxel optimization becomes one forward pass. The prior lives in the weights, learned across thousands of voxels.</a:t>
            </a:r>
          </a:p>
        </p:txBody>
      </p:sp>
      <p:sp>
        <p:nvSpPr>
          <p:cNvPr id="90021" name="Rectangle 90020"/>
          <p:cNvSpPr/>
          <p:nvPr/>
        </p:nvSpPr>
        <p:spPr>
          <a:xfrm>
            <a:off x="8412480" y="4956048"/>
            <a:ext cx="50292" cy="1170432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22" name="TextBox 90021"/>
          <p:cNvSpPr txBox="1"/>
          <p:nvPr/>
        </p:nvSpPr>
        <p:spPr>
          <a:xfrm>
            <a:off x="841248" y="5870448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>
                <a:solidFill>
                  <a:srgbClr val="737373"/>
                </a:solidFill>
                <a:latin typeface="Arial"/>
              </a:rPr>
              <a:t>Architecture figure reproduced from the 8/16/2024 Grossman Center progress report (Gundogdu et al.).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PIA worked — and produced biomarkers NLLS could not</a:t>
            </a:r>
          </a:p>
        </p:txBody>
      </p:sp>
      <p:pic>
        <p:nvPicPr>
          <p:cNvPr id="90019" name="Content Placeholder 4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CF3C51FC-58B8-DF38-7551-2A3BB089B9D9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8" y="2121408"/>
            <a:ext cx="6035040" cy="1400655"/>
          </a:xfrm>
          <a:prstGeom prst="rect">
            <a:avLst/>
          </a:prstGeom>
        </p:spPr>
      </p:pic>
      <p:pic>
        <p:nvPicPr>
          <p:cNvPr id="90020" name="Picture 3" descr="A comparison of a graph&#10;&#10;Description automatically generated">
            <a:extLst>
              <a:ext uri="{FF2B5EF4-FFF2-40B4-BE49-F238E27FC236}">
                <a16:creationId xmlns:a16="http://schemas.microsoft.com/office/drawing/2014/main" id="{7319FB67-9831-BD05-F3A2-7989EF347F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7269480" y="1810512"/>
            <a:ext cx="3794760" cy="2505072"/>
          </a:xfrm>
          <a:prstGeom prst="rect">
            <a:avLst/>
          </a:prstGeom>
        </p:spPr>
      </p:pic>
      <p:sp>
        <p:nvSpPr>
          <p:cNvPr id="90021" name="TextBox 90020"/>
          <p:cNvSpPr txBox="1"/>
          <p:nvPr/>
        </p:nvSpPr>
        <p:spPr>
          <a:xfrm>
            <a:off x="841248" y="1463040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002A3A"/>
                </a:solidFill>
                <a:latin typeface="Arial"/>
              </a:rPr>
              <a:t>Robust to noise</a:t>
            </a:r>
          </a:p>
        </p:txBody>
      </p:sp>
      <p:sp>
        <p:nvSpPr>
          <p:cNvPr id="90022" name="TextBox 90021"/>
          <p:cNvSpPr txBox="1"/>
          <p:nvPr/>
        </p:nvSpPr>
        <p:spPr>
          <a:xfrm>
            <a:off x="7269480" y="1463040"/>
            <a:ext cx="40873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002A3A"/>
                </a:solidFill>
                <a:latin typeface="Arial"/>
              </a:rPr>
              <a:t>Clinically meaningful</a:t>
            </a:r>
          </a:p>
        </p:txBody>
      </p:sp>
      <p:sp>
        <p:nvSpPr>
          <p:cNvPr id="90023" name="TextBox 90022"/>
          <p:cNvSpPr txBox="1"/>
          <p:nvPr/>
        </p:nvSpPr>
        <p:spPr>
          <a:xfrm>
            <a:off x="1234440" y="181051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volume fraction</a:t>
            </a:r>
          </a:p>
        </p:txBody>
      </p:sp>
      <p:sp>
        <p:nvSpPr>
          <p:cNvPr id="90024" name="TextBox 90023"/>
          <p:cNvSpPr txBox="1"/>
          <p:nvPr/>
        </p:nvSpPr>
        <p:spPr>
          <a:xfrm>
            <a:off x="3246120" y="181051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90025" name="TextBox 90024"/>
          <p:cNvSpPr txBox="1"/>
          <p:nvPr/>
        </p:nvSpPr>
        <p:spPr>
          <a:xfrm>
            <a:off x="5212080" y="181051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T₂</a:t>
            </a:r>
          </a:p>
        </p:txBody>
      </p:sp>
      <p:sp>
        <p:nvSpPr>
          <p:cNvPr id="90026" name="TextBox 90025"/>
          <p:cNvSpPr txBox="1"/>
          <p:nvPr/>
        </p:nvSpPr>
        <p:spPr>
          <a:xfrm>
            <a:off x="841248" y="466344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737373"/>
                </a:solidFill>
                <a:latin typeface="Arial"/>
              </a:rPr>
              <a:t>mean absolute error  vs  noise standard deviation  (log scale)</a:t>
            </a:r>
          </a:p>
        </p:txBody>
      </p:sp>
      <p:sp>
        <p:nvSpPr>
          <p:cNvPr id="90027" name="TextBox 90026"/>
          <p:cNvSpPr txBox="1"/>
          <p:nvPr/>
        </p:nvSpPr>
        <p:spPr>
          <a:xfrm>
            <a:off x="841248" y="495604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37373"/>
                </a:solidFill>
                <a:latin typeface="Arial"/>
              </a:rPr>
              <a:t>NLLS error (red) climbs steeply with noise; PIA (blue) stays flat across the operating SNR region.</a:t>
            </a:r>
          </a:p>
        </p:txBody>
      </p:sp>
      <p:sp>
        <p:nvSpPr>
          <p:cNvPr id="90028" name="TextBox 90027"/>
          <p:cNvSpPr txBox="1"/>
          <p:nvPr/>
        </p:nvSpPr>
        <p:spPr>
          <a:xfrm>
            <a:off x="7269480" y="4956048"/>
            <a:ext cx="4087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37373"/>
                </a:solidFill>
                <a:latin typeface="Arial"/>
              </a:rPr>
              <a:t>Epithelial diffusivity — a quantity NLLS cannot recover — falls monotonically with Gleason grade.</a:t>
            </a:r>
          </a:p>
        </p:txBody>
      </p:sp>
      <p:sp>
        <p:nvSpPr>
          <p:cNvPr id="90029" name="Rectangle 90028"/>
          <p:cNvSpPr/>
          <p:nvPr/>
        </p:nvSpPr>
        <p:spPr>
          <a:xfrm>
            <a:off x="841248" y="5614416"/>
            <a:ext cx="105156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54864" bIns="54864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00000"/>
                </a:solidFill>
                <a:latin typeface="Arial"/>
              </a:rPr>
              <a:t>What it left open. 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PIA returns one number per parameter. It cannot say when that number should not be trusted — and a clinician acting on a composition map needs exactly that.</a:t>
            </a:r>
          </a:p>
        </p:txBody>
      </p:sp>
      <p:sp>
        <p:nvSpPr>
          <p:cNvPr id="90030" name="Rectangle 90029"/>
          <p:cNvSpPr/>
          <p:nvPr/>
        </p:nvSpPr>
        <p:spPr>
          <a:xfrm>
            <a:off x="841248" y="5614416"/>
            <a:ext cx="50292" cy="566928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The proposal this capstone inherits: make the biomarkers random variables</a:t>
            </a:r>
          </a:p>
        </p:txBody>
      </p:sp>
      <p:pic>
        <p:nvPicPr>
          <p:cNvPr id="90021" name="Graphic 4" descr="Child with balloon outline">
            <a:extLst>
              <a:ext uri="{FF2B5EF4-FFF2-40B4-BE49-F238E27FC236}">
                <a16:creationId xmlns:a16="http://schemas.microsoft.com/office/drawing/2014/main" id="{83D3075E-6ADC-7E6E-35AA-D1A17BDEA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1554480"/>
            <a:ext cx="937737" cy="937737"/>
          </a:xfrm>
          <a:prstGeom prst="rect">
            <a:avLst/>
          </a:prstGeom>
        </p:spPr>
      </p:pic>
      <p:pic>
        <p:nvPicPr>
          <p:cNvPr id="90022" name="Graphic 16" descr="Walk outline">
            <a:extLst>
              <a:ext uri="{FF2B5EF4-FFF2-40B4-BE49-F238E27FC236}">
                <a16:creationId xmlns:a16="http://schemas.microsoft.com/office/drawing/2014/main" id="{B506BE89-4DD0-B824-9902-FA11B471F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51987" y="1580066"/>
            <a:ext cx="937737" cy="937737"/>
          </a:xfrm>
          <a:prstGeom prst="rect">
            <a:avLst/>
          </a:prstGeom>
        </p:spPr>
      </p:pic>
      <p:pic>
        <p:nvPicPr>
          <p:cNvPr id="90023" name="Graphic 18" descr="Hero Male outline">
            <a:extLst>
              <a:ext uri="{FF2B5EF4-FFF2-40B4-BE49-F238E27FC236}">
                <a16:creationId xmlns:a16="http://schemas.microsoft.com/office/drawing/2014/main" id="{A20F3E52-0161-36C7-A5C6-371F3B393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7226" y="1664146"/>
            <a:ext cx="937737" cy="937737"/>
          </a:xfrm>
          <a:prstGeom prst="rect">
            <a:avLst/>
          </a:prstGeom>
        </p:spPr>
      </p:pic>
      <p:sp>
        <p:nvSpPr>
          <p:cNvPr id="90024" name="TextBox 3">
            <a:extLst>
              <a:ext uri="{FF2B5EF4-FFF2-40B4-BE49-F238E27FC236}">
                <a16:creationId xmlns:a16="http://schemas.microsoft.com/office/drawing/2014/main" id="{00F3AA6D-FBEE-37F3-F58A-3F2E04D5C460}"/>
              </a:ext>
            </a:extLst>
          </p:cNvPr>
          <p:cNvSpPr txBox="1"/>
          <p:nvPr/>
        </p:nvSpPr>
        <p:spPr>
          <a:xfrm>
            <a:off x="1567817" y="2023348"/>
            <a:ext cx="2056972" cy="378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HM-MRI</a:t>
            </a:r>
            <a:endParaRPr lang="en-US" dirty="0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025" name="TextBox 5">
            <a:extLst>
              <a:ext uri="{FF2B5EF4-FFF2-40B4-BE49-F238E27FC236}">
                <a16:creationId xmlns:a16="http://schemas.microsoft.com/office/drawing/2014/main" id="{D1EB5057-D089-27D2-64FA-7179BAD4518E}"/>
              </a:ext>
            </a:extLst>
          </p:cNvPr>
          <p:cNvSpPr txBox="1"/>
          <p:nvPr/>
        </p:nvSpPr>
        <p:spPr>
          <a:xfrm>
            <a:off x="5060386" y="2023348"/>
            <a:ext cx="1179733" cy="378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PIA</a:t>
            </a:r>
            <a:endParaRPr lang="en-US" dirty="0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026" name="TextBox 7">
            <a:extLst>
              <a:ext uri="{FF2B5EF4-FFF2-40B4-BE49-F238E27FC236}">
                <a16:creationId xmlns:a16="http://schemas.microsoft.com/office/drawing/2014/main" id="{2B0B601A-211A-BEC2-D532-82279FA413B9}"/>
              </a:ext>
            </a:extLst>
          </p:cNvPr>
          <p:cNvSpPr txBox="1"/>
          <p:nvPr/>
        </p:nvSpPr>
        <p:spPr>
          <a:xfrm>
            <a:off x="8878811" y="2023348"/>
            <a:ext cx="1381397" cy="378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PIvA</a:t>
            </a:r>
            <a:endParaRPr lang="en-US" dirty="0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027" name="TextBox 8">
            <a:extLst>
              <a:ext uri="{FF2B5EF4-FFF2-40B4-BE49-F238E27FC236}">
                <a16:creationId xmlns:a16="http://schemas.microsoft.com/office/drawing/2014/main" id="{1B8107DF-64D2-3693-FEC5-39A91FC0F7FF}"/>
              </a:ext>
            </a:extLst>
          </p:cNvPr>
          <p:cNvSpPr txBox="1"/>
          <p:nvPr/>
        </p:nvSpPr>
        <p:spPr>
          <a:xfrm>
            <a:off x="613310" y="2633501"/>
            <a:ext cx="3105627" cy="1230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Biomarkers* are </a:t>
            </a:r>
            <a:r>
              <a:rPr lang="en-US" sz="1800" b="1" dirty="0">
                <a:solidFill>
                  <a:srgbClr val="00B050"/>
                </a:solidFill>
              </a:rPr>
              <a:t>unknowns</a:t>
            </a:r>
            <a:r>
              <a:rPr lang="en-US" sz="1800" dirty="0"/>
              <a:t> in </a:t>
            </a:r>
            <a:r>
              <a:rPr lang="en-US" dirty="0" sz="1800"/>
              <a:t>series of equations (acquired signals) -&gt; s</a:t>
            </a:r>
            <a:r>
              <a:rPr lang="en-US" sz="1800" dirty="0"/>
              <a:t>olve for them via </a:t>
            </a:r>
            <a:r>
              <a:rPr lang="en-US" sz="1800" b="1" dirty="0">
                <a:solidFill>
                  <a:srgbClr val="00B050"/>
                </a:solidFill>
              </a:rPr>
              <a:t>NLLS</a:t>
            </a:r>
            <a:endParaRPr lang="en-US" b="1" dirty="0" sz="1800">
              <a:solidFill>
                <a:srgbClr val="00B050"/>
              </a:solidFill>
            </a:endParaRPr>
          </a:p>
        </p:txBody>
      </p:sp>
      <p:sp>
        <p:nvSpPr>
          <p:cNvPr id="90028" name="TextBox 14">
            <a:extLst>
              <a:ext uri="{FF2B5EF4-FFF2-40B4-BE49-F238E27FC236}">
                <a16:creationId xmlns:a16="http://schemas.microsoft.com/office/drawing/2014/main" id="{341841F9-6EE1-1E04-2386-164C8288667E}"/>
              </a:ext>
            </a:extLst>
          </p:cNvPr>
          <p:cNvSpPr txBox="1"/>
          <p:nvPr/>
        </p:nvSpPr>
        <p:spPr>
          <a:xfrm>
            <a:off x="4291348" y="2633501"/>
            <a:ext cx="3105627" cy="1230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Biomarkers are </a:t>
            </a:r>
            <a:r>
              <a:rPr lang="en-US" sz="1800" b="1" dirty="0">
                <a:solidFill>
                  <a:srgbClr val="00B050"/>
                </a:solidFill>
              </a:rPr>
              <a:t>latent variables </a:t>
            </a:r>
            <a:r>
              <a:rPr lang="en-US" sz="1800" dirty="0"/>
              <a:t>in an autoencoder, the encoder </a:t>
            </a:r>
            <a:r>
              <a:rPr lang="en-US" b="1" dirty="0" sz="1800">
                <a:solidFill>
                  <a:srgbClr val="00B050"/>
                </a:solidFill>
              </a:rPr>
              <a:t>emulates the inverse</a:t>
            </a:r>
            <a:r>
              <a:rPr lang="en-US" dirty="0" sz="1800"/>
              <a:t> of </a:t>
            </a:r>
            <a:r>
              <a:rPr lang="en-US" i="1" dirty="0" sz="1800"/>
              <a:t>f</a:t>
            </a:r>
          </a:p>
        </p:txBody>
      </p:sp>
      <p:sp>
        <p:nvSpPr>
          <p:cNvPr id="90029" name="TextBox 15">
            <a:extLst>
              <a:ext uri="{FF2B5EF4-FFF2-40B4-BE49-F238E27FC236}">
                <a16:creationId xmlns:a16="http://schemas.microsoft.com/office/drawing/2014/main" id="{6EA67DBC-5D1F-DB5F-B345-9F842CD93424}"/>
              </a:ext>
            </a:extLst>
          </p:cNvPr>
          <p:cNvSpPr txBox="1"/>
          <p:nvPr/>
        </p:nvSpPr>
        <p:spPr>
          <a:xfrm>
            <a:off x="7969386" y="2550341"/>
            <a:ext cx="3186293" cy="151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Biomarkers are </a:t>
            </a:r>
            <a:r>
              <a:rPr lang="en-US" sz="1800" b="1" dirty="0">
                <a:solidFill>
                  <a:srgbClr val="00B050"/>
                </a:solidFill>
              </a:rPr>
              <a:t>random variables</a:t>
            </a:r>
            <a:r>
              <a:rPr lang="en-US" b="1" dirty="0" sz="1800">
                <a:solidFill>
                  <a:srgbClr val="00B050"/>
                </a:solidFill>
              </a:rPr>
              <a:t>. </a:t>
            </a:r>
            <a:r>
              <a:rPr lang="en-US" sz="1800" dirty="0"/>
              <a:t>Use Bayesian </a:t>
            </a:r>
            <a:r>
              <a:rPr lang="en-US" dirty="0" sz="1800"/>
              <a:t>methods to model their </a:t>
            </a:r>
            <a:r>
              <a:rPr lang="en-US" b="1" dirty="0" sz="1800">
                <a:solidFill>
                  <a:srgbClr val="00B050"/>
                </a:solidFill>
              </a:rPr>
              <a:t>posterior probability </a:t>
            </a:r>
            <a:r>
              <a:rPr lang="en-US" dirty="0" sz="1800"/>
              <a:t>given an MRI signal</a:t>
            </a:r>
            <a:endParaRPr lang="en-US" i="1" dirty="0" sz="1800"/>
          </a:p>
        </p:txBody>
      </p:sp>
      <p:sp>
        <p:nvSpPr>
          <p:cNvPr id="90030" name="Rectangle 90029"/>
          <p:cNvSpPr/>
          <p:nvPr/>
        </p:nvSpPr>
        <p:spPr>
          <a:xfrm>
            <a:off x="841248" y="5010912"/>
            <a:ext cx="1051560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54864" bIns="54864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00000"/>
                </a:solidFill>
                <a:latin typeface="Arial"/>
              </a:rPr>
              <a:t>Grossman Center, next-year proposal (8/16/2024):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"Building on our success in PIA, we will develop a Bayesian deep learning framework … Develop PIvA for HM-MRI · Compare PIvA against NLLS and PIA in silico · Correlate PIvA with histopathology."</a:t>
            </a:r>
          </a:p>
        </p:txBody>
      </p:sp>
      <p:sp>
        <p:nvSpPr>
          <p:cNvPr id="90031" name="Rectangle 90030"/>
          <p:cNvSpPr/>
          <p:nvPr/>
        </p:nvSpPr>
        <p:spPr>
          <a:xfrm>
            <a:off x="841248" y="5010912"/>
            <a:ext cx="50292" cy="96012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32" name="TextBox 90031"/>
          <p:cNvSpPr txBox="1"/>
          <p:nvPr/>
        </p:nvSpPr>
        <p:spPr>
          <a:xfrm>
            <a:off x="841248" y="6053328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>
                <a:solidFill>
                  <a:srgbClr val="737373"/>
                </a:solidFill>
                <a:latin typeface="Arial"/>
              </a:rPr>
              <a:t>Framing diagram reproduced from the 8/16/2024 Grossman Center progress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This capstone: from proposal to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17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The proposal asks three things — build PIvA, compare it against NLLS and PIA in silico, and establish what its posterior is actually worth. This section answers all three. </a:t>
            </a:r>
            <a:r>
              <a:rPr sz="1400" b="1" i="0">
                <a:solidFill>
                  <a:srgbClr val="800000"/>
                </a:solidFill>
                <a:latin typeface="Arial"/>
              </a:rPr>
              <a:t>The third answer is the interesting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121408"/>
            <a:ext cx="3310128" cy="32004"/>
          </a:xfrm>
          <a:prstGeom prst="rect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267712"/>
            <a:ext cx="331012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EAAA00"/>
                </a:solidFill>
                <a:latin typeface="Arial"/>
              </a:rPr>
              <a:t>01   </a:t>
            </a:r>
            <a:r>
              <a:rPr sz="1200" b="1" i="0">
                <a:solidFill>
                  <a:srgbClr val="EAAA00"/>
                </a:solidFill>
                <a:latin typeface="Arial"/>
              </a:rPr>
              <a:t>DESIGN &amp; DATA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A two-tier synthetic testbed: one hierarchical patient cohort, one fixed physics decoder, four estimators scored on the same 240 held-out voxels.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3984" y="2121408"/>
            <a:ext cx="3310128" cy="32004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43984" y="2267712"/>
            <a:ext cx="331012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800000"/>
                </a:solidFill>
                <a:latin typeface="Arial"/>
              </a:rPr>
              <a:t>02   </a:t>
            </a:r>
            <a:r>
              <a:rPr sz="1200" b="1" i="0">
                <a:solidFill>
                  <a:srgbClr val="800000"/>
                </a:solidFill>
                <a:latin typeface="Arial"/>
              </a:rPr>
              <a:t>WHAT WE FOUND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Point accuracy is solved — the learned inverse beats NLLS decisively. Uncertainty is not: the posterior is confidently, and anti-informatively, wrong.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21408"/>
            <a:ext cx="3310128" cy="32004"/>
          </a:xfrm>
          <a:prstGeom prst="rect">
            <a:avLst/>
          </a:prstGeom>
          <a:solidFill>
            <a:srgbClr val="00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267712"/>
            <a:ext cx="331012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2A3A"/>
                </a:solidFill>
                <a:latin typeface="Arial"/>
              </a:rPr>
              <a:t>03   </a:t>
            </a:r>
            <a:r>
              <a:rPr sz="1200" b="1" i="0">
                <a:solidFill>
                  <a:srgbClr val="002A3A"/>
                </a:solidFill>
                <a:latin typeface="Arial"/>
              </a:rPr>
              <a:t>WHAT IT MEANS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A mechanistic diagnosis of why, a full-covariance posterior that partly fixes it, and an honest account of what still cannot be claimed.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rcRect l="8700" r="5500" t="20800" b="21200"/>
          <a:stretch>
            <a:fillRect/>
          </a:stretch>
        </p:blipFill>
        <p:spPr>
          <a:xfrm>
            <a:off x="3310128" y="3767328"/>
            <a:ext cx="5525703" cy="208483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41248" y="5961888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1">
                <a:solidFill>
                  <a:srgbClr val="737373"/>
                </a:solidFill>
                <a:latin typeface="Arial"/>
              </a:rPr>
              <a:t>The end-to-end pipeline: physiological priors → synthetic patients → forward model → Rician noise → estimation → posterior sampling →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A two-tier design: sweep broadly, then zoom in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l="2900" r="2600" t="5200" b="51800"/>
          <a:stretch>
            <a:fillRect/>
          </a:stretch>
        </p:blipFill>
        <p:spPr>
          <a:xfrm>
            <a:off x="2103120" y="1389888"/>
            <a:ext cx="8001000" cy="203199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841248" y="3566160"/>
            <a:ext cx="5074920" cy="32004"/>
          </a:xfrm>
          <a:prstGeom prst="rect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1928" y="3566160"/>
            <a:ext cx="5074920" cy="32004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730752"/>
            <a:ext cx="5074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TIER 1 · BROAD ROBUSTNESS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Five estimators × four Rician noise levels.</a:t>
            </a:r>
            <a:r>
              <a:rPr sz="1250" b="0" i="0">
                <a:solidFill>
                  <a:srgbClr val="000000"/>
                </a:solidFill>
                <a:latin typeface="Arial"/>
              </a:rPr>
              <a:t> NLLS · PIA · three diagonal-PIVA variants whose physiological constraint is tight, doubled, or unconstrained-positive.</a:t>
            </a:r>
          </a:p>
          <a:p>
            <a:pPr>
              <a:spcAft>
                <a:spcPts val="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Asks: </a:t>
            </a:r>
            <a:r>
              <a:rPr sz="1250" b="0" i="1">
                <a:solidFill>
                  <a:srgbClr val="000000"/>
                </a:solidFill>
                <a:latin typeface="Arial"/>
              </a:rPr>
              <a:t>does accuracy degrade gracefully with noise, or fail abruptly at the clinical level?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1928" y="3730752"/>
            <a:ext cx="5074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TIER 2 · FOCUSED POSTERIOR STRUCTURE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Diagonal Gaussian PIVA vs. full-covariance Cholesky PIVA</a:t>
            </a:r>
            <a:r>
              <a:rPr sz="1250" b="0" i="0">
                <a:solidFill>
                  <a:srgbClr val="000000"/>
                </a:solidFill>
                <a:latin typeface="Arial"/>
              </a:rPr>
              <a:t> with ILR volume fractions — at σ = 0.05 only, the clinical reference level.</a:t>
            </a:r>
          </a:p>
          <a:p>
            <a:pPr>
              <a:spcAft>
                <a:spcPts val="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Asks: </a:t>
            </a:r>
            <a:r>
              <a:rPr sz="1250" b="0" i="1">
                <a:solidFill>
                  <a:srgbClr val="000000"/>
                </a:solidFill>
                <a:latin typeface="Arial"/>
              </a:rPr>
              <a:t>does posterior structure buy calibrated uncertainty?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32704"/>
            <a:ext cx="1051560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54864" bIns="54864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00000"/>
                </a:solidFill>
                <a:latin typeface="Arial"/>
              </a:rPr>
              <a:t>Held fixed within a tier: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the acquisition grid, the clean test parameters, the noisy test observations, the physiological ranges, and the evaluation functions.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5632704"/>
            <a:ext cx="50292" cy="54864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The cohort: variation injected at two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515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i="1">
                <a:solidFill>
                  <a:srgbClr val="737373"/>
                </a:solidFill>
                <a:latin typeface="Arial"/>
              </a:rPr>
              <a:t>There is no patient data — the entire study runs on a generator built from physiological priors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2900" r="2600" t="13700" b="14700"/>
          <a:stretch>
            <a:fillRect/>
          </a:stretch>
        </p:blipFill>
        <p:spPr>
          <a:xfrm>
            <a:off x="841248" y="1444752"/>
            <a:ext cx="7086600" cy="299682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0" y="1481328"/>
            <a:ext cx="312724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AND THEN NOISE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Rician, not Gaussian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— magnitude MRI is the modulus of a complex signal, so the noise is not Gaussian at low signal.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Training draws σ ~ U(0.01, 0.08) per voxel; evaluation sweeps fixed σ ∈ {0.01, 0.03, 0.05, 0.08}.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THE SPLIT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122,880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training observations — 80 patients bootstrapped to 120, then Rician-augmented twice.</a:t>
            </a:r>
          </a:p>
          <a:p>
            <a:pPr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240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held-out voxels — 24 patients × 10, generated on a separate seed. Every estimator is scored on exactly these.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230368"/>
            <a:ext cx="105156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54864" bIns="54864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00000"/>
                </a:solidFill>
                <a:latin typeface="Arial"/>
              </a:rPr>
              <a:t>Why the hierarchy matters: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between-patient phenotype stays separable from within-patient heterogeneity, so the data are not merely i.i.d. voxels.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230368"/>
            <a:ext cx="50292" cy="566928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943600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>
                <a:solidFill>
                  <a:srgbClr val="737373"/>
                </a:solidFill>
                <a:latin typeface="Arial"/>
              </a:rPr>
              <a:t>Cohort diagram from the project's computational blueprint.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Four estimators, one fixed physics 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515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i="1">
                <a:solidFill>
                  <a:srgbClr val="737373"/>
                </a:solidFill>
                <a:latin typeface="Arial"/>
              </a:rPr>
              <a:t>All four consume the same 16-channel input and are scored on the same held-out cohort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481328"/>
          <a:ext cx="10515599" cy="250545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03119"/>
                <a:gridCol w="1371600"/>
                <a:gridCol w="1737360"/>
                <a:gridCol w="237744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Estimator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Inference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Latent representation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NLLS  (baseline)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Per-voxel
optimization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Point estimate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8 free parameters,
v_lum = 1 − v_ep − v_st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Bounded least squares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PIA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Amortized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Point estimate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9 outputs,
softmax fractions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MSE against the clean signal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PIVA  (diagonal)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Amortized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Diagonal Gaussian
posterior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z ∈ ℝ⁹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00000"/>
                          </a:solidFill>
                          <a:latin typeface="Arial"/>
                        </a:rPr>
                        <a:t>MSE  +  β · D_KL   (β-VAE ELBO)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00000"/>
                          </a:solidFill>
                          <a:latin typeface="Arial"/>
                        </a:rPr>
                        <a:t>PIVA v2.0  (full cov.)</a:t>
                      </a:r>
                    </a:p>
                  </a:txBody>
                  <a:tcPr marL="73152" marR="73152" marT="27432" marB="27432" anchor="ctr">
                    <a:solidFill>
                      <a:srgbClr val="F6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00000"/>
                          </a:solidFill>
                          <a:latin typeface="Arial"/>
                        </a:rPr>
                        <a:t>Amortized</a:t>
                      </a:r>
                    </a:p>
                  </a:txBody>
                  <a:tcPr marL="73152" marR="73152" marT="27432" marB="27432" anchor="ctr">
                    <a:solidFill>
                      <a:srgbClr val="F6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00000"/>
                          </a:solidFill>
                          <a:latin typeface="Arial"/>
                        </a:rPr>
                        <a:t>Full Gaussian
posterior</a:t>
                      </a:r>
                    </a:p>
                  </a:txBody>
                  <a:tcPr marL="73152" marR="73152" marT="27432" marB="27432" anchor="ctr">
                    <a:solidFill>
                      <a:srgbClr val="F6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00000"/>
                          </a:solidFill>
                          <a:latin typeface="Arial"/>
                        </a:rPr>
                        <a:t>z ∈ ℝ⁸,  ILR fractions</a:t>
                      </a:r>
                    </a:p>
                  </a:txBody>
                  <a:tcPr marL="73152" marR="73152" marT="27432" marB="27432" anchor="ctr">
                    <a:solidFill>
                      <a:srgbClr val="F6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00000"/>
                          </a:solidFill>
                          <a:latin typeface="Arial"/>
                        </a:rPr>
                        <a:t>MSE  +  β · D_KL   (full-covariance KL)</a:t>
                      </a:r>
                    </a:p>
                  </a:txBody>
                  <a:tcPr marL="73152" marR="73152" marT="27432" marB="27432" anchor="ctr">
                    <a:solidFill>
                      <a:srgbClr val="F6ECE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4462272"/>
            <a:ext cx="50749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WHAT VARIES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Only the inference machinery — how the 16 measurements are turned into 9 parameters. Every difference in the results is therefore attributable to that choice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1928" y="4462272"/>
            <a:ext cx="50749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WHAT DOES NOT</a:t>
            </a:r>
          </a:p>
          <a:p>
            <a:pPr>
              <a:spcAft>
                <a:spcPts val="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The decoder is Eq. (1) in every row</a:t>
            </a:r>
            <a:r>
              <a:rPr sz="1250" b="0" i="0">
                <a:solidFill>
                  <a:srgbClr val="000000"/>
                </a:solidFill>
                <a:latin typeface="Arial"/>
              </a:rPr>
              <a:t> — fixed, with no trainable layers. Posterior inference for the two probabilistic rows is 25 Monte Carlo passes per voxel.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Accuracy: the learned inverse wins decisively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515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i="1">
                <a:solidFill>
                  <a:srgbClr val="737373"/>
                </a:solidFill>
                <a:latin typeface="Arial"/>
              </a:rPr>
              <a:t>Held-out cohort, 240 voxels, σ = 0.05 (SNR ≈ 20:1) — all models from a single matched run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627632"/>
          <a:ext cx="10515596" cy="153619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987386"/>
                <a:gridCol w="1194954"/>
                <a:gridCol w="1194954"/>
                <a:gridCol w="1194954"/>
                <a:gridCol w="1194954"/>
                <a:gridCol w="1553440"/>
                <a:gridCol w="1194954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Estimator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  R²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T₂  R²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  R²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  MAE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T₂  MAE (ms)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  MAE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rial"/>
                        </a:rPr>
                        <a:t>NLLS  (baseline)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rial"/>
                        </a:rPr>
                        <a:t>0.926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rial"/>
                        </a:rPr>
                        <a:t>0.807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rial"/>
                        </a:rPr>
                        <a:t>0.267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rial"/>
                        </a:rPr>
                        <a:t>0.222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rial"/>
                        </a:rPr>
                        <a:t>92.7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rial"/>
                        </a:rPr>
                        <a:t>0.125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rial"/>
                        </a:rPr>
                        <a:t>PIA  (deterministic)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rial"/>
                        </a:rPr>
                        <a:t>0.984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rial"/>
                        </a:rPr>
                        <a:t>0.960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00000"/>
                          </a:solidFill>
                          <a:latin typeface="Arial"/>
                        </a:rPr>
                        <a:t>0.593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rial"/>
                        </a:rPr>
                        <a:t>0.091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rial"/>
                        </a:rPr>
                        <a:t>35.5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00000"/>
                          </a:solidFill>
                          <a:latin typeface="Arial"/>
                        </a:rPr>
                        <a:t>0.093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00000"/>
                          </a:solidFill>
                          <a:latin typeface="Arial"/>
                        </a:rPr>
                        <a:t>PIVA  (probabilistic)</a:t>
                      </a:r>
                    </a:p>
                  </a:txBody>
                  <a:tcPr marL="73152" marR="73152" marT="27432" marB="27432" anchor="ctr">
                    <a:solidFill>
                      <a:srgbClr val="F6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00000"/>
                          </a:solidFill>
                          <a:latin typeface="Arial"/>
                        </a:rPr>
                        <a:t>0.987</a:t>
                      </a:r>
                    </a:p>
                  </a:txBody>
                  <a:tcPr marL="73152" marR="73152" marT="27432" marB="27432" anchor="ctr">
                    <a:solidFill>
                      <a:srgbClr val="F6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00000"/>
                          </a:solidFill>
                          <a:latin typeface="Arial"/>
                        </a:rPr>
                        <a:t>0.966</a:t>
                      </a:r>
                    </a:p>
                  </a:txBody>
                  <a:tcPr marL="73152" marR="73152" marT="27432" marB="27432" anchor="ctr">
                    <a:solidFill>
                      <a:srgbClr val="F6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00000"/>
                          </a:solidFill>
                          <a:latin typeface="Arial"/>
                        </a:rPr>
                        <a:t>0.577</a:t>
                      </a:r>
                    </a:p>
                  </a:txBody>
                  <a:tcPr marL="73152" marR="73152" marT="27432" marB="27432" anchor="ctr">
                    <a:solidFill>
                      <a:srgbClr val="F6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00000"/>
                          </a:solidFill>
                          <a:latin typeface="Arial"/>
                        </a:rPr>
                        <a:t>0.080</a:t>
                      </a:r>
                    </a:p>
                  </a:txBody>
                  <a:tcPr marL="73152" marR="73152" marT="27432" marB="27432" anchor="ctr">
                    <a:solidFill>
                      <a:srgbClr val="F6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00000"/>
                          </a:solidFill>
                          <a:latin typeface="Arial"/>
                        </a:rPr>
                        <a:t>33.5</a:t>
                      </a:r>
                    </a:p>
                  </a:txBody>
                  <a:tcPr marL="73152" marR="73152" marT="27432" marB="27432" anchor="ctr">
                    <a:solidFill>
                      <a:srgbClr val="F6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00000"/>
                          </a:solidFill>
                          <a:latin typeface="Arial"/>
                        </a:rPr>
                        <a:t>0.097</a:t>
                      </a:r>
                    </a:p>
                  </a:txBody>
                  <a:tcPr marL="73152" marR="73152" marT="27432" marB="27432" anchor="ctr">
                    <a:solidFill>
                      <a:srgbClr val="F6ECE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3840480"/>
            <a:ext cx="5074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WHAT HOLDS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Embedding the physics as a fixed decoder beats per-voxel fitting on every parameter family.</a:t>
            </a:r>
            <a:r>
              <a:rPr sz="1250" b="1" i="0">
                <a:solidFill>
                  <a:srgbClr val="000000"/>
                </a:solidFill>
                <a:latin typeface="Arial"/>
              </a:rPr>
              <a:t> T₂ error falls from 93 ms to 34 ms.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Volume fraction — the parameter that carries the cancer signal, and the one NLLS handles worst — more than doubles in R².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1928" y="3840480"/>
            <a:ext cx="5074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AND IT HOLDS UNDER NOISE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Across σ ∈ {0.01 … 0.08}, NLLS volume-fraction R² decays from 0.43 to −0.14. PIA stays between 0.81 and 0.48; PIVA between 0.78 and 0.47.</a:t>
            </a:r>
          </a:p>
          <a:p>
            <a:pPr>
              <a:spcAft>
                <a:spcPts val="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Making the model variational cost nothing in point accuracy.</a:t>
            </a:r>
            <a:r>
              <a:rPr sz="1250" b="0" i="0">
                <a:solidFill>
                  <a:srgbClr val="000000"/>
                </a:solidFill>
                <a:latin typeface="Arial"/>
              </a:rPr>
              <a:t> PIVA matches — and marginally beats — PIA.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Uncertainty: the posterior is confidently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515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i="1">
                <a:solidFill>
                  <a:srgbClr val="737373"/>
                </a:solidFill>
                <a:latin typeface="Arial"/>
              </a:rPr>
              <a:t>PIVA-Tight, σ = 0.05. A 95% credible interval should contain the truth 95% of the time.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627632"/>
          <a:ext cx="5074917" cy="14630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494452"/>
                <a:gridCol w="860155"/>
                <a:gridCol w="860155"/>
                <a:gridCol w="860155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PIVA-Tight, σ = 0.05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T₂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95% CI empirical coverage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800000"/>
                          </a:solidFill>
                          <a:latin typeface="Arial"/>
                        </a:rPr>
                        <a:t>0.156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800000"/>
                          </a:solidFill>
                          <a:latin typeface="Arial"/>
                        </a:rPr>
                        <a:t>0.085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800000"/>
                          </a:solidFill>
                          <a:latin typeface="Arial"/>
                        </a:rPr>
                        <a:t>0.053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Nominal target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0.950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0.950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0.950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Calibration r  (σ vs |error|)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800000"/>
                          </a:solidFill>
                          <a:latin typeface="Arial"/>
                        </a:rPr>
                        <a:t>−0.121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800000"/>
                          </a:solidFill>
                          <a:latin typeface="Arial"/>
                        </a:rPr>
                        <a:t>−0.040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+0.267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81928" y="1627632"/>
          <a:ext cx="5074918" cy="14630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78358"/>
                <a:gridCol w="774140"/>
                <a:gridCol w="774140"/>
                <a:gridCol w="774140"/>
                <a:gridCol w="77414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β-sweep (PIVA-Tight)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0.01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0.10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3.00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D  R²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0.988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0.987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0.984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0.939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D  95% CI coverage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0.086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0.151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0.307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0.349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v  R²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0.568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0.580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0.571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800000"/>
                          </a:solidFill>
                          <a:latin typeface="Arial"/>
                        </a:rPr>
                        <a:t>0.143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" y="3456432"/>
            <a:ext cx="10515600" cy="841248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54864" bIns="54864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00000"/>
                </a:solidFill>
                <a:latin typeface="Arial"/>
              </a:rPr>
              <a:t>A negative calibration r means: 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the voxels the model reports as uncertain are the ones it gets right. The uncertainty is not merely miscalibrated — it is anti-informative, which is worse than reporting none at 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456432"/>
            <a:ext cx="50292" cy="841248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526280"/>
            <a:ext cx="50749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COVERAGE IS NOT NOISE-DRIVEN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D coverage is 0.197 at σ = 0.01 and 0.154 at σ = 0.08. It does not move with the noise level, which rules out an aleatoric explanation and points at something structural.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4526280"/>
            <a:ext cx="50749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AND β CANNOT BUY IT BACK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Raising β widens the intervals monotonically but never reaches 0.35 for D — and by β = 3.0 volume-fraction R² has already collapsed to 0.14. No setting achieves both.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Why: the constraint that guarantees plausibility destroys the uncertainty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572768"/>
            <a:ext cx="105156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54864" bIns="54864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Arial"/>
              </a:rPr>
              <a:t>D</a:t>
            </a:r>
            <a:r>
              <a:rPr sz="1700" b="0" i="0">
                <a:solidFill>
                  <a:srgbClr val="000000"/>
                </a:solidFill>
                <a:latin typeface="Arial"/>
              </a:rPr>
              <a:t>ᶜ = D̄ + ΔD · tanh(z)</a:t>
            </a:r>
            <a:r>
              <a:rPr sz="1500" b="0" i="0">
                <a:solidFill>
                  <a:srgbClr val="737373"/>
                </a:solidFill>
                <a:latin typeface="Arial"/>
              </a:rPr>
              <a:t>          ⟹          </a:t>
            </a:r>
            <a:r>
              <a:rPr sz="1700" b="1" i="0">
                <a:solidFill>
                  <a:srgbClr val="800000"/>
                </a:solidFill>
                <a:latin typeface="Arial"/>
              </a:rPr>
              <a:t>∂D/∂z = ΔD · (1 − tanh²z)  →  0</a:t>
            </a:r>
            <a:r>
              <a:rPr sz="1500" b="0" i="0">
                <a:solidFill>
                  <a:srgbClr val="737373"/>
                </a:solidFill>
                <a:latin typeface="Arial"/>
              </a:rPr>
              <a:t>   as |z| grows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50292" cy="749808"/>
          </a:xfrm>
          <a:prstGeom prst="rect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578608"/>
            <a:ext cx="331012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800000"/>
                </a:solidFill>
                <a:latin typeface="Arial"/>
              </a:rPr>
              <a:t>1 · THE ENCODER LEARNS LARGE |μ|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Large |μ| is optimal for reconstruction. But once |μ| ≳ 3 the tanh saturates, and latent uncertainty is compressed roughly 100× on its way into parameter space.</a:t>
            </a:r>
          </a:p>
          <a:p>
            <a:pPr>
              <a:spcAft>
                <a:spcPts val="0"/>
              </a:spcAft>
            </a:pPr>
            <a:r>
              <a:rPr sz="1250" b="0" i="1">
                <a:solidFill>
                  <a:srgbClr val="002A3A"/>
                </a:solidFill>
                <a:latin typeface="Arial"/>
              </a:rPr>
              <a:t>The reported σ is measuring tanh geometry, not posterior width.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3984" y="2578608"/>
            <a:ext cx="331012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800000"/>
                </a:solidFill>
                <a:latin typeface="Arial"/>
              </a:rPr>
              <a:t>2 · THE KL BILL IS PAID BY μ, NOT σ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KL</a:t>
            </a:r>
            <a:r>
              <a:rPr sz="900" b="1" i="0">
                <a:solidFill>
                  <a:srgbClr val="000000"/>
                </a:solidFill>
                <a:latin typeface="Arial"/>
              </a:rPr>
              <a:t>ⱼ</a:t>
            </a:r>
            <a:r>
              <a:rPr sz="1300" b="1" i="0">
                <a:solidFill>
                  <a:srgbClr val="000000"/>
                </a:solidFill>
                <a:latin typeface="Arial"/>
              </a:rPr>
              <a:t> = ½μ</a:t>
            </a:r>
            <a:r>
              <a:rPr sz="900" b="1" i="0">
                <a:solidFill>
                  <a:srgbClr val="000000"/>
                </a:solidFill>
                <a:latin typeface="Arial"/>
              </a:rPr>
              <a:t>ⱼ</a:t>
            </a:r>
            <a:r>
              <a:rPr sz="1300" b="1" i="0">
                <a:solidFill>
                  <a:srgbClr val="000000"/>
                </a:solidFill>
                <a:latin typeface="Arial"/>
              </a:rPr>
              <a:t>² + ½(σ</a:t>
            </a:r>
            <a:r>
              <a:rPr sz="900" b="1" i="0">
                <a:solidFill>
                  <a:srgbClr val="000000"/>
                </a:solidFill>
                <a:latin typeface="Arial"/>
              </a:rPr>
              <a:t>ⱼ</a:t>
            </a:r>
            <a:r>
              <a:rPr sz="1300" b="1" i="0">
                <a:solidFill>
                  <a:srgbClr val="000000"/>
                </a:solidFill>
                <a:latin typeface="Arial"/>
              </a:rPr>
              <a:t>² − 1 − log σ</a:t>
            </a:r>
            <a:r>
              <a:rPr sz="900" b="1" i="0">
                <a:solidFill>
                  <a:srgbClr val="000000"/>
                </a:solidFill>
                <a:latin typeface="Arial"/>
              </a:rPr>
              <a:t>ⱼ</a:t>
            </a:r>
            <a:r>
              <a:rPr sz="1300" b="1" i="0">
                <a:solidFill>
                  <a:srgbClr val="000000"/>
                </a:solidFill>
                <a:latin typeface="Arial"/>
              </a:rPr>
              <a:t>²)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KL stays large (≈30–57) because μ is large — not because σ_z is healthy. Nothing in the objective floors the per-dimension σ, so KL pressure never actually forces it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578608"/>
            <a:ext cx="331012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800000"/>
                </a:solidFill>
                <a:latin typeface="Arial"/>
              </a:rPr>
              <a:t>3 · AND THAT EXPLAINS THE SIGN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Voxels near the physiological centre have unsaturated tanh — larger reported σ — and are also easier to predict.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Voxels near the boundary have saturated tanh — σ ≈ 0 — and higher error.</a:t>
            </a:r>
          </a:p>
          <a:p>
            <a:pPr>
              <a:spcAft>
                <a:spcPts val="0"/>
              </a:spcAft>
            </a:pPr>
            <a:r>
              <a:rPr sz="1250" b="0" i="1">
                <a:solidFill>
                  <a:srgbClr val="002A3A"/>
                </a:solidFill>
                <a:latin typeface="Arial"/>
              </a:rPr>
              <a:t>Hence the negative calibration r, exactly as observed.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303520"/>
            <a:ext cx="105156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54864" bIns="54864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00000"/>
                </a:solidFill>
                <a:latin typeface="Arial"/>
              </a:rPr>
              <a:t>The consequence: 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this is not a hyperparameter failure. It is a structural property of the constraint parameterization — which means it has a structural fix.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5303520"/>
            <a:ext cx="50292" cy="566928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v2.0 — give the posterior a shape it can actually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515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i="1">
                <a:solidFill>
                  <a:srgbClr val="737373"/>
                </a:solidFill>
                <a:latin typeface="Arial"/>
              </a:rPr>
              <a:t>One change at a time: same decoder, same window, same β = 0.1 recipe, same 240-voxel cohort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44752"/>
            <a:ext cx="5074920" cy="32004"/>
          </a:xfrm>
          <a:prstGeom prst="rect">
            <a:avLst/>
          </a:prstGeom>
          <a:solidFill>
            <a:srgbClr val="73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1928" y="1444752"/>
            <a:ext cx="5074920" cy="32004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5074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737373"/>
                </a:solidFill>
                <a:latin typeface="Arial"/>
              </a:rPr>
              <a:t>DIAGONAL POSTERIOR — parameters vary independently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1928" y="1572768"/>
            <a:ext cx="5074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FULL COVARIANCE + ILR — parameters are allowed to correlate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rcRect l="13810" r="58210" t="17580" b="34900"/>
          <a:stretch>
            <a:fillRect/>
          </a:stretch>
        </p:blipFill>
        <p:spPr>
          <a:xfrm>
            <a:off x="1188720" y="1901952"/>
            <a:ext cx="1832813" cy="17373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rcRect l="60500" r="11500" t="18700" b="48500"/>
          <a:stretch>
            <a:fillRect/>
          </a:stretch>
        </p:blipFill>
        <p:spPr>
          <a:xfrm>
            <a:off x="6720840" y="1901952"/>
            <a:ext cx="2657242" cy="17373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41248" y="373075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737373"/>
                </a:solidFill>
                <a:latin typeface="Arial"/>
              </a:rPr>
              <a:t>q(z|x) = 𝒩(μ, diag σ²)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373075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02A3A"/>
                </a:solidFill>
                <a:latin typeface="Arial"/>
              </a:rPr>
              <a:t>q(z|x) = 𝒩(μ, LLᵀ)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096512"/>
            <a:ext cx="5074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A diagonal posterior is axis-aligned by construction. But the physics genuinely couples the parameters — T₂ and D trade off against each other inside a compartment — so it is structurally incapable of representing the real ambiguity.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4096512"/>
            <a:ext cx="5074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L is a learned lower-triangular Cholesky factor (36 free entries for an 8-dim latent). </a:t>
            </a:r>
            <a:r>
              <a:rPr sz="1200" b="1" i="0">
                <a:solidFill>
                  <a:srgbClr val="000000"/>
                </a:solidFill>
                <a:latin typeface="Arial"/>
              </a:rPr>
              <a:t>ILR removes the softmax null direction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— softmax(v + c·𝟏) = softmax(v) — where 98.7% of the volume block's posterior variance had collapsed. Latent drops 9 → 8.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5486400"/>
            <a:ext cx="10515600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54864" bIns="54864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2A3A"/>
                </a:solidFill>
                <a:latin typeface="Arial"/>
              </a:rPr>
              <a:t>Credit: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the full-covariance direction is adapted from Finkelstein et al. (2026), whose physics-structured VAE (PS-VAE) applies the same physics-simulator-plus-full-covariance idea to quantitative molecular MRI. arXiv:2602.03317.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5486400"/>
            <a:ext cx="50292" cy="658368"/>
          </a:xfrm>
          <a:prstGeom prst="rect">
            <a:avLst/>
          </a:prstGeom>
          <a:solidFill>
            <a:srgbClr val="00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Full covariance fixes the geometry — not the sharpness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515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i="1">
                <a:solidFill>
                  <a:srgbClr val="737373"/>
                </a:solidFill>
                <a:latin typeface="Arial"/>
              </a:rPr>
              <a:t>PIVA-Tight, σ = 0.05. Post-hoc calibration fits one scalar temperature per compartment on a held-out half.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645920"/>
          <a:ext cx="6720838" cy="294436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113005"/>
                <a:gridCol w="1070197"/>
                <a:gridCol w="1155813"/>
                <a:gridCol w="1070197"/>
                <a:gridCol w="1155813"/>
                <a:gridCol w="1155813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Raw cov.
Diagonal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Raw cov.
Cholesky-ILR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Calibrated
Diagonal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Calibrated
Cholesky-ILR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Calib. width
(% of range)</a:t>
                      </a:r>
                    </a:p>
                  </a:txBody>
                  <a:tcPr marL="73152" marR="73152" marT="27432" marB="27432" anchor="ctr">
                    <a:solidFill>
                      <a:srgbClr val="80000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D_ep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0.096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0.367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0.908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0.958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88.6%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D_st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0.071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0.158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0.958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0.967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84.7%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D_lum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0.346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0.629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0.983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0.950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70.1%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T₂_ep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0.088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0.200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0.908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0.908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55.7%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T₂_st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0.050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0.142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0.833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0.950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800000"/>
                          </a:solidFill>
                          <a:latin typeface="Arial"/>
                        </a:rPr>
                        <a:t>103.6%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T₂_lum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0.179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0.546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0.908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0.925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800000"/>
                          </a:solidFill>
                          <a:latin typeface="Arial"/>
                        </a:rPr>
                        <a:t>112.8%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v_ep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0.121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0.917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0.925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50.4%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v_st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0.021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0.092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0.842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0.950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64.4%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v_lum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0.092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0.142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0.900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0.925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28.5%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691640"/>
            <a:ext cx="349300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WHAT IMPROVED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Raw coverage rises for all nine parameters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— T₂_lum nearly triples, 0.179 → 0.546. The correlated posterior is genuinely a better description of the ambiguity.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After per-compartment calibration, seven of nine improve, and eight land within ±0.03 of the 0.95 target.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737373"/>
                </a:solidFill>
                <a:latin typeface="Arial"/>
              </a:rPr>
              <a:t>Point accuracy is a wash — D marginally better, T₂ marginally worse. The upgrade should be judged on uncertainty, not headline R².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4864608"/>
            <a:ext cx="3493008" cy="1234440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54864" bIns="54864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00000"/>
                </a:solidFill>
                <a:latin typeface="Arial"/>
              </a:rPr>
              <a:t>But sharpness is unsolved: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several calibrated intervals span 70–113% of the parameter's entire physiological range. An interval that wide is technically calibrated and clinically useless.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4864608"/>
            <a:ext cx="50292" cy="123444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"/>
            <a:ext cx="10515600" cy="950976"/>
          </a:xfrm>
        </p:spPr>
        <p:txBody>
          <a:bodyPr wrap="square" anchor="b"/>
          <a:lstStyle/>
          <a:p>
            <a:r>
              <a:rPr b="1" sz="2600">
                <a:solidFill>
                  <a:srgbClr val="800000"/>
                </a:solidFill>
              </a:rPr>
              <a:t>What we can claim, what we cannot, and what comes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536192"/>
            <a:ext cx="3127248" cy="32004"/>
          </a:xfrm>
          <a:prstGeom prst="rect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24528" y="1536192"/>
            <a:ext cx="3127248" cy="32004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07808" y="1536192"/>
            <a:ext cx="3749039" cy="32004"/>
          </a:xfrm>
          <a:prstGeom prst="rect">
            <a:avLst/>
          </a:prstGeom>
          <a:solidFill>
            <a:srgbClr val="00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3127248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ESTABLISHED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Physics-informed amortized inference beats per-voxel NLLS at clinical SNR — decisively, on every parameter family, on one shared held-out cohort.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Making the model variational costs nothing in point accuracy.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A full-covariance posterior with an identifiable volume latent improves raw coverage for all nine parameters.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And the calibration failure is diagnosed to a specific piece of math, not blamed on tuning.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4528" y="1719072"/>
            <a:ext cx="3127248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50" b="1" i="0">
                <a:solidFill>
                  <a:srgbClr val="800000"/>
                </a:solidFill>
                <a:latin typeface="Arial"/>
              </a:rPr>
              <a:t>NOT ESTABLISHED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Calibrated, sharp uncertainty.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This is the project's headline negative result, and it stands.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The data are entirely synthetic, generated by the same equation the network inverts — an inverse-crime setup. It measures whether the problem is solvable in principle, not transfer to a scanner.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240 test voxels, halved again for calibration; single seed, no error bars; and the NLLS baseline is optimistically biased by masking failed fits.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719072"/>
            <a:ext cx="3749039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50" b="1" i="0">
                <a:solidFill>
                  <a:srgbClr val="002A3A"/>
                </a:solidFill>
                <a:latin typeface="Arial"/>
              </a:rPr>
              <a:t>NEXT — AND THE MATH SAYS WHERE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1 · Replace tanh with linear + clamp.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A constant Jacobian means σ_D = ΔD · σ_z propagates directly instead of being crushed. This follows from the diagnosis and is the obvious next run.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2 · Add free-bits KL,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Σⱼ max(λ, KLⱼ), to floor per-dimension σ so the objective can no longer pay its KL bill with μ alone.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3 · Split conformal calibration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for guaranteed coverage that preserves sharpness, rather than inflating intervals.</a:t>
            </a:r>
          </a:p>
          <a:p>
            <a:pPr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4 · Real data —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a held-out patient cohort such as ProstateX, once the synthetic result is stable.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5669280"/>
            <a:ext cx="10515600" cy="5303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54864" bIns="54864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00000"/>
                </a:solidFill>
                <a:latin typeface="Arial"/>
              </a:rPr>
              <a:t>The one-sentence version: 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a physics-informed encoder can invert this problem accurately. Whether it can say how sure it is remains open — and we know why.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5669280"/>
            <a:ext cx="50292" cy="530352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sz="3000" b="1" i="0">
                <a:solidFill>
                  <a:srgbClr val="800000"/>
                </a:solidFill>
                <a:latin typeface="Arial"/>
              </a:rPr>
              <a:t>Thank you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Sabyasachi Chowdhury  ·  sabyachow@gmail.com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Aaron Garay  ·  aaron.m.garay@gmail.com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737373"/>
                </a:solidFill>
                <a:latin typeface="Arial"/>
              </a:rPr>
              <a:t>github.com/sabya-chow/PIVA-prostate-MRI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hicago">
  <a:themeElements>
    <a:clrScheme name="Custom 3">
      <a:dk1>
        <a:srgbClr val="000000"/>
      </a:dk1>
      <a:lt1>
        <a:srgbClr val="FFFFFF"/>
      </a:lt1>
      <a:dk2>
        <a:srgbClr val="737373"/>
      </a:dk2>
      <a:lt2>
        <a:srgbClr val="D9D9D9"/>
      </a:lt2>
      <a:accent1>
        <a:srgbClr val="800000"/>
      </a:accent1>
      <a:accent2>
        <a:srgbClr val="D9D9D9"/>
      </a:accent2>
      <a:accent3>
        <a:srgbClr val="A6A6A6"/>
      </a:accent3>
      <a:accent4>
        <a:srgbClr val="EAAA00"/>
      </a:accent4>
      <a:accent5>
        <a:srgbClr val="B36955"/>
      </a:accent5>
      <a:accent6>
        <a:srgbClr val="002A3A"/>
      </a:accent6>
      <a:hlink>
        <a:srgbClr val="800000"/>
      </a:hlink>
      <a:folHlink>
        <a:srgbClr val="73737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Chicago" id="{CFAA2610-EF68-2342-A71B-BDE9C170BA18}" vid="{B0365B56-F18B-384A-96E5-38458130AA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UChicago</Template>
  <TotalTime>1338</TotalTime>
  <Words>914</Words>
  <Application>Microsoft Macintosh PowerPoint</Application>
  <PresentationFormat>Widescreen</PresentationFormat>
  <Paragraphs>176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Helvetica</vt:lpstr>
      <vt:lpstr>UChicago</vt:lpstr>
      <vt:lpstr>Template Instructions</vt:lpstr>
      <vt:lpstr>Template Instructions</vt:lpstr>
      <vt:lpstr>Template Instructions</vt:lpstr>
      <vt:lpstr>Presentation Title Here</vt:lpstr>
      <vt:lpstr>Presentation Title Here</vt:lpstr>
      <vt:lpstr>Presentation  Title Here</vt:lpstr>
      <vt:lpstr>Presentation  Title Here</vt:lpstr>
      <vt:lpstr>Presentation  Title Here</vt:lpstr>
      <vt:lpstr>Divider Slide Text Here</vt:lpstr>
      <vt:lpstr>Divider Slide Text Here</vt:lpstr>
      <vt:lpstr>Divider Slide Text Here</vt:lpstr>
      <vt:lpstr>Slide Title Helvetica 36pt</vt:lpstr>
      <vt:lpstr>Slide Title Helvetica 36pt</vt:lpstr>
      <vt:lpstr>Slide Title Helvetica 36pt</vt:lpstr>
      <vt:lpstr>Slide Title Helvetica 36pt</vt:lpstr>
      <vt:lpstr>Slide Title Helvetica 36pt</vt:lpstr>
      <vt:lpstr>Slide Title Helvetica 36pt</vt:lpstr>
      <vt:lpstr>Slide Title Helvetica 36pt</vt:lpstr>
      <vt:lpstr>Slide Title Helvetica 36pt</vt:lpstr>
      <vt:lpstr>Slide Title Helvetica 36pt</vt:lpstr>
      <vt:lpstr>Slide Title Helvetica 36pt</vt:lpstr>
      <vt:lpstr>Slide Title Helvetica 36pt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Renee Kuklenski</dc:creator>
  <cp:lastModifiedBy>Renee Kuklenski</cp:lastModifiedBy>
  <cp:revision>166</cp:revision>
  <dcterms:created xsi:type="dcterms:W3CDTF">2019-01-18T20:37:24Z</dcterms:created>
  <dcterms:modified xsi:type="dcterms:W3CDTF">2021-09-16T14:27:50Z</dcterms:modified>
</cp:coreProperties>
</file>