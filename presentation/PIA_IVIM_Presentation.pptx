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914400"/>
            <a:ext cx="54864" cy="329184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8229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6E6E"/>
                </a:solidFill>
              </a:defRPr>
            </a:pPr>
            <a:r>
              <a:t>ADVANCED MEDICAL IMAGING RESEARCH</a:t>
            </a:r>
          </a:p>
          <a:p>
            <a:pPr>
              <a:spcBef>
                <a:spcPts val="1200"/>
              </a:spcBef>
              <a:spcAft>
                <a:spcPts val="1400"/>
              </a:spcAft>
              <a:defRPr sz="3200" b="1">
                <a:solidFill>
                  <a:srgbClr val="0F0F0F"/>
                </a:solidFill>
              </a:defRPr>
            </a:pPr>
            <a:r>
              <a:t>Physics-Informed AI for Better Breast Cancer MRI</a:t>
            </a: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A 6,400× Speedup in Quantitative IVIM Parameter Mapping via Two-Stage 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042416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93776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E6E6E"/>
                </a:solidFill>
              </a:defRPr>
            </a:pPr>
            <a:r>
              <a:t>AAPM IVIM Challenge  •  VICTRE Digital Breast Phantoms (400 Test Patients)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The Clinical Motivation: Why Breast MRI Needs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28416" cy="27432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0F0F"/>
                </a:solidFill>
              </a:defRPr>
            </a:pPr>
            <a:r>
              <a:rPr dirty="0"/>
              <a:t>01 / High Cancer Burden</a:t>
            </a:r>
          </a:p>
          <a:p>
            <a:pPr>
              <a:defRPr sz="1200" b="1">
                <a:solidFill>
                  <a:srgbClr val="0F0F0F"/>
                </a:solidFill>
              </a:defRPr>
            </a:pPr>
            <a:r>
              <a:rPr dirty="0"/>
              <a:t>•  Leading Women's Cancer</a:t>
            </a:r>
          </a:p>
          <a:p>
            <a:pPr>
              <a:spcAft>
                <a:spcPts val="1200"/>
              </a:spcAft>
              <a:defRPr sz="1100">
                <a:solidFill>
                  <a:srgbClr val="2D2D2D"/>
                </a:solidFill>
              </a:defRPr>
            </a:pPr>
            <a:r>
              <a:rPr dirty="0"/>
              <a:t>Breast cancer is the most common malignancy worldwide with 2.3M diagnoses annually.</a:t>
            </a:r>
          </a:p>
          <a:p>
            <a:pPr>
              <a:defRPr sz="1200" b="1">
                <a:solidFill>
                  <a:srgbClr val="0F0F0F"/>
                </a:solidFill>
              </a:defRPr>
            </a:pPr>
            <a:r>
              <a:rPr dirty="0"/>
              <a:t>•  Dense Tissue Limit</a:t>
            </a:r>
          </a:p>
          <a:p>
            <a:pPr>
              <a:spcAft>
                <a:spcPts val="1200"/>
              </a:spcAft>
              <a:defRPr sz="1100">
                <a:solidFill>
                  <a:srgbClr val="2D2D2D"/>
                </a:solidFill>
              </a:defRPr>
            </a:pPr>
            <a:r>
              <a:rPr dirty="0"/>
              <a:t>Standard mammography struggles with dense breast tissue, making MRI critical for screening.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463040"/>
            <a:ext cx="3328416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0F0F"/>
                </a:solidFill>
              </a:defRPr>
            </a:pPr>
            <a:r>
              <a:rPr dirty="0"/>
              <a:t>02 / Contrast Dye Risks</a:t>
            </a:r>
          </a:p>
          <a:p>
            <a:pPr>
              <a:defRPr sz="1200" b="1">
                <a:solidFill>
                  <a:srgbClr val="0F0F0F"/>
                </a:solidFill>
              </a:defRPr>
            </a:pPr>
            <a:r>
              <a:rPr dirty="0"/>
              <a:t>•  Gadolinium Exposure</a:t>
            </a:r>
          </a:p>
          <a:p>
            <a:pPr>
              <a:spcAft>
                <a:spcPts val="1200"/>
              </a:spcAft>
              <a:defRPr sz="1100">
                <a:solidFill>
                  <a:srgbClr val="2D2D2D"/>
                </a:solidFill>
              </a:defRPr>
            </a:pPr>
            <a:r>
              <a:rPr dirty="0"/>
              <a:t>Conventional contrast MRI requires injecting dyes, posing health risks for kidney patients.</a:t>
            </a:r>
          </a:p>
          <a:p>
            <a:pPr>
              <a:defRPr sz="1200" b="1">
                <a:solidFill>
                  <a:srgbClr val="0F0F0F"/>
                </a:solidFill>
              </a:defRPr>
            </a:pPr>
            <a:r>
              <a:rPr dirty="0"/>
              <a:t>•  Contrast-Free IVIM</a:t>
            </a:r>
          </a:p>
          <a:p>
            <a:pPr>
              <a:spcAft>
                <a:spcPts val="1200"/>
              </a:spcAft>
              <a:defRPr sz="1100">
                <a:solidFill>
                  <a:srgbClr val="2D2D2D"/>
                </a:solidFill>
              </a:defRPr>
            </a:pPr>
            <a:r>
              <a:rPr dirty="0"/>
              <a:t>Diffusion MRI (DW-MRI) tracks natural water movement — requiring zero contrast injections.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463040"/>
            <a:ext cx="3328416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0F0F"/>
                </a:solidFill>
              </a:defRPr>
            </a:pPr>
            <a:r>
              <a:t>03 / Math Fitting Trap</a:t>
            </a:r>
          </a:p>
          <a:p>
            <a:pPr>
              <a:defRPr sz="1200" b="1">
                <a:solidFill>
                  <a:srgbClr val="0F0F0F"/>
                </a:solidFill>
              </a:defRPr>
            </a:pPr>
            <a:r>
              <a:t>•  Slow CPU Fitting</a:t>
            </a:r>
          </a:p>
          <a:p>
            <a:pPr>
              <a:spcAft>
                <a:spcPts val="1200"/>
              </a:spcAft>
              <a:defRPr sz="1100">
                <a:solidFill>
                  <a:srgbClr val="2D2D2D"/>
                </a:solidFill>
              </a:defRPr>
            </a:pPr>
            <a:r>
              <a:t>Traditional non-linear curve fitting (NLLS) takes ~4 minutes per patient slice.</a:t>
            </a:r>
          </a:p>
          <a:p>
            <a:pPr>
              <a:defRPr sz="1200" b="1">
                <a:solidFill>
                  <a:srgbClr val="0F0F0F"/>
                </a:solidFill>
              </a:defRPr>
            </a:pPr>
            <a:r>
              <a:t>•  Noisy Output</a:t>
            </a:r>
          </a:p>
          <a:p>
            <a:pPr>
              <a:spcAft>
                <a:spcPts val="1200"/>
              </a:spcAft>
              <a:defRPr sz="1100">
                <a:solidFill>
                  <a:srgbClr val="2D2D2D"/>
                </a:solidFill>
              </a:defRPr>
            </a:pPr>
            <a:r>
              <a:t>Fails under clinical noise, producing grainy, unreliable maps that impede diagnosis.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BIOPHYSICAL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What is IVIM? Water Diffusion &amp; Micro-Blood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0F0F"/>
                </a:solidFill>
              </a:defRPr>
            </a:pPr>
            <a:r>
              <a:t>Separating Two Microscopic Signals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•  Perfusion Fraction (f)</a:t>
            </a:r>
          </a:p>
          <a:p>
            <a:pPr>
              <a:spcAft>
                <a:spcPts val="1200"/>
              </a:spcAft>
              <a:defRPr sz="1100">
                <a:solidFill>
                  <a:srgbClr val="2D2D2D"/>
                </a:solidFill>
              </a:defRPr>
            </a:pPr>
            <a:r>
              <a:t>Measures micro-capillary blood volume. Elevated in malignant tumors due to tumor-induced blood vessel growth (angiogenesis).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•  Tissue Diffusivity (Dt)</a:t>
            </a:r>
          </a:p>
          <a:p>
            <a:pPr>
              <a:spcAft>
                <a:spcPts val="1200"/>
              </a:spcAft>
              <a:defRPr sz="1100">
                <a:solidFill>
                  <a:srgbClr val="2D2D2D"/>
                </a:solidFill>
              </a:defRPr>
            </a:pPr>
            <a:r>
              <a:t>Measures true water molecule movement through tissue. Restricted in dense, cell-packed tumor environments.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•  Pseudo-Diffusivity (D*)</a:t>
            </a:r>
          </a:p>
          <a:p>
            <a:pPr>
              <a:spcAft>
                <a:spcPts val="1200"/>
              </a:spcAft>
              <a:defRPr sz="1100">
                <a:solidFill>
                  <a:srgbClr val="2D2D2D"/>
                </a:solidFill>
              </a:defRPr>
            </a:pPr>
            <a:r>
              <a:t>Measures blood flow velocity in tiny capillaries. Helps radiologists distinguish benign vs. malignant lesions.</a:t>
            </a:r>
          </a:p>
        </p:txBody>
      </p:sp>
      <p:pic>
        <p:nvPicPr>
          <p:cNvPr id="6" name="Picture 5" descr="example_input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69280" cy="2478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Why Traditional Curve Fitting (NLLS) Fails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0F0F"/>
                </a:solidFill>
              </a:defRPr>
            </a:pPr>
            <a:r>
              <a:t>Limitations of NLLS Fitting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—  Sequentially Slow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Fits 40,000 pixels one-by-one on CPU cores. Requires ~4 minutes per 2D slice and cannot run on GPU.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—  Ignores Spatial Context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Treats every pixel in isolation, discarding natural anatomical continuity across neighboring tissue regions.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—  Extreme Noise Sensitivity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Fails to converge or outputs heavy salt-and-pepper noise at realistic clinical noise levels.</a:t>
            </a:r>
          </a:p>
        </p:txBody>
      </p:sp>
      <p:pic>
        <p:nvPicPr>
          <p:cNvPr id="6" name="Picture 5" descr="qualitati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385137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The Proposed Solution: Two-Stage Physics-Informed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ipeline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59880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STAGE 1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Stage 1: Physics-Informed Autoencoder (PIA)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0F0F"/>
                </a:solidFill>
              </a:defRPr>
            </a:pPr>
            <a:r>
              <a:t>Self-Supervised Physics Decoder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•  Self-Supervised Learning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Trains directly on raw DW-MRI signal decay without requiring expert-annotated parameter labels.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•  Embedded Physical Decoder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The decoder is the exact bi-exponential physics model: S(b) = (1-f)e^(-bDt) + fe^(-bD*).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•  Biological Parameter Bounds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Enforces strict physical parameter limits through bounded activation functions (f in [0.05, 0.35]).</a:t>
            </a:r>
          </a:p>
        </p:txBody>
      </p:sp>
      <p:pic>
        <p:nvPicPr>
          <p:cNvPr id="6" name="Picture 5" descr="cnn_pia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5852160" cy="32663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STAGE 2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Stage 2: Spatial Refiner (U-Net Denoising)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net_refiner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686861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463040"/>
            <a:ext cx="6156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0F0F"/>
                </a:solidFill>
              </a:defRPr>
            </a:pPr>
            <a:r>
              <a:t>Exploiting Multi-Scale Spatial Context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•  3.5M Parameter U-Net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Processes all 3 Stage 1 parameter maps together to leverage spatial continuity across pixels.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•  Multi-Scale Residual Blocks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Downsamples images through ResBlocks to analyze broad regional context, then upsamples back to 200×200 resolution.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•  Tumor-Weighted Supervision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Trained with extra loss weighting over tumor regions to maintain sharp boundary definition around malignancies.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PERFORMANCE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Result 1: 6,400× Speedup for Real-Time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6E6E"/>
                </a:solidFill>
              </a:defRPr>
            </a:pPr>
            <a:r>
              <a:t>GPU INFERENCE SPEED</a:t>
            </a:r>
          </a:p>
          <a:p>
            <a:pPr>
              <a:spcBef>
                <a:spcPts val="600"/>
              </a:spcBef>
              <a:defRPr sz="5600" b="1">
                <a:solidFill>
                  <a:srgbClr val="0F0F0F"/>
                </a:solidFill>
              </a:defRPr>
            </a:pPr>
            <a:r>
              <a:t>29 ms</a:t>
            </a:r>
          </a:p>
          <a:p>
            <a:pPr>
              <a:spcAft>
                <a:spcPts val="2200"/>
              </a:spcAft>
              <a:defRPr sz="1300">
                <a:solidFill>
                  <a:srgbClr val="2D2D2D"/>
                </a:solidFill>
              </a:defRPr>
            </a:pPr>
            <a:r>
              <a:t>per patient slice on GPU</a:t>
            </a:r>
            <a:br/>
            <a:r>
              <a:t>(vs. 187 seconds for NLLS)</a:t>
            </a:r>
          </a:p>
          <a:p>
            <a:pPr>
              <a:defRPr sz="1150">
                <a:solidFill>
                  <a:srgbClr val="0F0F0F"/>
                </a:solidFill>
              </a:defRPr>
            </a:pPr>
            <a:r>
              <a:t>•  6,431× Speedup vs. NLLS</a:t>
            </a:r>
            <a:br/>
            <a:br/>
            <a:r>
              <a:t>•  Real-time mapping directly on MRI console workstations while the patient is still scanning.</a:t>
            </a:r>
          </a:p>
        </p:txBody>
      </p:sp>
      <p:pic>
        <p:nvPicPr>
          <p:cNvPr id="6" name="Picture 5" descr="inference_tim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28800"/>
            <a:ext cx="6309360" cy="21524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NOISE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Result 2: High Stability Across Clinical Noise Levels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rmse_noise_total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2160" cy="3596769"/>
          </a:xfrm>
          <a:prstGeom prst="rect">
            <a:avLst/>
          </a:prstGeom>
        </p:spPr>
      </p:pic>
      <p:pic>
        <p:nvPicPr>
          <p:cNvPr id="6" name="Picture 5" descr="rrmse_comparis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28800"/>
            <a:ext cx="4602175" cy="13845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QUALITATIVE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Visual Proof: Parameter Map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qualitati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851374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1">
                <a:solidFill>
                  <a:srgbClr val="0F0F0F"/>
                </a:solidFill>
              </a:defRPr>
            </a:pPr>
            <a:r>
              <a:t>Key Observations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—  Ground Truth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Reference biophysical parameter maps derived from VICTRE breast phantoms.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—  NLLS Fitting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Heavy salt-and-pepper noise and lost tissue contrast make diagnosis impossible.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—  CNN-PIA (Stage 1)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Captures clear macro structure but retains mild pixel-level variance.</a:t>
            </a:r>
          </a:p>
          <a:p>
            <a:pPr>
              <a:defRPr sz="1300" b="1">
                <a:solidFill>
                  <a:srgbClr val="0F0F0F"/>
                </a:solidFill>
              </a:defRPr>
            </a:pPr>
            <a:r>
              <a:t>—  CNN-PIA + Refiner</a:t>
            </a:r>
          </a:p>
          <a:p>
            <a:pPr>
              <a:spcAft>
                <a:spcPts val="1400"/>
              </a:spcAft>
              <a:defRPr sz="1100">
                <a:solidFill>
                  <a:srgbClr val="2D2D2D"/>
                </a:solidFill>
              </a:defRPr>
            </a:pPr>
            <a:r>
              <a:t>Reconstructs smooth, crisp parameter maps nearly identical to Ground Truth.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ABLATION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Refiner Ablation: Visualizing Error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efiner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9285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E6E6E"/>
                </a:solidFill>
              </a:defRPr>
            </a:pPr>
            <a:r>
              <a:t>REAL-WORLD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0F0F"/>
                </a:solidFill>
              </a:defRPr>
            </a:pPr>
            <a:r>
              <a:t>Clinical Impact: Advancing Breast Cancer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15568"/>
            <a:ext cx="1072865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28416" cy="27432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6E6E6E"/>
                </a:solidFill>
              </a:defRPr>
            </a:pPr>
            <a:r>
              <a:t>HOSPITALS &amp; RADIOLOGISTS</a:t>
            </a:r>
          </a:p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</a:defRPr>
            </a:pPr>
            <a:r>
              <a:t>Real-Time Console Runs</a:t>
            </a:r>
          </a:p>
          <a:p>
            <a:pPr>
              <a:defRPr sz="1150">
                <a:solidFill>
                  <a:srgbClr val="2D2D2D"/>
                </a:solidFill>
              </a:defRPr>
            </a:pPr>
            <a:r>
              <a:t>Executes in 29 milliseconds directly on scanner workstations, giving radiologists immediate quantitative maps during patient exams.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463040"/>
            <a:ext cx="3328416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6E6E6E"/>
                </a:solidFill>
              </a:defRPr>
            </a:pPr>
            <a:r>
              <a:t>PATIENTS</a:t>
            </a:r>
          </a:p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</a:defRPr>
            </a:pPr>
            <a:r>
              <a:t>Contrast-Free Screening</a:t>
            </a:r>
          </a:p>
          <a:p>
            <a:pPr>
              <a:defRPr sz="1150">
                <a:solidFill>
                  <a:srgbClr val="2D2D2D"/>
                </a:solidFill>
              </a:defRPr>
            </a:pPr>
            <a:r>
              <a:t>Enables high-accuracy microvascular imaging without gadolinium contrast dye injections — completely safe for renal patients.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463040"/>
            <a:ext cx="3328416" cy="2743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6E6E6E"/>
                </a:solidFill>
              </a:defRPr>
            </a:pPr>
            <a:r>
              <a:t>RESEARCH &amp; BEYOND</a:t>
            </a:r>
          </a:p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</a:defRPr>
            </a:pPr>
            <a:r>
              <a:t>Self-Supervised &amp; Scalable</a:t>
            </a:r>
          </a:p>
          <a:p>
            <a:pPr>
              <a:defRPr sz="1150">
                <a:solidFill>
                  <a:srgbClr val="2D2D2D"/>
                </a:solidFill>
              </a:defRPr>
            </a:pPr>
            <a:r>
              <a:t>Requires zero expert-annotated labels for Stage 1. Readily adaptable to prostate, brain, liver, and pancreatic IVIM MRI protocols.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0728655" cy="27432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E6E6E"/>
                </a:solidFill>
              </a:defRPr>
            </a:pPr>
            <a:r>
              <a:t>SUMMARY &amp; CONCLUSION</a:t>
            </a:r>
          </a:p>
          <a:p>
            <a:pPr>
              <a:spcAft>
                <a:spcPts val="2400"/>
              </a:spcAft>
              <a:defRPr sz="2800" b="1">
                <a:solidFill>
                  <a:srgbClr val="0F0F0F"/>
                </a:solidFill>
              </a:defRPr>
            </a:pPr>
            <a:r>
              <a:t>PIA-IVIM: A Breakthrough for Breast DW-MRI</a:t>
            </a:r>
          </a:p>
          <a:p>
            <a:pPr>
              <a:spcAft>
                <a:spcPts val="1600"/>
              </a:spcAft>
              <a:defRPr sz="1400">
                <a:solidFill>
                  <a:srgbClr val="2D2D2D"/>
                </a:solidFill>
              </a:defRPr>
            </a:pPr>
            <a:r>
              <a:t>—  6,431× Speedup: 29 ms per patient slice on GPU vs. 187 seconds for NLLS fitting.</a:t>
            </a:r>
          </a:p>
          <a:p>
            <a:pPr>
              <a:spcAft>
                <a:spcPts val="1600"/>
              </a:spcAft>
              <a:defRPr sz="1400">
                <a:solidFill>
                  <a:srgbClr val="2D2D2D"/>
                </a:solidFill>
              </a:defRPr>
            </a:pPr>
            <a:r>
              <a:t>—  33× Noise Stability: Total rRMSE of 0.28 vs. 9.4+ for NLLS at high noise (SNR 10).</a:t>
            </a:r>
          </a:p>
          <a:p>
            <a:pPr>
              <a:spcAft>
                <a:spcPts val="1600"/>
              </a:spcAft>
              <a:defRPr sz="1400">
                <a:solidFill>
                  <a:srgbClr val="2D2D2D"/>
                </a:solidFill>
              </a:defRPr>
            </a:pPr>
            <a:r>
              <a:t>—  Physics + AI Synergy: Combines a self-supervised physics autoencoder with a multi-scale U-Net spatial refiner.</a:t>
            </a:r>
          </a:p>
          <a:p>
            <a:pPr>
              <a:spcAft>
                <a:spcPts val="1600"/>
              </a:spcAft>
              <a:defRPr sz="1400">
                <a:solidFill>
                  <a:srgbClr val="2D2D2D"/>
                </a:solidFill>
              </a:defRPr>
            </a:pPr>
            <a:r>
              <a:t>—  Clinical Value: Enables safe, rapid, contrast-free quantitative screening for breast cancer diagnostics.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804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 Lew</cp:lastModifiedBy>
  <cp:revision>1</cp:revision>
  <dcterms:created xsi:type="dcterms:W3CDTF">2013-01-27T09:14:16Z</dcterms:created>
  <dcterms:modified xsi:type="dcterms:W3CDTF">2026-07-28T18:55:10Z</dcterms:modified>
  <cp:category/>
</cp:coreProperties>
</file>